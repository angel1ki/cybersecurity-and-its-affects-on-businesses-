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DIN Next Bold" charset="1" panose="020B0803020203050203"/>
      <p:regular r:id="rId21"/>
    </p:embeddedFont>
    <p:embeddedFont>
      <p:font typeface="Open Sans" charset="1" panose="00000000000000000000"/>
      <p:regular r:id="rId22"/>
    </p:embeddedFont>
    <p:embeddedFont>
      <p:font typeface="Open Sans Bold" charset="1" panose="00000000000000000000"/>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2476500" y="3248025"/>
            <a:ext cx="13335000" cy="1133424"/>
          </a:xfrm>
          <a:prstGeom prst="rect">
            <a:avLst/>
          </a:prstGeom>
        </p:spPr>
        <p:txBody>
          <a:bodyPr anchor="t" rtlCol="false" tIns="0" lIns="0" bIns="0" rIns="0">
            <a:spAutoFit/>
          </a:bodyPr>
          <a:lstStyle/>
          <a:p>
            <a:pPr algn="ctr" marL="0" indent="0" lvl="0">
              <a:lnSpc>
                <a:spcPts val="7497"/>
              </a:lnSpc>
              <a:spcBef>
                <a:spcPct val="0"/>
              </a:spcBef>
            </a:pPr>
            <a:r>
              <a:rPr lang="en-US" b="true" sz="7497" strike="noStrike" u="none">
                <a:solidFill>
                  <a:srgbClr val="00B4D8"/>
                </a:solidFill>
                <a:latin typeface="DIN Next Bold"/>
                <a:ea typeface="DIN Next Bold"/>
                <a:cs typeface="DIN Next Bold"/>
                <a:sym typeface="DIN Next Bold"/>
              </a:rPr>
              <a:t>CYBER SECURITY</a:t>
            </a:r>
          </a:p>
        </p:txBody>
      </p:sp>
      <p:sp>
        <p:nvSpPr>
          <p:cNvPr name="TextBox 5" id="5"/>
          <p:cNvSpPr txBox="true"/>
          <p:nvPr/>
        </p:nvSpPr>
        <p:spPr>
          <a:xfrm rot="0">
            <a:off x="4381500" y="4895850"/>
            <a:ext cx="9525000" cy="485775"/>
          </a:xfrm>
          <a:prstGeom prst="rect">
            <a:avLst/>
          </a:prstGeom>
        </p:spPr>
        <p:txBody>
          <a:bodyPr anchor="t" rtlCol="false" tIns="0" lIns="0" bIns="0" rIns="0">
            <a:spAutoFit/>
          </a:bodyPr>
          <a:lstStyle/>
          <a:p>
            <a:pPr algn="ctr" marL="0" indent="0" lvl="0">
              <a:lnSpc>
                <a:spcPts val="3840"/>
              </a:lnSpc>
              <a:spcBef>
                <a:spcPct val="0"/>
              </a:spcBef>
            </a:pPr>
            <a:r>
              <a:rPr lang="en-US" sz="3200" strike="noStrike" u="none">
                <a:solidFill>
                  <a:srgbClr val="FFFFFF"/>
                </a:solidFill>
                <a:latin typeface="Open Sans"/>
                <a:ea typeface="Open Sans"/>
                <a:cs typeface="Open Sans"/>
                <a:sym typeface="Open Sans"/>
              </a:rPr>
              <a:t>How It Affects Businesses</a:t>
            </a:r>
          </a:p>
        </p:txBody>
      </p:sp>
      <p:sp>
        <p:nvSpPr>
          <p:cNvPr name="Freeform 6" id="6"/>
          <p:cNvSpPr/>
          <p:nvPr/>
        </p:nvSpPr>
        <p:spPr>
          <a:xfrm flipH="false" flipV="false" rot="0">
            <a:off x="7829550" y="5905500"/>
            <a:ext cx="2628900" cy="2857500"/>
          </a:xfrm>
          <a:custGeom>
            <a:avLst/>
            <a:gdLst/>
            <a:ahLst/>
            <a:cxnLst/>
            <a:rect r="r" b="b" t="t" l="l"/>
            <a:pathLst>
              <a:path h="2857500" w="2628900">
                <a:moveTo>
                  <a:pt x="0" y="0"/>
                </a:moveTo>
                <a:lnTo>
                  <a:pt x="2628900" y="0"/>
                </a:lnTo>
                <a:lnTo>
                  <a:pt x="2628900" y="2857500"/>
                </a:lnTo>
                <a:lnTo>
                  <a:pt x="0" y="2857500"/>
                </a:lnTo>
                <a:lnTo>
                  <a:pt x="0" y="0"/>
                </a:lnTo>
                <a:close/>
              </a:path>
            </a:pathLst>
          </a:custGeom>
          <a:blipFill>
            <a:blip r:embed="rId2">
              <a:extLst>
                <a:ext uri="{96DAC541-7B7A-43D3-8B79-37D633B846F1}">
                  <asvg:svgBlip xmlns:asvg="http://schemas.microsoft.com/office/drawing/2016/SVG/main" r:embed="rId3"/>
                </a:ext>
              </a:extLst>
            </a:blip>
            <a:stretch>
              <a:fillRect l="0" t="-68" r="0" b="-68"/>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0D1B2A"/>
        </a:solidFill>
      </p:bgPr>
    </p:bg>
    <p:spTree>
      <p:nvGrpSpPr>
        <p:cNvPr id="1" name=""/>
        <p:cNvGrpSpPr/>
        <p:nvPr/>
      </p:nvGrpSpPr>
      <p:grpSpPr>
        <a:xfrm>
          <a:off x="0" y="0"/>
          <a:ext cx="0" cy="0"/>
          <a:chOff x="0" y="0"/>
          <a:chExt cx="0" cy="0"/>
        </a:xfrm>
      </p:grpSpPr>
      <p:sp>
        <p:nvSpPr>
          <p:cNvPr name="TextBox 2" id="2"/>
          <p:cNvSpPr txBox="true"/>
          <p:nvPr/>
        </p:nvSpPr>
        <p:spPr>
          <a:xfrm rot="0">
            <a:off x="228337" y="1427792"/>
            <a:ext cx="17666545" cy="7940675"/>
          </a:xfrm>
          <a:prstGeom prst="rect">
            <a:avLst/>
          </a:prstGeom>
        </p:spPr>
        <p:txBody>
          <a:bodyPr anchor="t" rtlCol="false" tIns="0" lIns="0" bIns="0" rIns="0">
            <a:spAutoFit/>
          </a:bodyPr>
          <a:lstStyle/>
          <a:p>
            <a:pPr algn="l" marL="1079499" indent="-539749" lvl="1">
              <a:lnSpc>
                <a:spcPts val="6999"/>
              </a:lnSpc>
              <a:buFont typeface="Arial"/>
              <a:buChar char="•"/>
            </a:pPr>
            <a:r>
              <a:rPr lang="en-US" b="true" sz="4999">
                <a:solidFill>
                  <a:srgbClr val="00B4D8"/>
                </a:solidFill>
                <a:latin typeface="Open Sans Bold"/>
                <a:ea typeface="Open Sans Bold"/>
                <a:cs typeface="Open Sans Bold"/>
                <a:sym typeface="Open Sans Bold"/>
              </a:rPr>
              <a:t>ΔΙΑΜΑΝΤΟΠΟΥΛΟΥ ΑΓΓΕΛΙΚΗ - 24390085</a:t>
            </a:r>
          </a:p>
          <a:p>
            <a:pPr algn="l">
              <a:lnSpc>
                <a:spcPts val="6999"/>
              </a:lnSpc>
            </a:pPr>
          </a:p>
          <a:p>
            <a:pPr algn="l" marL="1079499" indent="-539749" lvl="1">
              <a:lnSpc>
                <a:spcPts val="6999"/>
              </a:lnSpc>
              <a:buFont typeface="Arial"/>
              <a:buChar char="•"/>
            </a:pPr>
            <a:r>
              <a:rPr lang="en-US" b="true" sz="4999">
                <a:solidFill>
                  <a:srgbClr val="00B4D8"/>
                </a:solidFill>
                <a:latin typeface="Open Sans Bold"/>
                <a:ea typeface="Open Sans Bold"/>
                <a:cs typeface="Open Sans Bold"/>
                <a:sym typeface="Open Sans Bold"/>
              </a:rPr>
              <a:t>ΛΙΒΕΡΑ ΜΙΧΑΕΛΑ - 24390225</a:t>
            </a:r>
          </a:p>
          <a:p>
            <a:pPr algn="l">
              <a:lnSpc>
                <a:spcPts val="6999"/>
              </a:lnSpc>
            </a:pPr>
          </a:p>
          <a:p>
            <a:pPr algn="l" marL="1079499" indent="-539749" lvl="1">
              <a:lnSpc>
                <a:spcPts val="6999"/>
              </a:lnSpc>
              <a:buFont typeface="Arial"/>
              <a:buChar char="•"/>
            </a:pPr>
            <a:r>
              <a:rPr lang="en-US" b="true" sz="4999">
                <a:solidFill>
                  <a:srgbClr val="00B4D8"/>
                </a:solidFill>
                <a:latin typeface="Open Sans Bold"/>
                <a:ea typeface="Open Sans Bold"/>
                <a:cs typeface="Open Sans Bold"/>
                <a:sym typeface="Open Sans Bold"/>
              </a:rPr>
              <a:t>ΑΚΥΛΑΣ ΚΩΝΣΤΑΝΤΙΝΟΣ - 24390281</a:t>
            </a:r>
          </a:p>
          <a:p>
            <a:pPr algn="l">
              <a:lnSpc>
                <a:spcPts val="6999"/>
              </a:lnSpc>
            </a:pPr>
          </a:p>
          <a:p>
            <a:pPr algn="l" marL="1079499" indent="-539749" lvl="1">
              <a:lnSpc>
                <a:spcPts val="6999"/>
              </a:lnSpc>
              <a:buFont typeface="Arial"/>
              <a:buChar char="•"/>
            </a:pPr>
            <a:r>
              <a:rPr lang="en-US" b="true" sz="4999">
                <a:solidFill>
                  <a:srgbClr val="00B4D8"/>
                </a:solidFill>
                <a:latin typeface="Open Sans Bold"/>
                <a:ea typeface="Open Sans Bold"/>
                <a:cs typeface="Open Sans Bold"/>
                <a:sym typeface="Open Sans Bold"/>
              </a:rPr>
              <a:t>ΜΠΑΣΤΑΣ ΙΑΣΩΝΑΣ - 24390126</a:t>
            </a:r>
          </a:p>
          <a:p>
            <a:pPr algn="l">
              <a:lnSpc>
                <a:spcPts val="6999"/>
              </a:lnSpc>
            </a:pPr>
          </a:p>
          <a:p>
            <a:pPr algn="l" marL="1079499" indent="-539749" lvl="1">
              <a:lnSpc>
                <a:spcPts val="6999"/>
              </a:lnSpc>
              <a:buFont typeface="Arial"/>
              <a:buChar char="•"/>
            </a:pPr>
            <a:r>
              <a:rPr lang="en-US" b="true" sz="4999">
                <a:solidFill>
                  <a:srgbClr val="00B4D8"/>
                </a:solidFill>
                <a:latin typeface="Open Sans Bold"/>
                <a:ea typeface="Open Sans Bold"/>
                <a:cs typeface="Open Sans Bold"/>
                <a:sym typeface="Open Sans Bold"/>
              </a:rPr>
              <a:t>ΖΥΜΒΡΑΓΟΥΔΑΚΗΣ ΑΓΓΕΛΟΣ - 24390147</a:t>
            </a:r>
          </a:p>
        </p:txBody>
      </p:sp>
      <p:sp>
        <p:nvSpPr>
          <p:cNvPr name="TextBox 3" id="3"/>
          <p:cNvSpPr txBox="true"/>
          <p:nvPr/>
        </p:nvSpPr>
        <p:spPr>
          <a:xfrm rot="0">
            <a:off x="228337" y="216853"/>
            <a:ext cx="15160379" cy="1028700"/>
          </a:xfrm>
          <a:prstGeom prst="rect">
            <a:avLst/>
          </a:prstGeom>
        </p:spPr>
        <p:txBody>
          <a:bodyPr anchor="t" rtlCol="false" tIns="0" lIns="0" bIns="0" rIns="0">
            <a:spAutoFit/>
          </a:bodyPr>
          <a:lstStyle/>
          <a:p>
            <a:pPr algn="l">
              <a:lnSpc>
                <a:spcPts val="8400"/>
              </a:lnSpc>
            </a:pPr>
            <a:r>
              <a:rPr lang="en-US" sz="6000" b="true">
                <a:solidFill>
                  <a:srgbClr val="0077B6"/>
                </a:solidFill>
                <a:latin typeface="Canva Sans Bold"/>
                <a:ea typeface="Canva Sans Bold"/>
                <a:cs typeface="Canva Sans Bold"/>
                <a:sym typeface="Canva Sans Bold"/>
              </a:rPr>
              <a:t>OUR TEAM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1333500" y="752475"/>
            <a:ext cx="9892456" cy="765757"/>
          </a:xfrm>
          <a:prstGeom prst="rect">
            <a:avLst/>
          </a:prstGeom>
        </p:spPr>
        <p:txBody>
          <a:bodyPr anchor="t" rtlCol="false" tIns="0" lIns="0" bIns="0" rIns="0">
            <a:spAutoFit/>
          </a:bodyPr>
          <a:lstStyle/>
          <a:p>
            <a:pPr algn="l" marL="0" indent="0" lvl="0">
              <a:lnSpc>
                <a:spcPts val="5022"/>
              </a:lnSpc>
              <a:spcBef>
                <a:spcPct val="0"/>
              </a:spcBef>
            </a:pPr>
            <a:r>
              <a:rPr lang="en-US" b="true" sz="5022">
                <a:solidFill>
                  <a:srgbClr val="254B8F"/>
                </a:solidFill>
                <a:latin typeface="DIN Next Bold"/>
                <a:ea typeface="DIN Next Bold"/>
                <a:cs typeface="DIN Next Bold"/>
                <a:sym typeface="DIN Next Bold"/>
              </a:rPr>
              <a:t>SYSTEMATIC LITERATURE REVIEW</a:t>
            </a:r>
          </a:p>
        </p:txBody>
      </p:sp>
      <p:sp>
        <p:nvSpPr>
          <p:cNvPr name="AutoShape 5" id="5"/>
          <p:cNvSpPr/>
          <p:nvPr/>
        </p:nvSpPr>
        <p:spPr>
          <a:xfrm>
            <a:off x="1333500" y="1714500"/>
            <a:ext cx="5334000" cy="0"/>
          </a:xfrm>
          <a:prstGeom prst="line">
            <a:avLst/>
          </a:prstGeom>
          <a:ln cap="rnd" w="19050">
            <a:solidFill>
              <a:srgbClr val="00B4D8"/>
            </a:solidFill>
            <a:prstDash val="solid"/>
            <a:headEnd type="none" len="sm" w="sm"/>
            <a:tailEnd type="none" len="sm" w="sm"/>
          </a:ln>
        </p:spPr>
      </p:sp>
      <p:sp>
        <p:nvSpPr>
          <p:cNvPr name="Freeform 6" id="6"/>
          <p:cNvSpPr/>
          <p:nvPr/>
        </p:nvSpPr>
        <p:spPr>
          <a:xfrm flipH="false" flipV="false" rot="0">
            <a:off x="13144500" y="3810000"/>
            <a:ext cx="3810000" cy="3800475"/>
          </a:xfrm>
          <a:custGeom>
            <a:avLst/>
            <a:gdLst/>
            <a:ahLst/>
            <a:cxnLst/>
            <a:rect r="r" b="b" t="t" l="l"/>
            <a:pathLst>
              <a:path h="3800475" w="3810000">
                <a:moveTo>
                  <a:pt x="0" y="0"/>
                </a:moveTo>
                <a:lnTo>
                  <a:pt x="3810000" y="0"/>
                </a:lnTo>
                <a:lnTo>
                  <a:pt x="3810000" y="3800475"/>
                </a:lnTo>
                <a:lnTo>
                  <a:pt x="0" y="38004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19150" y="1975169"/>
            <a:ext cx="17259300" cy="9658350"/>
          </a:xfrm>
          <a:prstGeom prst="rect">
            <a:avLst/>
          </a:prstGeom>
        </p:spPr>
        <p:txBody>
          <a:bodyPr anchor="t" rtlCol="false" tIns="0" lIns="0" bIns="0" rIns="0">
            <a:spAutoFit/>
          </a:bodyPr>
          <a:lstStyle/>
          <a:p>
            <a:pPr algn="l" marL="0" indent="0" lvl="0">
              <a:lnSpc>
                <a:spcPts val="6299"/>
              </a:lnSpc>
              <a:spcBef>
                <a:spcPct val="0"/>
              </a:spcBef>
            </a:pPr>
            <a:r>
              <a:rPr lang="en-US" b="true" sz="4500" strike="noStrike" u="none">
                <a:solidFill>
                  <a:srgbClr val="00B4D8"/>
                </a:solidFill>
                <a:latin typeface="DIN Next Bold"/>
                <a:ea typeface="DIN Next Bold"/>
                <a:cs typeface="DIN Next Bold"/>
                <a:sym typeface="DIN Next Bold"/>
              </a:rPr>
              <a:t>• Our search was limited to texts that were published from 2010 to 2019.</a:t>
            </a:r>
          </a:p>
          <a:p>
            <a:pPr algn="l" marL="0" indent="0" lvl="0">
              <a:lnSpc>
                <a:spcPts val="6299"/>
              </a:lnSpc>
              <a:spcBef>
                <a:spcPct val="0"/>
              </a:spcBef>
            </a:pPr>
          </a:p>
          <a:p>
            <a:pPr algn="l" marL="0" indent="0" lvl="0">
              <a:lnSpc>
                <a:spcPts val="6299"/>
              </a:lnSpc>
              <a:spcBef>
                <a:spcPct val="0"/>
              </a:spcBef>
            </a:pPr>
            <a:r>
              <a:rPr lang="en-US" b="true" sz="4500" strike="noStrike" u="none">
                <a:solidFill>
                  <a:srgbClr val="00B4D8"/>
                </a:solidFill>
                <a:latin typeface="DIN Next Bold"/>
                <a:ea typeface="DIN Next Bold"/>
                <a:cs typeface="DIN Next Bold"/>
                <a:sym typeface="DIN Next Bold"/>
              </a:rPr>
              <a:t>• We gathered 32 papers</a:t>
            </a:r>
          </a:p>
          <a:p>
            <a:pPr algn="l" marL="0" indent="0" lvl="0">
              <a:lnSpc>
                <a:spcPts val="6299"/>
              </a:lnSpc>
              <a:spcBef>
                <a:spcPct val="0"/>
              </a:spcBef>
            </a:pPr>
          </a:p>
          <a:p>
            <a:pPr algn="l" marL="0" indent="0" lvl="0">
              <a:lnSpc>
                <a:spcPts val="6299"/>
              </a:lnSpc>
              <a:spcBef>
                <a:spcPct val="0"/>
              </a:spcBef>
            </a:pPr>
            <a:r>
              <a:rPr lang="en-US" b="true" sz="4500" strike="noStrike" u="none">
                <a:solidFill>
                  <a:srgbClr val="00B4D8"/>
                </a:solidFill>
                <a:latin typeface="DIN Next Bold"/>
                <a:ea typeface="DIN Next Bold"/>
                <a:cs typeface="DIN Next Bold"/>
                <a:sym typeface="DIN Next Bold"/>
              </a:rPr>
              <a:t>• Using accuracy and the prestige of the papers with the help of search machines - like google scholar- we selected information that enhanced our knowledge and gave our presentation scientific accuracy.</a:t>
            </a:r>
          </a:p>
          <a:p>
            <a:pPr algn="l" marL="0" indent="0" lvl="0">
              <a:lnSpc>
                <a:spcPts val="6299"/>
              </a:lnSpc>
              <a:spcBef>
                <a:spcPct val="0"/>
              </a:spcBef>
            </a:pPr>
          </a:p>
          <a:p>
            <a:pPr algn="l" marL="0" indent="0" lvl="0">
              <a:lnSpc>
                <a:spcPts val="6299"/>
              </a:lnSpc>
              <a:spcBef>
                <a:spcPct val="0"/>
              </a:spcBef>
            </a:pPr>
            <a:r>
              <a:rPr lang="en-US" b="true" sz="4500" strike="noStrike" u="none">
                <a:solidFill>
                  <a:srgbClr val="00B4D8"/>
                </a:solidFill>
                <a:latin typeface="DIN Next Bold"/>
                <a:ea typeface="DIN Next Bold"/>
                <a:cs typeface="DIN Next Bold"/>
                <a:sym typeface="DIN Next Bold"/>
              </a:rPr>
              <a:t>• Using journal and conference papers alike, we were able to create a factual and reality based paper.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1333500" y="752475"/>
            <a:ext cx="11430000" cy="765757"/>
          </a:xfrm>
          <a:prstGeom prst="rect">
            <a:avLst/>
          </a:prstGeom>
        </p:spPr>
        <p:txBody>
          <a:bodyPr anchor="t" rtlCol="false" tIns="0" lIns="0" bIns="0" rIns="0">
            <a:spAutoFit/>
          </a:bodyPr>
          <a:lstStyle/>
          <a:p>
            <a:pPr algn="l" marL="0" indent="0" lvl="0">
              <a:lnSpc>
                <a:spcPts val="5022"/>
              </a:lnSpc>
              <a:spcBef>
                <a:spcPct val="0"/>
              </a:spcBef>
            </a:pPr>
            <a:r>
              <a:rPr lang="en-US" b="true" sz="5022" strike="noStrike" u="none">
                <a:solidFill>
                  <a:srgbClr val="254B8F"/>
                </a:solidFill>
                <a:latin typeface="DIN Next Bold"/>
                <a:ea typeface="DIN Next Bold"/>
                <a:cs typeface="DIN Next Bold"/>
                <a:sym typeface="DIN Next Bold"/>
              </a:rPr>
              <a:t>SYSTEMATIC LITERATURE REVIEW</a:t>
            </a:r>
          </a:p>
        </p:txBody>
      </p:sp>
      <p:sp>
        <p:nvSpPr>
          <p:cNvPr name="AutoShape 5" id="5"/>
          <p:cNvSpPr/>
          <p:nvPr/>
        </p:nvSpPr>
        <p:spPr>
          <a:xfrm>
            <a:off x="1333500" y="1714500"/>
            <a:ext cx="5334000" cy="0"/>
          </a:xfrm>
          <a:prstGeom prst="line">
            <a:avLst/>
          </a:prstGeom>
          <a:ln cap="rnd" w="19050">
            <a:solidFill>
              <a:srgbClr val="00B4D8"/>
            </a:solidFill>
            <a:prstDash val="solid"/>
            <a:headEnd type="none" len="sm" w="sm"/>
            <a:tailEnd type="none" len="sm" w="sm"/>
          </a:ln>
        </p:spPr>
      </p:sp>
      <p:sp>
        <p:nvSpPr>
          <p:cNvPr name="TextBox 6" id="6"/>
          <p:cNvSpPr txBox="true"/>
          <p:nvPr/>
        </p:nvSpPr>
        <p:spPr>
          <a:xfrm rot="0">
            <a:off x="819150" y="1600200"/>
            <a:ext cx="16954500" cy="8239125"/>
          </a:xfrm>
          <a:prstGeom prst="rect">
            <a:avLst/>
          </a:prstGeom>
        </p:spPr>
        <p:txBody>
          <a:bodyPr anchor="t" rtlCol="false" tIns="0" lIns="0" bIns="0" rIns="0">
            <a:spAutoFit/>
          </a:bodyPr>
          <a:lstStyle/>
          <a:p>
            <a:pPr algn="l" marL="0" indent="0" lvl="0">
              <a:lnSpc>
                <a:spcPts val="5999"/>
              </a:lnSpc>
              <a:spcBef>
                <a:spcPct val="0"/>
              </a:spcBef>
            </a:pPr>
            <a:r>
              <a:rPr lang="en-US" b="true" sz="3999" strike="noStrike" u="none">
                <a:solidFill>
                  <a:srgbClr val="00B4D8"/>
                </a:solidFill>
                <a:latin typeface="Open Sans Bold"/>
                <a:ea typeface="Open Sans Bold"/>
                <a:cs typeface="Open Sans Bold"/>
                <a:sym typeface="Open Sans Bold"/>
              </a:rPr>
              <a:t>The literature review was conducted following the Kitchenham (2004) model, which consists of three phases:</a:t>
            </a:r>
          </a:p>
          <a:p>
            <a:pPr algn="l" marL="0" indent="0" lvl="0">
              <a:lnSpc>
                <a:spcPts val="5999"/>
              </a:lnSpc>
              <a:spcBef>
                <a:spcPct val="0"/>
              </a:spcBef>
            </a:pPr>
          </a:p>
          <a:p>
            <a:pPr algn="l" marL="0" indent="0" lvl="0">
              <a:lnSpc>
                <a:spcPts val="5999"/>
              </a:lnSpc>
              <a:spcBef>
                <a:spcPct val="0"/>
              </a:spcBef>
            </a:pPr>
            <a:r>
              <a:rPr lang="en-US" b="true" sz="3999" strike="noStrike" u="none">
                <a:solidFill>
                  <a:srgbClr val="00B4D8"/>
                </a:solidFill>
                <a:latin typeface="Open Sans Bold"/>
                <a:ea typeface="Open Sans Bold"/>
                <a:cs typeface="Open Sans Bold"/>
                <a:sym typeface="Open Sans Bold"/>
              </a:rPr>
              <a:t>• Development of a review protocol that includes the objectives, methodology, and expected outcomes.</a:t>
            </a:r>
          </a:p>
          <a:p>
            <a:pPr algn="l" marL="0" indent="0" lvl="0">
              <a:lnSpc>
                <a:spcPts val="5999"/>
              </a:lnSpc>
              <a:spcBef>
                <a:spcPct val="0"/>
              </a:spcBef>
            </a:pPr>
          </a:p>
          <a:p>
            <a:pPr algn="l" marL="0" indent="0" lvl="0">
              <a:lnSpc>
                <a:spcPts val="5999"/>
              </a:lnSpc>
              <a:spcBef>
                <a:spcPct val="0"/>
              </a:spcBef>
            </a:pPr>
            <a:r>
              <a:rPr lang="en-US" b="true" sz="3999" strike="noStrike" u="none">
                <a:solidFill>
                  <a:srgbClr val="00B4D8"/>
                </a:solidFill>
                <a:latin typeface="Open Sans Bold"/>
                <a:ea typeface="Open Sans Bold"/>
                <a:cs typeface="Open Sans Bold"/>
                <a:sym typeface="Open Sans Bold"/>
              </a:rPr>
              <a:t>• Conducting the review by searching databases, applying inclusion/exclusion criteria, and reviewing the results.</a:t>
            </a:r>
          </a:p>
          <a:p>
            <a:pPr algn="l" marL="0" indent="0" lvl="0">
              <a:lnSpc>
                <a:spcPts val="5999"/>
              </a:lnSpc>
              <a:spcBef>
                <a:spcPct val="0"/>
              </a:spcBef>
            </a:pPr>
          </a:p>
          <a:p>
            <a:pPr algn="l" marL="0" indent="0" lvl="0">
              <a:lnSpc>
                <a:spcPts val="5999"/>
              </a:lnSpc>
              <a:spcBef>
                <a:spcPct val="0"/>
              </a:spcBef>
            </a:pPr>
            <a:r>
              <a:rPr lang="en-US" b="true" sz="3999" strike="noStrike" u="none">
                <a:solidFill>
                  <a:srgbClr val="00B4D8"/>
                </a:solidFill>
                <a:latin typeface="Open Sans Bold"/>
                <a:ea typeface="Open Sans Bold"/>
                <a:cs typeface="Open Sans Bold"/>
                <a:sym typeface="Open Sans Bold"/>
              </a:rPr>
              <a:t>• Communicating the results through a structured report of findings.</a:t>
            </a:r>
          </a:p>
        </p:txBody>
      </p:sp>
      <p:sp>
        <p:nvSpPr>
          <p:cNvPr name="Freeform 7" id="7"/>
          <p:cNvSpPr/>
          <p:nvPr/>
        </p:nvSpPr>
        <p:spPr>
          <a:xfrm flipH="false" flipV="false" rot="0">
            <a:off x="15533700" y="4860842"/>
            <a:ext cx="2754300" cy="2754300"/>
          </a:xfrm>
          <a:custGeom>
            <a:avLst/>
            <a:gdLst/>
            <a:ahLst/>
            <a:cxnLst/>
            <a:rect r="r" b="b" t="t" l="l"/>
            <a:pathLst>
              <a:path h="2754300" w="2754300">
                <a:moveTo>
                  <a:pt x="0" y="0"/>
                </a:moveTo>
                <a:lnTo>
                  <a:pt x="2754300" y="0"/>
                </a:lnTo>
                <a:lnTo>
                  <a:pt x="2754300" y="2754300"/>
                </a:lnTo>
                <a:lnTo>
                  <a:pt x="0" y="275430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1333500" y="476250"/>
            <a:ext cx="11430000" cy="664792"/>
          </a:xfrm>
          <a:prstGeom prst="rect">
            <a:avLst/>
          </a:prstGeom>
        </p:spPr>
        <p:txBody>
          <a:bodyPr anchor="t" rtlCol="false" tIns="0" lIns="0" bIns="0" rIns="0">
            <a:spAutoFit/>
          </a:bodyPr>
          <a:lstStyle/>
          <a:p>
            <a:pPr algn="l" marL="0" indent="0" lvl="0">
              <a:lnSpc>
                <a:spcPts val="4422"/>
              </a:lnSpc>
              <a:spcBef>
                <a:spcPct val="0"/>
              </a:spcBef>
            </a:pPr>
            <a:r>
              <a:rPr lang="en-US" b="true" sz="4422" strike="noStrike" u="none">
                <a:solidFill>
                  <a:srgbClr val="254B8F"/>
                </a:solidFill>
                <a:latin typeface="DIN Next Bold"/>
                <a:ea typeface="DIN Next Bold"/>
                <a:cs typeface="DIN Next Bold"/>
                <a:sym typeface="DIN Next Bold"/>
              </a:rPr>
              <a:t>PHASES OF THE LITERATURE REVIEW</a:t>
            </a:r>
          </a:p>
        </p:txBody>
      </p:sp>
      <p:sp>
        <p:nvSpPr>
          <p:cNvPr name="AutoShape 5" id="5"/>
          <p:cNvSpPr/>
          <p:nvPr/>
        </p:nvSpPr>
        <p:spPr>
          <a:xfrm>
            <a:off x="1333500" y="1285875"/>
            <a:ext cx="5334000" cy="0"/>
          </a:xfrm>
          <a:prstGeom prst="line">
            <a:avLst/>
          </a:prstGeom>
          <a:ln cap="rnd" w="19050">
            <a:solidFill>
              <a:srgbClr val="00B4D8"/>
            </a:solidFill>
            <a:prstDash val="solid"/>
            <a:headEnd type="none" len="sm" w="sm"/>
            <a:tailEnd type="none" len="sm" w="sm"/>
          </a:ln>
        </p:spPr>
      </p:sp>
      <p:grpSp>
        <p:nvGrpSpPr>
          <p:cNvPr name="Group 6" id="6"/>
          <p:cNvGrpSpPr/>
          <p:nvPr/>
        </p:nvGrpSpPr>
        <p:grpSpPr>
          <a:xfrm rot="0">
            <a:off x="762000" y="1619250"/>
            <a:ext cx="5617095" cy="6265222"/>
            <a:chOff x="0" y="0"/>
            <a:chExt cx="6604000" cy="7366000"/>
          </a:xfrm>
        </p:grpSpPr>
        <p:sp>
          <p:nvSpPr>
            <p:cNvPr name="Freeform 7" id="7"/>
            <p:cNvSpPr/>
            <p:nvPr/>
          </p:nvSpPr>
          <p:spPr>
            <a:xfrm flipH="false" flipV="false" rot="0">
              <a:off x="0" y="0"/>
              <a:ext cx="6604000" cy="7366000"/>
            </a:xfrm>
            <a:custGeom>
              <a:avLst/>
              <a:gdLst/>
              <a:ahLst/>
              <a:cxnLst/>
              <a:rect r="r" b="b" t="t" l="l"/>
              <a:pathLst>
                <a:path h="7366000" w="6604000">
                  <a:moveTo>
                    <a:pt x="660400" y="0"/>
                  </a:moveTo>
                  <a:lnTo>
                    <a:pt x="5943600" y="0"/>
                  </a:lnTo>
                  <a:cubicBezTo>
                    <a:pt x="6308329" y="0"/>
                    <a:pt x="6604000" y="295671"/>
                    <a:pt x="6604000" y="660400"/>
                  </a:cubicBezTo>
                  <a:lnTo>
                    <a:pt x="6604000" y="6705600"/>
                  </a:lnTo>
                  <a:cubicBezTo>
                    <a:pt x="6604000" y="7070329"/>
                    <a:pt x="6308329" y="7366000"/>
                    <a:pt x="5943600" y="7366000"/>
                  </a:cubicBezTo>
                  <a:lnTo>
                    <a:pt x="660400" y="7366000"/>
                  </a:lnTo>
                  <a:cubicBezTo>
                    <a:pt x="295671" y="7366000"/>
                    <a:pt x="0" y="7070329"/>
                    <a:pt x="0" y="6705600"/>
                  </a:cubicBezTo>
                  <a:lnTo>
                    <a:pt x="0" y="660400"/>
                  </a:lnTo>
                  <a:cubicBezTo>
                    <a:pt x="0" y="295671"/>
                    <a:pt x="295671" y="0"/>
                    <a:pt x="660400" y="0"/>
                  </a:cubicBezTo>
                  <a:close/>
                </a:path>
              </a:pathLst>
            </a:custGeom>
            <a:solidFill>
              <a:srgbClr val="0A1628"/>
            </a:solidFill>
            <a:ln w="19050" cap="sq">
              <a:solidFill>
                <a:srgbClr val="00B4D8"/>
              </a:solidFill>
              <a:prstDash val="solid"/>
              <a:miter/>
            </a:ln>
          </p:spPr>
        </p:sp>
      </p:grpSp>
      <p:sp>
        <p:nvSpPr>
          <p:cNvPr name="TextBox 8" id="8"/>
          <p:cNvSpPr txBox="true"/>
          <p:nvPr/>
        </p:nvSpPr>
        <p:spPr>
          <a:xfrm rot="0">
            <a:off x="1284548" y="1821470"/>
            <a:ext cx="4572000" cy="536575"/>
          </a:xfrm>
          <a:prstGeom prst="rect">
            <a:avLst/>
          </a:prstGeom>
        </p:spPr>
        <p:txBody>
          <a:bodyPr anchor="t" rtlCol="false" tIns="0" lIns="0" bIns="0" rIns="0">
            <a:spAutoFit/>
          </a:bodyPr>
          <a:lstStyle/>
          <a:p>
            <a:pPr algn="ctr" marL="0" indent="0" lvl="0">
              <a:lnSpc>
                <a:spcPts val="3500"/>
              </a:lnSpc>
              <a:spcBef>
                <a:spcPct val="0"/>
              </a:spcBef>
            </a:pPr>
            <a:r>
              <a:rPr lang="en-US" b="true" sz="3500" strike="noStrike" u="none">
                <a:solidFill>
                  <a:srgbClr val="8BCFFE"/>
                </a:solidFill>
                <a:latin typeface="DIN Next Bold"/>
                <a:ea typeface="DIN Next Bold"/>
                <a:cs typeface="DIN Next Bold"/>
                <a:sym typeface="DIN Next Bold"/>
              </a:rPr>
              <a:t>PHASE 1</a:t>
            </a:r>
          </a:p>
        </p:txBody>
      </p:sp>
      <p:sp>
        <p:nvSpPr>
          <p:cNvPr name="TextBox 9" id="9"/>
          <p:cNvSpPr txBox="true"/>
          <p:nvPr/>
        </p:nvSpPr>
        <p:spPr>
          <a:xfrm rot="0">
            <a:off x="1284548" y="2405670"/>
            <a:ext cx="4572000" cy="318135"/>
          </a:xfrm>
          <a:prstGeom prst="rect">
            <a:avLst/>
          </a:prstGeom>
        </p:spPr>
        <p:txBody>
          <a:bodyPr anchor="t" rtlCol="false" tIns="0" lIns="0" bIns="0" rIns="0">
            <a:spAutoFit/>
          </a:bodyPr>
          <a:lstStyle/>
          <a:p>
            <a:pPr algn="ctr" marL="0" indent="0" lvl="0">
              <a:lnSpc>
                <a:spcPts val="2400"/>
              </a:lnSpc>
              <a:spcBef>
                <a:spcPct val="0"/>
              </a:spcBef>
            </a:pPr>
            <a:r>
              <a:rPr lang="en-US" sz="2400" strike="noStrike" u="none">
                <a:solidFill>
                  <a:srgbClr val="FFFFFF"/>
                </a:solidFill>
                <a:latin typeface="Open Sans"/>
                <a:ea typeface="Open Sans"/>
                <a:cs typeface="Open Sans"/>
                <a:sym typeface="Open Sans"/>
              </a:rPr>
              <a:t>Planning the Review</a:t>
            </a:r>
          </a:p>
        </p:txBody>
      </p:sp>
      <p:sp>
        <p:nvSpPr>
          <p:cNvPr name="TextBox 10" id="10"/>
          <p:cNvSpPr txBox="true"/>
          <p:nvPr/>
        </p:nvSpPr>
        <p:spPr>
          <a:xfrm rot="0">
            <a:off x="1047750" y="2800350"/>
            <a:ext cx="5143500" cy="5020310"/>
          </a:xfrm>
          <a:prstGeom prst="rect">
            <a:avLst/>
          </a:prstGeom>
        </p:spPr>
        <p:txBody>
          <a:bodyPr anchor="t" rtlCol="false" tIns="0" lIns="0" bIns="0" rIns="0">
            <a:spAutoFit/>
          </a:bodyPr>
          <a:lstStyle/>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Formulation of research questions</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Selection of databases</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Definition of inclusion/exclusion criteria</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Data extraction strategy</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Quality assessment plan</a:t>
            </a:r>
          </a:p>
        </p:txBody>
      </p:sp>
      <p:grpSp>
        <p:nvGrpSpPr>
          <p:cNvPr name="Group 11" id="11"/>
          <p:cNvGrpSpPr/>
          <p:nvPr/>
        </p:nvGrpSpPr>
        <p:grpSpPr>
          <a:xfrm rot="0">
            <a:off x="6493395" y="1619250"/>
            <a:ext cx="5670472" cy="6324757"/>
            <a:chOff x="0" y="0"/>
            <a:chExt cx="6604000" cy="7366000"/>
          </a:xfrm>
        </p:grpSpPr>
        <p:sp>
          <p:nvSpPr>
            <p:cNvPr name="Freeform 12" id="12"/>
            <p:cNvSpPr/>
            <p:nvPr/>
          </p:nvSpPr>
          <p:spPr>
            <a:xfrm flipH="false" flipV="false" rot="0">
              <a:off x="0" y="0"/>
              <a:ext cx="6604000" cy="7366000"/>
            </a:xfrm>
            <a:custGeom>
              <a:avLst/>
              <a:gdLst/>
              <a:ahLst/>
              <a:cxnLst/>
              <a:rect r="r" b="b" t="t" l="l"/>
              <a:pathLst>
                <a:path h="7366000" w="6604000">
                  <a:moveTo>
                    <a:pt x="660400" y="0"/>
                  </a:moveTo>
                  <a:lnTo>
                    <a:pt x="5943600" y="0"/>
                  </a:lnTo>
                  <a:cubicBezTo>
                    <a:pt x="6308329" y="0"/>
                    <a:pt x="6604000" y="295671"/>
                    <a:pt x="6604000" y="660400"/>
                  </a:cubicBezTo>
                  <a:lnTo>
                    <a:pt x="6604000" y="6705600"/>
                  </a:lnTo>
                  <a:cubicBezTo>
                    <a:pt x="6604000" y="7070329"/>
                    <a:pt x="6308329" y="7366000"/>
                    <a:pt x="5943600" y="7366000"/>
                  </a:cubicBezTo>
                  <a:lnTo>
                    <a:pt x="660400" y="7366000"/>
                  </a:lnTo>
                  <a:cubicBezTo>
                    <a:pt x="295671" y="7366000"/>
                    <a:pt x="0" y="7070329"/>
                    <a:pt x="0" y="6705600"/>
                  </a:cubicBezTo>
                  <a:lnTo>
                    <a:pt x="0" y="660400"/>
                  </a:lnTo>
                  <a:cubicBezTo>
                    <a:pt x="0" y="295671"/>
                    <a:pt x="295671" y="0"/>
                    <a:pt x="660400" y="0"/>
                  </a:cubicBezTo>
                  <a:close/>
                </a:path>
              </a:pathLst>
            </a:custGeom>
            <a:solidFill>
              <a:srgbClr val="0A1628"/>
            </a:solidFill>
            <a:ln w="19050" cap="sq">
              <a:solidFill>
                <a:srgbClr val="00B4D8"/>
              </a:solidFill>
              <a:prstDash val="solid"/>
              <a:miter/>
            </a:ln>
          </p:spPr>
        </p:sp>
      </p:grpSp>
      <p:sp>
        <p:nvSpPr>
          <p:cNvPr name="TextBox 13" id="13"/>
          <p:cNvSpPr txBox="true"/>
          <p:nvPr/>
        </p:nvSpPr>
        <p:spPr>
          <a:xfrm rot="0">
            <a:off x="6961448" y="1821470"/>
            <a:ext cx="4572000" cy="536575"/>
          </a:xfrm>
          <a:prstGeom prst="rect">
            <a:avLst/>
          </a:prstGeom>
        </p:spPr>
        <p:txBody>
          <a:bodyPr anchor="t" rtlCol="false" tIns="0" lIns="0" bIns="0" rIns="0">
            <a:spAutoFit/>
          </a:bodyPr>
          <a:lstStyle/>
          <a:p>
            <a:pPr algn="ctr" marL="0" indent="0" lvl="0">
              <a:lnSpc>
                <a:spcPts val="3500"/>
              </a:lnSpc>
              <a:spcBef>
                <a:spcPct val="0"/>
              </a:spcBef>
            </a:pPr>
            <a:r>
              <a:rPr lang="en-US" b="true" sz="3500" strike="noStrike" u="none">
                <a:solidFill>
                  <a:srgbClr val="8BCFFE"/>
                </a:solidFill>
                <a:latin typeface="DIN Next Bold"/>
                <a:ea typeface="DIN Next Bold"/>
                <a:cs typeface="DIN Next Bold"/>
                <a:sym typeface="DIN Next Bold"/>
              </a:rPr>
              <a:t>PHASE 2</a:t>
            </a:r>
          </a:p>
        </p:txBody>
      </p:sp>
      <p:sp>
        <p:nvSpPr>
          <p:cNvPr name="TextBox 14" id="14"/>
          <p:cNvSpPr txBox="true"/>
          <p:nvPr/>
        </p:nvSpPr>
        <p:spPr>
          <a:xfrm rot="0">
            <a:off x="6961448" y="2359950"/>
            <a:ext cx="4572000" cy="318135"/>
          </a:xfrm>
          <a:prstGeom prst="rect">
            <a:avLst/>
          </a:prstGeom>
        </p:spPr>
        <p:txBody>
          <a:bodyPr anchor="t" rtlCol="false" tIns="0" lIns="0" bIns="0" rIns="0">
            <a:spAutoFit/>
          </a:bodyPr>
          <a:lstStyle/>
          <a:p>
            <a:pPr algn="ctr" marL="0" indent="0" lvl="0">
              <a:lnSpc>
                <a:spcPts val="2400"/>
              </a:lnSpc>
              <a:spcBef>
                <a:spcPct val="0"/>
              </a:spcBef>
            </a:pPr>
            <a:r>
              <a:rPr lang="en-US" sz="2400" strike="noStrike" u="none">
                <a:solidFill>
                  <a:srgbClr val="FFFFFF"/>
                </a:solidFill>
                <a:latin typeface="Open Sans"/>
                <a:ea typeface="Open Sans"/>
                <a:cs typeface="Open Sans"/>
                <a:sym typeface="Open Sans"/>
              </a:rPr>
              <a:t>Conducting the Review</a:t>
            </a:r>
          </a:p>
        </p:txBody>
      </p:sp>
      <p:sp>
        <p:nvSpPr>
          <p:cNvPr name="TextBox 15" id="15"/>
          <p:cNvSpPr txBox="true"/>
          <p:nvPr/>
        </p:nvSpPr>
        <p:spPr>
          <a:xfrm rot="0">
            <a:off x="6762750" y="2800350"/>
            <a:ext cx="5143500" cy="4563110"/>
          </a:xfrm>
          <a:prstGeom prst="rect">
            <a:avLst/>
          </a:prstGeom>
        </p:spPr>
        <p:txBody>
          <a:bodyPr anchor="t" rtlCol="false" tIns="0" lIns="0" bIns="0" rIns="0">
            <a:spAutoFit/>
          </a:bodyPr>
          <a:lstStyle/>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Identification of relevant studies</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Selection based on criteria</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Data extraction from papers</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Synthesis of findings</a:t>
            </a:r>
          </a:p>
          <a:p>
            <a:pPr algn="l" marL="0" indent="0" lvl="0">
              <a:lnSpc>
                <a:spcPts val="3640"/>
              </a:lnSpc>
              <a:spcBef>
                <a:spcPct val="0"/>
              </a:spcBef>
            </a:pPr>
          </a:p>
          <a:p>
            <a:pPr algn="l" marL="0" indent="0" lvl="0">
              <a:lnSpc>
                <a:spcPts val="3640"/>
              </a:lnSpc>
              <a:spcBef>
                <a:spcPct val="0"/>
              </a:spcBef>
            </a:pPr>
            <a:r>
              <a:rPr lang="en-US" b="true" sz="2600" strike="noStrike" u="none">
                <a:solidFill>
                  <a:srgbClr val="00B4D8"/>
                </a:solidFill>
                <a:latin typeface="Open Sans Bold"/>
                <a:ea typeface="Open Sans Bold"/>
                <a:cs typeface="Open Sans Bold"/>
                <a:sym typeface="Open Sans Bold"/>
              </a:rPr>
              <a:t>• Quality assessment of studies</a:t>
            </a:r>
          </a:p>
        </p:txBody>
      </p:sp>
      <p:grpSp>
        <p:nvGrpSpPr>
          <p:cNvPr name="Group 16" id="16"/>
          <p:cNvGrpSpPr/>
          <p:nvPr/>
        </p:nvGrpSpPr>
        <p:grpSpPr>
          <a:xfrm rot="0">
            <a:off x="12280694" y="1619250"/>
            <a:ext cx="5670472" cy="6324757"/>
            <a:chOff x="0" y="0"/>
            <a:chExt cx="6604000" cy="7366000"/>
          </a:xfrm>
        </p:grpSpPr>
        <p:sp>
          <p:nvSpPr>
            <p:cNvPr name="Freeform 17" id="17"/>
            <p:cNvSpPr/>
            <p:nvPr/>
          </p:nvSpPr>
          <p:spPr>
            <a:xfrm flipH="false" flipV="false" rot="0">
              <a:off x="0" y="0"/>
              <a:ext cx="6604000" cy="7366000"/>
            </a:xfrm>
            <a:custGeom>
              <a:avLst/>
              <a:gdLst/>
              <a:ahLst/>
              <a:cxnLst/>
              <a:rect r="r" b="b" t="t" l="l"/>
              <a:pathLst>
                <a:path h="7366000" w="6604000">
                  <a:moveTo>
                    <a:pt x="660400" y="0"/>
                  </a:moveTo>
                  <a:lnTo>
                    <a:pt x="5943600" y="0"/>
                  </a:lnTo>
                  <a:cubicBezTo>
                    <a:pt x="6308329" y="0"/>
                    <a:pt x="6604000" y="295671"/>
                    <a:pt x="6604000" y="660400"/>
                  </a:cubicBezTo>
                  <a:lnTo>
                    <a:pt x="6604000" y="6705600"/>
                  </a:lnTo>
                  <a:cubicBezTo>
                    <a:pt x="6604000" y="7070329"/>
                    <a:pt x="6308329" y="7366000"/>
                    <a:pt x="5943600" y="7366000"/>
                  </a:cubicBezTo>
                  <a:lnTo>
                    <a:pt x="660400" y="7366000"/>
                  </a:lnTo>
                  <a:cubicBezTo>
                    <a:pt x="295671" y="7366000"/>
                    <a:pt x="0" y="7070329"/>
                    <a:pt x="0" y="6705600"/>
                  </a:cubicBezTo>
                  <a:lnTo>
                    <a:pt x="0" y="660400"/>
                  </a:lnTo>
                  <a:cubicBezTo>
                    <a:pt x="0" y="295671"/>
                    <a:pt x="295671" y="0"/>
                    <a:pt x="660400" y="0"/>
                  </a:cubicBezTo>
                  <a:close/>
                </a:path>
              </a:pathLst>
            </a:custGeom>
            <a:solidFill>
              <a:srgbClr val="0A1628"/>
            </a:solidFill>
            <a:ln w="19050" cap="sq">
              <a:solidFill>
                <a:srgbClr val="00B4D8"/>
              </a:solidFill>
              <a:prstDash val="solid"/>
              <a:miter/>
            </a:ln>
          </p:spPr>
        </p:sp>
      </p:grpSp>
      <p:sp>
        <p:nvSpPr>
          <p:cNvPr name="TextBox 18" id="18"/>
          <p:cNvSpPr txBox="true"/>
          <p:nvPr/>
        </p:nvSpPr>
        <p:spPr>
          <a:xfrm rot="0">
            <a:off x="12544867" y="1821470"/>
            <a:ext cx="4572000" cy="536575"/>
          </a:xfrm>
          <a:prstGeom prst="rect">
            <a:avLst/>
          </a:prstGeom>
        </p:spPr>
        <p:txBody>
          <a:bodyPr anchor="t" rtlCol="false" tIns="0" lIns="0" bIns="0" rIns="0">
            <a:spAutoFit/>
          </a:bodyPr>
          <a:lstStyle/>
          <a:p>
            <a:pPr algn="ctr" marL="0" indent="0" lvl="0">
              <a:lnSpc>
                <a:spcPts val="3500"/>
              </a:lnSpc>
              <a:spcBef>
                <a:spcPct val="0"/>
              </a:spcBef>
            </a:pPr>
            <a:r>
              <a:rPr lang="en-US" b="true" sz="3500" strike="noStrike" u="none">
                <a:solidFill>
                  <a:srgbClr val="8BCFFE"/>
                </a:solidFill>
                <a:latin typeface="DIN Next Bold"/>
                <a:ea typeface="DIN Next Bold"/>
                <a:cs typeface="DIN Next Bold"/>
                <a:sym typeface="DIN Next Bold"/>
              </a:rPr>
              <a:t>PHASE 3</a:t>
            </a:r>
          </a:p>
        </p:txBody>
      </p:sp>
      <p:sp>
        <p:nvSpPr>
          <p:cNvPr name="TextBox 19" id="19"/>
          <p:cNvSpPr txBox="true"/>
          <p:nvPr/>
        </p:nvSpPr>
        <p:spPr>
          <a:xfrm rot="0">
            <a:off x="12544867" y="2359950"/>
            <a:ext cx="4572000" cy="318135"/>
          </a:xfrm>
          <a:prstGeom prst="rect">
            <a:avLst/>
          </a:prstGeom>
        </p:spPr>
        <p:txBody>
          <a:bodyPr anchor="t" rtlCol="false" tIns="0" lIns="0" bIns="0" rIns="0">
            <a:spAutoFit/>
          </a:bodyPr>
          <a:lstStyle/>
          <a:p>
            <a:pPr algn="ctr" marL="0" indent="0" lvl="0">
              <a:lnSpc>
                <a:spcPts val="2400"/>
              </a:lnSpc>
              <a:spcBef>
                <a:spcPct val="0"/>
              </a:spcBef>
            </a:pPr>
            <a:r>
              <a:rPr lang="en-US" sz="2400" strike="noStrike" u="none">
                <a:solidFill>
                  <a:srgbClr val="FFFFFF"/>
                </a:solidFill>
                <a:latin typeface="Open Sans"/>
                <a:ea typeface="Open Sans"/>
                <a:cs typeface="Open Sans"/>
                <a:sym typeface="Open Sans"/>
              </a:rPr>
              <a:t>Reporting the Review</a:t>
            </a:r>
          </a:p>
        </p:txBody>
      </p:sp>
      <p:sp>
        <p:nvSpPr>
          <p:cNvPr name="TextBox 20" id="20"/>
          <p:cNvSpPr txBox="true"/>
          <p:nvPr/>
        </p:nvSpPr>
        <p:spPr>
          <a:xfrm rot="0">
            <a:off x="12544867" y="2830716"/>
            <a:ext cx="5406298" cy="4125709"/>
          </a:xfrm>
          <a:prstGeom prst="rect">
            <a:avLst/>
          </a:prstGeom>
        </p:spPr>
        <p:txBody>
          <a:bodyPr anchor="t" rtlCol="false" tIns="0" lIns="0" bIns="0" rIns="0">
            <a:spAutoFit/>
          </a:bodyPr>
          <a:lstStyle/>
          <a:p>
            <a:pPr algn="l" marL="0" indent="0" lvl="0">
              <a:lnSpc>
                <a:spcPts val="3678"/>
              </a:lnSpc>
              <a:spcBef>
                <a:spcPct val="0"/>
              </a:spcBef>
            </a:pPr>
            <a:r>
              <a:rPr lang="en-US" b="true" sz="2627" strike="noStrike" u="none">
                <a:solidFill>
                  <a:srgbClr val="00B4D8"/>
                </a:solidFill>
                <a:latin typeface="Open Sans Bold"/>
                <a:ea typeface="Open Sans Bold"/>
                <a:cs typeface="Open Sans Bold"/>
                <a:sym typeface="Open Sans Bold"/>
              </a:rPr>
              <a:t>• Communication of results</a:t>
            </a:r>
          </a:p>
          <a:p>
            <a:pPr algn="l" marL="0" indent="0" lvl="0">
              <a:lnSpc>
                <a:spcPts val="3678"/>
              </a:lnSpc>
              <a:spcBef>
                <a:spcPct val="0"/>
              </a:spcBef>
            </a:pPr>
          </a:p>
          <a:p>
            <a:pPr algn="l" marL="0" indent="0" lvl="0">
              <a:lnSpc>
                <a:spcPts val="3678"/>
              </a:lnSpc>
              <a:spcBef>
                <a:spcPct val="0"/>
              </a:spcBef>
            </a:pPr>
            <a:r>
              <a:rPr lang="en-US" b="true" sz="2627" strike="noStrike" u="none">
                <a:solidFill>
                  <a:srgbClr val="00B4D8"/>
                </a:solidFill>
                <a:latin typeface="Open Sans Bold"/>
                <a:ea typeface="Open Sans Bold"/>
                <a:cs typeface="Open Sans Bold"/>
                <a:sym typeface="Open Sans Bold"/>
              </a:rPr>
              <a:t>• Discussion of principal findings</a:t>
            </a:r>
          </a:p>
          <a:p>
            <a:pPr algn="l" marL="0" indent="0" lvl="0">
              <a:lnSpc>
                <a:spcPts val="3678"/>
              </a:lnSpc>
              <a:spcBef>
                <a:spcPct val="0"/>
              </a:spcBef>
            </a:pPr>
          </a:p>
          <a:p>
            <a:pPr algn="l" marL="0" indent="0" lvl="0">
              <a:lnSpc>
                <a:spcPts val="3678"/>
              </a:lnSpc>
              <a:spcBef>
                <a:spcPct val="0"/>
              </a:spcBef>
            </a:pPr>
            <a:r>
              <a:rPr lang="en-US" b="true" sz="2627" strike="noStrike" u="none">
                <a:solidFill>
                  <a:srgbClr val="00B4D8"/>
                </a:solidFill>
                <a:latin typeface="Open Sans Bold"/>
                <a:ea typeface="Open Sans Bold"/>
                <a:cs typeface="Open Sans Bold"/>
                <a:sym typeface="Open Sans Bold"/>
              </a:rPr>
              <a:t>• Identification of limitations</a:t>
            </a:r>
          </a:p>
          <a:p>
            <a:pPr algn="l" marL="0" indent="0" lvl="0">
              <a:lnSpc>
                <a:spcPts val="3678"/>
              </a:lnSpc>
              <a:spcBef>
                <a:spcPct val="0"/>
              </a:spcBef>
            </a:pPr>
          </a:p>
          <a:p>
            <a:pPr algn="l" marL="0" indent="0" lvl="0">
              <a:lnSpc>
                <a:spcPts val="3678"/>
              </a:lnSpc>
              <a:spcBef>
                <a:spcPct val="0"/>
              </a:spcBef>
            </a:pPr>
            <a:r>
              <a:rPr lang="en-US" b="true" sz="2627" strike="noStrike" u="none">
                <a:solidFill>
                  <a:srgbClr val="00B4D8"/>
                </a:solidFill>
                <a:latin typeface="Open Sans Bold"/>
                <a:ea typeface="Open Sans Bold"/>
                <a:cs typeface="Open Sans Bold"/>
                <a:sym typeface="Open Sans Bold"/>
              </a:rPr>
              <a:t>• Recommendations for practice</a:t>
            </a:r>
          </a:p>
          <a:p>
            <a:pPr algn="l" marL="0" indent="0" lvl="0">
              <a:lnSpc>
                <a:spcPts val="3678"/>
              </a:lnSpc>
              <a:spcBef>
                <a:spcPct val="0"/>
              </a:spcBef>
            </a:pPr>
          </a:p>
          <a:p>
            <a:pPr algn="l" marL="0" indent="0" lvl="0">
              <a:lnSpc>
                <a:spcPts val="3678"/>
              </a:lnSpc>
              <a:spcBef>
                <a:spcPct val="0"/>
              </a:spcBef>
            </a:pPr>
            <a:r>
              <a:rPr lang="en-US" b="true" sz="2627" strike="noStrike" u="none">
                <a:solidFill>
                  <a:srgbClr val="00B4D8"/>
                </a:solidFill>
                <a:latin typeface="Open Sans Bold"/>
                <a:ea typeface="Open Sans Bold"/>
                <a:cs typeface="Open Sans Bold"/>
                <a:sym typeface="Open Sans Bold"/>
              </a:rPr>
              <a:t>• Future research directions</a:t>
            </a:r>
          </a:p>
        </p:txBody>
      </p:sp>
      <p:sp>
        <p:nvSpPr>
          <p:cNvPr name="Freeform 21" id="21"/>
          <p:cNvSpPr/>
          <p:nvPr/>
        </p:nvSpPr>
        <p:spPr>
          <a:xfrm flipH="false" flipV="false" rot="0">
            <a:off x="13617913" y="6723297"/>
            <a:ext cx="4670087" cy="3563703"/>
          </a:xfrm>
          <a:custGeom>
            <a:avLst/>
            <a:gdLst/>
            <a:ahLst/>
            <a:cxnLst/>
            <a:rect r="r" b="b" t="t" l="l"/>
            <a:pathLst>
              <a:path h="3563703" w="4670087">
                <a:moveTo>
                  <a:pt x="0" y="0"/>
                </a:moveTo>
                <a:lnTo>
                  <a:pt x="4670087" y="0"/>
                </a:lnTo>
                <a:lnTo>
                  <a:pt x="4670087" y="3563703"/>
                </a:lnTo>
                <a:lnTo>
                  <a:pt x="0" y="3563703"/>
                </a:lnTo>
                <a:lnTo>
                  <a:pt x="0" y="0"/>
                </a:lnTo>
                <a:close/>
              </a:path>
            </a:pathLst>
          </a:custGeom>
          <a:blipFill>
            <a:blip r:embed="rId2"/>
            <a:stretch>
              <a:fillRect l="0" t="-7979" r="0" b="-23066"/>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1333500" y="752475"/>
            <a:ext cx="9525000" cy="765757"/>
          </a:xfrm>
          <a:prstGeom prst="rect">
            <a:avLst/>
          </a:prstGeom>
        </p:spPr>
        <p:txBody>
          <a:bodyPr anchor="t" rtlCol="false" tIns="0" lIns="0" bIns="0" rIns="0">
            <a:spAutoFit/>
          </a:bodyPr>
          <a:lstStyle/>
          <a:p>
            <a:pPr algn="l" marL="0" indent="0" lvl="0">
              <a:lnSpc>
                <a:spcPts val="5022"/>
              </a:lnSpc>
              <a:spcBef>
                <a:spcPct val="0"/>
              </a:spcBef>
            </a:pPr>
            <a:r>
              <a:rPr lang="en-US" b="true" sz="5022">
                <a:solidFill>
                  <a:srgbClr val="254B8F"/>
                </a:solidFill>
                <a:latin typeface="DIN Next Bold"/>
                <a:ea typeface="DIN Next Bold"/>
                <a:cs typeface="DIN Next Bold"/>
                <a:sym typeface="DIN Next Bold"/>
              </a:rPr>
              <a:t>Research questions - Analysis </a:t>
            </a:r>
          </a:p>
        </p:txBody>
      </p:sp>
      <p:sp>
        <p:nvSpPr>
          <p:cNvPr name="AutoShape 5" id="5"/>
          <p:cNvSpPr/>
          <p:nvPr/>
        </p:nvSpPr>
        <p:spPr>
          <a:xfrm>
            <a:off x="1333500" y="1714500"/>
            <a:ext cx="5334000" cy="0"/>
          </a:xfrm>
          <a:prstGeom prst="line">
            <a:avLst/>
          </a:prstGeom>
          <a:ln cap="rnd" w="19050">
            <a:solidFill>
              <a:srgbClr val="00B4D8"/>
            </a:solidFill>
            <a:prstDash val="solid"/>
            <a:headEnd type="none" len="sm" w="sm"/>
            <a:tailEnd type="none" len="sm" w="sm"/>
          </a:ln>
        </p:spPr>
      </p:sp>
      <p:sp>
        <p:nvSpPr>
          <p:cNvPr name="Freeform 6" id="6"/>
          <p:cNvSpPr/>
          <p:nvPr/>
        </p:nvSpPr>
        <p:spPr>
          <a:xfrm flipH="false" flipV="false" rot="0">
            <a:off x="14620875" y="6477000"/>
            <a:ext cx="3667125" cy="3810000"/>
          </a:xfrm>
          <a:custGeom>
            <a:avLst/>
            <a:gdLst/>
            <a:ahLst/>
            <a:cxnLst/>
            <a:rect r="r" b="b" t="t" l="l"/>
            <a:pathLst>
              <a:path h="3810000" w="3667125">
                <a:moveTo>
                  <a:pt x="0" y="0"/>
                </a:moveTo>
                <a:lnTo>
                  <a:pt x="3667125" y="0"/>
                </a:lnTo>
                <a:lnTo>
                  <a:pt x="3667125" y="3810000"/>
                </a:lnTo>
                <a:lnTo>
                  <a:pt x="0" y="3810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819150" y="1914525"/>
            <a:ext cx="17468850" cy="5172075"/>
          </a:xfrm>
          <a:prstGeom prst="rect">
            <a:avLst/>
          </a:prstGeom>
        </p:spPr>
        <p:txBody>
          <a:bodyPr anchor="t" rtlCol="false" tIns="0" lIns="0" bIns="0" rIns="0">
            <a:spAutoFit/>
          </a:bodyPr>
          <a:lstStyle/>
          <a:p>
            <a:pPr algn="l">
              <a:lnSpc>
                <a:spcPts val="4499"/>
              </a:lnSpc>
            </a:pPr>
            <a:r>
              <a:rPr lang="en-US" sz="4499" b="true">
                <a:solidFill>
                  <a:srgbClr val="00B4D8"/>
                </a:solidFill>
                <a:latin typeface="DIN Next Bold"/>
                <a:ea typeface="DIN Next Bold"/>
                <a:cs typeface="DIN Next Bold"/>
                <a:sym typeface="DIN Next Bold"/>
              </a:rPr>
              <a:t>In this paper, we analized the impact that cybersecurity has on businesses on multiple levels.</a:t>
            </a:r>
          </a:p>
          <a:p>
            <a:pPr algn="l">
              <a:lnSpc>
                <a:spcPts val="4499"/>
              </a:lnSpc>
            </a:pPr>
          </a:p>
          <a:p>
            <a:pPr algn="l">
              <a:lnSpc>
                <a:spcPts val="4499"/>
              </a:lnSpc>
            </a:pPr>
          </a:p>
          <a:p>
            <a:pPr algn="l">
              <a:lnSpc>
                <a:spcPts val="4499"/>
              </a:lnSpc>
            </a:pPr>
            <a:r>
              <a:rPr lang="en-US" sz="4499" b="true">
                <a:solidFill>
                  <a:srgbClr val="00B4D8"/>
                </a:solidFill>
                <a:latin typeface="DIN Next Bold"/>
                <a:ea typeface="DIN Next Bold"/>
                <a:cs typeface="DIN Next Bold"/>
                <a:sym typeface="DIN Next Bold"/>
              </a:rPr>
              <a:t>In this presentation we will discuss about the financial impact, the humanity aspect, the vulnerability of small enterprises, the risk of emerging technologies and lastly the legal contitions and the varius mechanisms used to protect themselves.</a:t>
            </a:r>
          </a:p>
          <a:p>
            <a:pPr algn="l">
              <a:lnSpc>
                <a:spcPts val="449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1333500" y="752475"/>
            <a:ext cx="9525000" cy="765757"/>
          </a:xfrm>
          <a:prstGeom prst="rect">
            <a:avLst/>
          </a:prstGeom>
        </p:spPr>
        <p:txBody>
          <a:bodyPr anchor="t" rtlCol="false" tIns="0" lIns="0" bIns="0" rIns="0">
            <a:spAutoFit/>
          </a:bodyPr>
          <a:lstStyle/>
          <a:p>
            <a:pPr algn="l" marL="0" indent="0" lvl="0">
              <a:lnSpc>
                <a:spcPts val="5022"/>
              </a:lnSpc>
              <a:spcBef>
                <a:spcPct val="0"/>
              </a:spcBef>
            </a:pPr>
            <a:r>
              <a:rPr lang="en-US" b="true" sz="5022">
                <a:solidFill>
                  <a:srgbClr val="254B8F"/>
                </a:solidFill>
                <a:latin typeface="DIN Next Bold"/>
                <a:ea typeface="DIN Next Bold"/>
                <a:cs typeface="DIN Next Bold"/>
                <a:sym typeface="DIN Next Bold"/>
              </a:rPr>
              <a:t>OUR RESEARCH QUESTIONS </a:t>
            </a:r>
          </a:p>
        </p:txBody>
      </p:sp>
      <p:sp>
        <p:nvSpPr>
          <p:cNvPr name="AutoShape 5" id="5"/>
          <p:cNvSpPr/>
          <p:nvPr/>
        </p:nvSpPr>
        <p:spPr>
          <a:xfrm>
            <a:off x="1333500" y="1714500"/>
            <a:ext cx="5334000" cy="0"/>
          </a:xfrm>
          <a:prstGeom prst="line">
            <a:avLst/>
          </a:prstGeom>
          <a:ln cap="rnd" w="19050">
            <a:solidFill>
              <a:srgbClr val="00B4D8"/>
            </a:solidFill>
            <a:prstDash val="solid"/>
            <a:headEnd type="none" len="sm" w="sm"/>
            <a:tailEnd type="none" len="sm" w="sm"/>
          </a:ln>
        </p:spPr>
      </p:sp>
      <p:sp>
        <p:nvSpPr>
          <p:cNvPr name="Freeform 6" id="6"/>
          <p:cNvSpPr/>
          <p:nvPr/>
        </p:nvSpPr>
        <p:spPr>
          <a:xfrm flipH="false" flipV="false" rot="0">
            <a:off x="13144500" y="3810000"/>
            <a:ext cx="3800475" cy="3810000"/>
          </a:xfrm>
          <a:custGeom>
            <a:avLst/>
            <a:gdLst/>
            <a:ahLst/>
            <a:cxnLst/>
            <a:rect r="r" b="b" t="t" l="l"/>
            <a:pathLst>
              <a:path h="3810000" w="3800475">
                <a:moveTo>
                  <a:pt x="0" y="0"/>
                </a:moveTo>
                <a:lnTo>
                  <a:pt x="3800475" y="0"/>
                </a:lnTo>
                <a:lnTo>
                  <a:pt x="3800475" y="3810000"/>
                </a:lnTo>
                <a:lnTo>
                  <a:pt x="0" y="3810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950439" y="1657350"/>
            <a:ext cx="17337561" cy="8405495"/>
          </a:xfrm>
          <a:prstGeom prst="rect">
            <a:avLst/>
          </a:prstGeom>
        </p:spPr>
        <p:txBody>
          <a:bodyPr anchor="t" rtlCol="false" tIns="0" lIns="0" bIns="0" rIns="0">
            <a:spAutoFit/>
          </a:bodyPr>
          <a:lstStyle/>
          <a:p>
            <a:pPr algn="l" marL="0" indent="0" lvl="0">
              <a:lnSpc>
                <a:spcPts val="4480"/>
              </a:lnSpc>
              <a:spcBef>
                <a:spcPct val="0"/>
              </a:spcBef>
            </a:pPr>
            <a:r>
              <a:rPr lang="en-US" b="true" sz="3200" strike="noStrike" u="none">
                <a:solidFill>
                  <a:srgbClr val="00B4D8"/>
                </a:solidFill>
                <a:latin typeface="Open Sans Bold"/>
                <a:ea typeface="Open Sans Bold"/>
                <a:cs typeface="Open Sans Bold"/>
                <a:sym typeface="Open Sans Bold"/>
              </a:rPr>
              <a:t>• RQ1: How do major data breaches affect stock values and brand equality of publicly traded companies?</a:t>
            </a:r>
          </a:p>
          <a:p>
            <a:pPr algn="l" marL="0" indent="0" lvl="0">
              <a:lnSpc>
                <a:spcPts val="4480"/>
              </a:lnSpc>
              <a:spcBef>
                <a:spcPct val="0"/>
              </a:spcBef>
            </a:pPr>
          </a:p>
          <a:p>
            <a:pPr algn="l" marL="0" indent="0" lvl="0">
              <a:lnSpc>
                <a:spcPts val="4480"/>
              </a:lnSpc>
              <a:spcBef>
                <a:spcPct val="0"/>
              </a:spcBef>
            </a:pPr>
            <a:r>
              <a:rPr lang="en-US" b="true" sz="3200" strike="noStrike" u="none">
                <a:solidFill>
                  <a:srgbClr val="00B4D8"/>
                </a:solidFill>
                <a:latin typeface="Open Sans Bold"/>
                <a:ea typeface="Open Sans Bold"/>
                <a:cs typeface="Open Sans Bold"/>
                <a:sym typeface="Open Sans Bold"/>
              </a:rPr>
              <a:t>• RQ2: How effective are those cyber security training programs that companies incorporate in reducing employee click-rates on phishing emails compared to traditional training?</a:t>
            </a:r>
          </a:p>
          <a:p>
            <a:pPr algn="l" marL="0" indent="0" lvl="0">
              <a:lnSpc>
                <a:spcPts val="4480"/>
              </a:lnSpc>
              <a:spcBef>
                <a:spcPct val="0"/>
              </a:spcBef>
            </a:pPr>
          </a:p>
          <a:p>
            <a:pPr algn="l" marL="0" indent="0" lvl="0">
              <a:lnSpc>
                <a:spcPts val="4480"/>
              </a:lnSpc>
              <a:spcBef>
                <a:spcPct val="0"/>
              </a:spcBef>
            </a:pPr>
            <a:r>
              <a:rPr lang="en-US" b="true" sz="3200" strike="noStrike" u="none">
                <a:solidFill>
                  <a:srgbClr val="00B4D8"/>
                </a:solidFill>
                <a:latin typeface="Open Sans Bold"/>
                <a:ea typeface="Open Sans Bold"/>
                <a:cs typeface="Open Sans Bold"/>
                <a:sym typeface="Open Sans Bold"/>
              </a:rPr>
              <a:t>• RQ3: Are the current managed cyber security service provider models adequately serving their purpose and meeting the special needs that small businesses have?</a:t>
            </a:r>
          </a:p>
          <a:p>
            <a:pPr algn="l" marL="0" indent="0" lvl="0">
              <a:lnSpc>
                <a:spcPts val="4480"/>
              </a:lnSpc>
              <a:spcBef>
                <a:spcPct val="0"/>
              </a:spcBef>
            </a:pPr>
          </a:p>
          <a:p>
            <a:pPr algn="l" marL="0" indent="0" lvl="0">
              <a:lnSpc>
                <a:spcPts val="4480"/>
              </a:lnSpc>
              <a:spcBef>
                <a:spcPct val="0"/>
              </a:spcBef>
            </a:pPr>
            <a:r>
              <a:rPr lang="en-US" b="true" sz="3200" strike="noStrike" u="none">
                <a:solidFill>
                  <a:srgbClr val="00B4D8"/>
                </a:solidFill>
                <a:latin typeface="Open Sans Bold"/>
                <a:ea typeface="Open Sans Bold"/>
                <a:cs typeface="Open Sans Bold"/>
                <a:sym typeface="Open Sans Bold"/>
              </a:rPr>
              <a:t>• RQ4: How does the adoption of AI affect and alter the landscape of corporate phishing and social engineering tasks?</a:t>
            </a:r>
          </a:p>
          <a:p>
            <a:pPr algn="l" marL="0" indent="0" lvl="0">
              <a:lnSpc>
                <a:spcPts val="4480"/>
              </a:lnSpc>
              <a:spcBef>
                <a:spcPct val="0"/>
              </a:spcBef>
            </a:pPr>
          </a:p>
          <a:p>
            <a:pPr algn="l" marL="0" indent="0" lvl="0">
              <a:lnSpc>
                <a:spcPts val="4480"/>
              </a:lnSpc>
              <a:spcBef>
                <a:spcPct val="0"/>
              </a:spcBef>
            </a:pPr>
            <a:r>
              <a:rPr lang="en-US" b="true" sz="3200" strike="noStrike" u="none">
                <a:solidFill>
                  <a:srgbClr val="00B4D8"/>
                </a:solidFill>
                <a:latin typeface="Open Sans Bold"/>
                <a:ea typeface="Open Sans Bold"/>
                <a:cs typeface="Open Sans Bold"/>
                <a:sym typeface="Open Sans Bold"/>
              </a:rPr>
              <a:t>• RQ5: How have strict data privacy laws (like GDPR or CCPA) shifted and changed corporate cyber security spending and global data strategies?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FF1493"/>
            </a:solidFill>
          </p:spPr>
        </p:sp>
      </p:grpSp>
      <p:sp>
        <p:nvSpPr>
          <p:cNvPr name="TextBox 4" id="4"/>
          <p:cNvSpPr txBox="true"/>
          <p:nvPr/>
        </p:nvSpPr>
        <p:spPr>
          <a:xfrm rot="0">
            <a:off x="1333500" y="752512"/>
            <a:ext cx="11430000" cy="765683"/>
          </a:xfrm>
          <a:prstGeom prst="rect">
            <a:avLst/>
          </a:prstGeom>
        </p:spPr>
        <p:txBody>
          <a:bodyPr anchor="t" rtlCol="false" tIns="0" lIns="0" bIns="0" rIns="0">
            <a:spAutoFit/>
          </a:bodyPr>
          <a:lstStyle/>
          <a:p>
            <a:pPr algn="l" marL="0" indent="0" lvl="0">
              <a:lnSpc>
                <a:spcPts val="5019"/>
              </a:lnSpc>
              <a:spcBef>
                <a:spcPct val="0"/>
              </a:spcBef>
            </a:pPr>
            <a:r>
              <a:rPr lang="en-US" b="true" sz="5019" strike="noStrike" u="none">
                <a:solidFill>
                  <a:srgbClr val="FF1493"/>
                </a:solidFill>
                <a:latin typeface="DIN Next Bold"/>
                <a:ea typeface="DIN Next Bold"/>
                <a:cs typeface="DIN Next Bold"/>
                <a:sym typeface="DIN Next Bold"/>
              </a:rPr>
              <a:t>DATA BREACHES &amp; STOCK VALUES</a:t>
            </a:r>
          </a:p>
        </p:txBody>
      </p:sp>
      <p:sp>
        <p:nvSpPr>
          <p:cNvPr name="AutoShape 5" id="5"/>
          <p:cNvSpPr/>
          <p:nvPr/>
        </p:nvSpPr>
        <p:spPr>
          <a:xfrm>
            <a:off x="1333500" y="1714500"/>
            <a:ext cx="5334000" cy="0"/>
          </a:xfrm>
          <a:prstGeom prst="line">
            <a:avLst/>
          </a:prstGeom>
          <a:ln cap="rnd" w="19050">
            <a:solidFill>
              <a:srgbClr val="FF1493"/>
            </a:solidFill>
            <a:prstDash val="solid"/>
            <a:headEnd type="none" len="sm" w="sm"/>
            <a:tailEnd type="none" len="sm" w="sm"/>
          </a:ln>
        </p:spPr>
      </p:sp>
      <p:sp>
        <p:nvSpPr>
          <p:cNvPr name="Freeform 6" id="6"/>
          <p:cNvSpPr/>
          <p:nvPr/>
        </p:nvSpPr>
        <p:spPr>
          <a:xfrm flipH="false" flipV="false" rot="0">
            <a:off x="3682512" y="762037"/>
            <a:ext cx="10158952" cy="10158952"/>
          </a:xfrm>
          <a:custGeom>
            <a:avLst/>
            <a:gdLst/>
            <a:ahLst/>
            <a:cxnLst/>
            <a:rect r="r" b="b" t="t" l="l"/>
            <a:pathLst>
              <a:path h="10158952" w="10158952">
                <a:moveTo>
                  <a:pt x="0" y="0"/>
                </a:moveTo>
                <a:lnTo>
                  <a:pt x="10158952" y="0"/>
                </a:lnTo>
                <a:lnTo>
                  <a:pt x="10158952" y="10158952"/>
                </a:lnTo>
                <a:lnTo>
                  <a:pt x="0" y="10158952"/>
                </a:lnTo>
                <a:lnTo>
                  <a:pt x="0" y="0"/>
                </a:lnTo>
                <a:close/>
              </a:path>
            </a:pathLst>
          </a:custGeom>
          <a:blipFill>
            <a:blip r:embed="rId2"/>
            <a:stretch>
              <a:fillRect l="0" t="0" r="0" b="0"/>
            </a:stretch>
          </a:blipFill>
        </p:spPr>
      </p:sp>
      <p:grpSp>
        <p:nvGrpSpPr>
          <p:cNvPr name="Group 7" id="7"/>
          <p:cNvGrpSpPr/>
          <p:nvPr/>
        </p:nvGrpSpPr>
        <p:grpSpPr>
          <a:xfrm rot="0">
            <a:off x="819150" y="2056245"/>
            <a:ext cx="5726724" cy="2822487"/>
            <a:chOff x="0" y="0"/>
            <a:chExt cx="4318000" cy="2128180"/>
          </a:xfrm>
        </p:grpSpPr>
        <p:sp>
          <p:nvSpPr>
            <p:cNvPr name="Freeform 8" id="8"/>
            <p:cNvSpPr/>
            <p:nvPr/>
          </p:nvSpPr>
          <p:spPr>
            <a:xfrm flipH="false" flipV="false" rot="0">
              <a:off x="0" y="0"/>
              <a:ext cx="4318000" cy="2128180"/>
            </a:xfrm>
            <a:custGeom>
              <a:avLst/>
              <a:gdLst/>
              <a:ahLst/>
              <a:cxnLst/>
              <a:rect r="r" b="b" t="t" l="l"/>
              <a:pathLst>
                <a:path h="2128180" w="4318000">
                  <a:moveTo>
                    <a:pt x="2159000" y="0"/>
                  </a:moveTo>
                  <a:cubicBezTo>
                    <a:pt x="966617" y="0"/>
                    <a:pt x="0" y="476409"/>
                    <a:pt x="0" y="1064090"/>
                  </a:cubicBezTo>
                  <a:cubicBezTo>
                    <a:pt x="0" y="1651770"/>
                    <a:pt x="966617" y="2128180"/>
                    <a:pt x="2159000" y="2128180"/>
                  </a:cubicBezTo>
                  <a:cubicBezTo>
                    <a:pt x="3351383" y="2128180"/>
                    <a:pt x="4318000" y="1651770"/>
                    <a:pt x="4318000" y="1064090"/>
                  </a:cubicBezTo>
                  <a:cubicBezTo>
                    <a:pt x="4318000" y="476409"/>
                    <a:pt x="3351383" y="0"/>
                    <a:pt x="2159000" y="0"/>
                  </a:cubicBezTo>
                  <a:close/>
                </a:path>
              </a:pathLst>
            </a:custGeom>
            <a:solidFill>
              <a:srgbClr val="2D0020"/>
            </a:solidFill>
            <a:ln w="19050" cap="sq">
              <a:solidFill>
                <a:srgbClr val="FF1493"/>
              </a:solidFill>
              <a:prstDash val="solid"/>
              <a:miter/>
            </a:ln>
          </p:spPr>
        </p:sp>
        <p:sp>
          <p:nvSpPr>
            <p:cNvPr name="TextBox 9" id="9"/>
            <p:cNvSpPr txBox="true"/>
            <p:nvPr/>
          </p:nvSpPr>
          <p:spPr>
            <a:xfrm>
              <a:off x="0" y="-57150"/>
              <a:ext cx="4318000" cy="218533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FF1493"/>
                  </a:solidFill>
                  <a:latin typeface="Open Sans Bold"/>
                  <a:ea typeface="Open Sans Bold"/>
                  <a:cs typeface="Open Sans Bold"/>
                  <a:sym typeface="Open Sans Bold"/>
                </a:rPr>
                <a:t>Stocks drop significantly within days of a breach disclosure</a:t>
              </a:r>
            </a:p>
          </p:txBody>
        </p:sp>
      </p:grpSp>
      <p:grpSp>
        <p:nvGrpSpPr>
          <p:cNvPr name="Group 10" id="10"/>
          <p:cNvGrpSpPr/>
          <p:nvPr/>
        </p:nvGrpSpPr>
        <p:grpSpPr>
          <a:xfrm rot="0">
            <a:off x="6606849" y="2056245"/>
            <a:ext cx="5786755" cy="2723179"/>
            <a:chOff x="0" y="0"/>
            <a:chExt cx="4318000" cy="2032000"/>
          </a:xfrm>
        </p:grpSpPr>
        <p:sp>
          <p:nvSpPr>
            <p:cNvPr name="Freeform 11" id="11"/>
            <p:cNvSpPr/>
            <p:nvPr/>
          </p:nvSpPr>
          <p:spPr>
            <a:xfrm flipH="false" flipV="false" rot="0">
              <a:off x="0" y="0"/>
              <a:ext cx="4318000" cy="2032000"/>
            </a:xfrm>
            <a:custGeom>
              <a:avLst/>
              <a:gdLst/>
              <a:ahLst/>
              <a:cxnLst/>
              <a:rect r="r" b="b" t="t" l="l"/>
              <a:pathLst>
                <a:path h="2032000" w="4318000">
                  <a:moveTo>
                    <a:pt x="2159000" y="0"/>
                  </a:moveTo>
                  <a:cubicBezTo>
                    <a:pt x="966617" y="0"/>
                    <a:pt x="0" y="454879"/>
                    <a:pt x="0" y="1016000"/>
                  </a:cubicBezTo>
                  <a:cubicBezTo>
                    <a:pt x="0" y="1577121"/>
                    <a:pt x="966617" y="2032000"/>
                    <a:pt x="2159000" y="2032000"/>
                  </a:cubicBezTo>
                  <a:cubicBezTo>
                    <a:pt x="3351383" y="2032000"/>
                    <a:pt x="4318000" y="1577121"/>
                    <a:pt x="4318000" y="1016000"/>
                  </a:cubicBezTo>
                  <a:cubicBezTo>
                    <a:pt x="4318000" y="454879"/>
                    <a:pt x="3351383" y="0"/>
                    <a:pt x="2159000" y="0"/>
                  </a:cubicBezTo>
                  <a:close/>
                </a:path>
              </a:pathLst>
            </a:custGeom>
            <a:solidFill>
              <a:srgbClr val="2D0020"/>
            </a:solidFill>
            <a:ln w="19050" cap="sq">
              <a:solidFill>
                <a:srgbClr val="FF1493"/>
              </a:solidFill>
              <a:prstDash val="solid"/>
              <a:miter/>
            </a:ln>
          </p:spPr>
        </p:sp>
        <p:sp>
          <p:nvSpPr>
            <p:cNvPr name="TextBox 12" id="12"/>
            <p:cNvSpPr txBox="true"/>
            <p:nvPr/>
          </p:nvSpPr>
          <p:spPr>
            <a:xfrm>
              <a:off x="0" y="-57150"/>
              <a:ext cx="4318000" cy="2089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FF1493"/>
                  </a:solidFill>
                  <a:latin typeface="Open Sans Bold"/>
                  <a:ea typeface="Open Sans Bold"/>
                  <a:cs typeface="Open Sans Bold"/>
                  <a:sym typeface="Open Sans Bold"/>
                </a:rPr>
                <a:t>Volatility stays elevated — investors demand higher risk compensation</a:t>
              </a:r>
            </a:p>
          </p:txBody>
        </p:sp>
      </p:grpSp>
      <p:grpSp>
        <p:nvGrpSpPr>
          <p:cNvPr name="Group 13" id="13"/>
          <p:cNvGrpSpPr/>
          <p:nvPr/>
        </p:nvGrpSpPr>
        <p:grpSpPr>
          <a:xfrm rot="0">
            <a:off x="12485959" y="2056245"/>
            <a:ext cx="5772122" cy="2716293"/>
            <a:chOff x="0" y="0"/>
            <a:chExt cx="4318000" cy="2032000"/>
          </a:xfrm>
        </p:grpSpPr>
        <p:sp>
          <p:nvSpPr>
            <p:cNvPr name="Freeform 14" id="14"/>
            <p:cNvSpPr/>
            <p:nvPr/>
          </p:nvSpPr>
          <p:spPr>
            <a:xfrm flipH="false" flipV="false" rot="0">
              <a:off x="0" y="0"/>
              <a:ext cx="4318000" cy="2032000"/>
            </a:xfrm>
            <a:custGeom>
              <a:avLst/>
              <a:gdLst/>
              <a:ahLst/>
              <a:cxnLst/>
              <a:rect r="r" b="b" t="t" l="l"/>
              <a:pathLst>
                <a:path h="2032000" w="4318000">
                  <a:moveTo>
                    <a:pt x="2159000" y="0"/>
                  </a:moveTo>
                  <a:cubicBezTo>
                    <a:pt x="966617" y="0"/>
                    <a:pt x="0" y="454879"/>
                    <a:pt x="0" y="1016000"/>
                  </a:cubicBezTo>
                  <a:cubicBezTo>
                    <a:pt x="0" y="1577121"/>
                    <a:pt x="966617" y="2032000"/>
                    <a:pt x="2159000" y="2032000"/>
                  </a:cubicBezTo>
                  <a:cubicBezTo>
                    <a:pt x="3351383" y="2032000"/>
                    <a:pt x="4318000" y="1577121"/>
                    <a:pt x="4318000" y="1016000"/>
                  </a:cubicBezTo>
                  <a:cubicBezTo>
                    <a:pt x="4318000" y="454879"/>
                    <a:pt x="3351383" y="0"/>
                    <a:pt x="2159000" y="0"/>
                  </a:cubicBezTo>
                  <a:close/>
                </a:path>
              </a:pathLst>
            </a:custGeom>
            <a:solidFill>
              <a:srgbClr val="2D0020"/>
            </a:solidFill>
            <a:ln w="19050" cap="sq">
              <a:solidFill>
                <a:srgbClr val="FF1493"/>
              </a:solidFill>
              <a:prstDash val="solid"/>
              <a:miter/>
            </a:ln>
          </p:spPr>
        </p:sp>
        <p:sp>
          <p:nvSpPr>
            <p:cNvPr name="TextBox 15" id="15"/>
            <p:cNvSpPr txBox="true"/>
            <p:nvPr/>
          </p:nvSpPr>
          <p:spPr>
            <a:xfrm>
              <a:off x="0" y="-57150"/>
              <a:ext cx="4318000" cy="2089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FF1493"/>
                  </a:solidFill>
                  <a:latin typeface="Open Sans Bold"/>
                  <a:ea typeface="Open Sans Bold"/>
                  <a:cs typeface="Open Sans Bold"/>
                  <a:sym typeface="Open Sans Bold"/>
                </a:rPr>
                <a:t>Financial and tech firms suffer the steepest market reactions</a:t>
              </a:r>
            </a:p>
          </p:txBody>
        </p:sp>
      </p:grpSp>
      <p:grpSp>
        <p:nvGrpSpPr>
          <p:cNvPr name="Group 16" id="16"/>
          <p:cNvGrpSpPr/>
          <p:nvPr/>
        </p:nvGrpSpPr>
        <p:grpSpPr>
          <a:xfrm rot="0">
            <a:off x="819150" y="5514359"/>
            <a:ext cx="5772341" cy="2716396"/>
            <a:chOff x="0" y="0"/>
            <a:chExt cx="4318000" cy="2032000"/>
          </a:xfrm>
        </p:grpSpPr>
        <p:sp>
          <p:nvSpPr>
            <p:cNvPr name="Freeform 17" id="17"/>
            <p:cNvSpPr/>
            <p:nvPr/>
          </p:nvSpPr>
          <p:spPr>
            <a:xfrm flipH="false" flipV="false" rot="0">
              <a:off x="0" y="0"/>
              <a:ext cx="4318000" cy="2032000"/>
            </a:xfrm>
            <a:custGeom>
              <a:avLst/>
              <a:gdLst/>
              <a:ahLst/>
              <a:cxnLst/>
              <a:rect r="r" b="b" t="t" l="l"/>
              <a:pathLst>
                <a:path h="2032000" w="4318000">
                  <a:moveTo>
                    <a:pt x="2159000" y="0"/>
                  </a:moveTo>
                  <a:cubicBezTo>
                    <a:pt x="966617" y="0"/>
                    <a:pt x="0" y="454879"/>
                    <a:pt x="0" y="1016000"/>
                  </a:cubicBezTo>
                  <a:cubicBezTo>
                    <a:pt x="0" y="1577121"/>
                    <a:pt x="966617" y="2032000"/>
                    <a:pt x="2159000" y="2032000"/>
                  </a:cubicBezTo>
                  <a:cubicBezTo>
                    <a:pt x="3351383" y="2032000"/>
                    <a:pt x="4318000" y="1577121"/>
                    <a:pt x="4318000" y="1016000"/>
                  </a:cubicBezTo>
                  <a:cubicBezTo>
                    <a:pt x="4318000" y="454879"/>
                    <a:pt x="3351383" y="0"/>
                    <a:pt x="2159000" y="0"/>
                  </a:cubicBezTo>
                  <a:close/>
                </a:path>
              </a:pathLst>
            </a:custGeom>
            <a:solidFill>
              <a:srgbClr val="2D0020"/>
            </a:solidFill>
            <a:ln w="19050" cap="sq">
              <a:solidFill>
                <a:srgbClr val="FF1493"/>
              </a:solidFill>
              <a:prstDash val="solid"/>
              <a:miter/>
            </a:ln>
          </p:spPr>
        </p:sp>
        <p:sp>
          <p:nvSpPr>
            <p:cNvPr name="TextBox 18" id="18"/>
            <p:cNvSpPr txBox="true"/>
            <p:nvPr/>
          </p:nvSpPr>
          <p:spPr>
            <a:xfrm>
              <a:off x="0" y="-57150"/>
              <a:ext cx="4318000" cy="2089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FF1493"/>
                  </a:solidFill>
                  <a:latin typeface="Open Sans Bold"/>
                  <a:ea typeface="Open Sans Bold"/>
                  <a:cs typeface="Open Sans Bold"/>
                  <a:sym typeface="Open Sans Bold"/>
                </a:rPr>
                <a:t>Brand equity erodes fast — Equifax lost ~$4B in one week</a:t>
              </a:r>
            </a:p>
          </p:txBody>
        </p:sp>
      </p:grpSp>
      <p:grpSp>
        <p:nvGrpSpPr>
          <p:cNvPr name="Group 19" id="19"/>
          <p:cNvGrpSpPr/>
          <p:nvPr/>
        </p:nvGrpSpPr>
        <p:grpSpPr>
          <a:xfrm rot="0">
            <a:off x="6743700" y="5571977"/>
            <a:ext cx="5649904" cy="2658778"/>
            <a:chOff x="0" y="0"/>
            <a:chExt cx="4318000" cy="2032000"/>
          </a:xfrm>
        </p:grpSpPr>
        <p:sp>
          <p:nvSpPr>
            <p:cNvPr name="Freeform 20" id="20"/>
            <p:cNvSpPr/>
            <p:nvPr/>
          </p:nvSpPr>
          <p:spPr>
            <a:xfrm flipH="false" flipV="false" rot="0">
              <a:off x="0" y="0"/>
              <a:ext cx="4318000" cy="2032000"/>
            </a:xfrm>
            <a:custGeom>
              <a:avLst/>
              <a:gdLst/>
              <a:ahLst/>
              <a:cxnLst/>
              <a:rect r="r" b="b" t="t" l="l"/>
              <a:pathLst>
                <a:path h="2032000" w="4318000">
                  <a:moveTo>
                    <a:pt x="2159000" y="0"/>
                  </a:moveTo>
                  <a:cubicBezTo>
                    <a:pt x="966617" y="0"/>
                    <a:pt x="0" y="454879"/>
                    <a:pt x="0" y="1016000"/>
                  </a:cubicBezTo>
                  <a:cubicBezTo>
                    <a:pt x="0" y="1577121"/>
                    <a:pt x="966617" y="2032000"/>
                    <a:pt x="2159000" y="2032000"/>
                  </a:cubicBezTo>
                  <a:cubicBezTo>
                    <a:pt x="3351383" y="2032000"/>
                    <a:pt x="4318000" y="1577121"/>
                    <a:pt x="4318000" y="1016000"/>
                  </a:cubicBezTo>
                  <a:cubicBezTo>
                    <a:pt x="4318000" y="454879"/>
                    <a:pt x="3351383" y="0"/>
                    <a:pt x="2159000" y="0"/>
                  </a:cubicBezTo>
                  <a:close/>
                </a:path>
              </a:pathLst>
            </a:custGeom>
            <a:solidFill>
              <a:srgbClr val="2D0020"/>
            </a:solidFill>
            <a:ln w="19050" cap="sq">
              <a:solidFill>
                <a:srgbClr val="FF1493"/>
              </a:solidFill>
              <a:prstDash val="solid"/>
              <a:miter/>
            </a:ln>
          </p:spPr>
        </p:sp>
        <p:sp>
          <p:nvSpPr>
            <p:cNvPr name="TextBox 21" id="21"/>
            <p:cNvSpPr txBox="true"/>
            <p:nvPr/>
          </p:nvSpPr>
          <p:spPr>
            <a:xfrm>
              <a:off x="0" y="-57150"/>
              <a:ext cx="4318000" cy="2089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FF1493"/>
                  </a:solidFill>
                  <a:latin typeface="Open Sans Bold"/>
                  <a:ea typeface="Open Sans Bold"/>
                  <a:cs typeface="Open Sans Bold"/>
                  <a:sym typeface="Open Sans Bold"/>
                </a:rPr>
                <a:t>Recovery takes 45–60 trading days depending on sector</a:t>
              </a:r>
            </a:p>
          </p:txBody>
        </p:sp>
      </p:grpSp>
      <p:grpSp>
        <p:nvGrpSpPr>
          <p:cNvPr name="Group 22" id="22"/>
          <p:cNvGrpSpPr/>
          <p:nvPr/>
        </p:nvGrpSpPr>
        <p:grpSpPr>
          <a:xfrm rot="0">
            <a:off x="12469804" y="5532930"/>
            <a:ext cx="5732878" cy="2697825"/>
            <a:chOff x="0" y="0"/>
            <a:chExt cx="4318000" cy="2032000"/>
          </a:xfrm>
        </p:grpSpPr>
        <p:sp>
          <p:nvSpPr>
            <p:cNvPr name="Freeform 23" id="23"/>
            <p:cNvSpPr/>
            <p:nvPr/>
          </p:nvSpPr>
          <p:spPr>
            <a:xfrm flipH="false" flipV="false" rot="0">
              <a:off x="0" y="0"/>
              <a:ext cx="4318000" cy="2032000"/>
            </a:xfrm>
            <a:custGeom>
              <a:avLst/>
              <a:gdLst/>
              <a:ahLst/>
              <a:cxnLst/>
              <a:rect r="r" b="b" t="t" l="l"/>
              <a:pathLst>
                <a:path h="2032000" w="4318000">
                  <a:moveTo>
                    <a:pt x="2159000" y="0"/>
                  </a:moveTo>
                  <a:cubicBezTo>
                    <a:pt x="966617" y="0"/>
                    <a:pt x="0" y="454879"/>
                    <a:pt x="0" y="1016000"/>
                  </a:cubicBezTo>
                  <a:cubicBezTo>
                    <a:pt x="0" y="1577121"/>
                    <a:pt x="966617" y="2032000"/>
                    <a:pt x="2159000" y="2032000"/>
                  </a:cubicBezTo>
                  <a:cubicBezTo>
                    <a:pt x="3351383" y="2032000"/>
                    <a:pt x="4318000" y="1577121"/>
                    <a:pt x="4318000" y="1016000"/>
                  </a:cubicBezTo>
                  <a:cubicBezTo>
                    <a:pt x="4318000" y="454879"/>
                    <a:pt x="3351383" y="0"/>
                    <a:pt x="2159000" y="0"/>
                  </a:cubicBezTo>
                  <a:close/>
                </a:path>
              </a:pathLst>
            </a:custGeom>
            <a:solidFill>
              <a:srgbClr val="2D0020"/>
            </a:solidFill>
            <a:ln w="19050" cap="sq">
              <a:solidFill>
                <a:srgbClr val="FF1493"/>
              </a:solidFill>
              <a:prstDash val="solid"/>
              <a:miter/>
            </a:ln>
          </p:spPr>
        </p:sp>
        <p:sp>
          <p:nvSpPr>
            <p:cNvPr name="TextBox 24" id="24"/>
            <p:cNvSpPr txBox="true"/>
            <p:nvPr/>
          </p:nvSpPr>
          <p:spPr>
            <a:xfrm>
              <a:off x="0" y="-57150"/>
              <a:ext cx="4318000" cy="2089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FF1493"/>
                  </a:solidFill>
                  <a:latin typeface="Open Sans Bold"/>
                  <a:ea typeface="Open Sans Bold"/>
                  <a:cs typeface="Open Sans Bold"/>
                  <a:sym typeface="Open Sans Bold"/>
                </a:rPr>
                <a:t>Cybersecurity spending is a risk-reduction investment, not a sunk cost</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B44DFF"/>
            </a:solidFill>
          </p:spPr>
        </p:sp>
      </p:grpSp>
      <p:sp>
        <p:nvSpPr>
          <p:cNvPr name="TextBox 4" id="4"/>
          <p:cNvSpPr txBox="true"/>
          <p:nvPr/>
        </p:nvSpPr>
        <p:spPr>
          <a:xfrm rot="0">
            <a:off x="1333500" y="752475"/>
            <a:ext cx="13335000" cy="765757"/>
          </a:xfrm>
          <a:prstGeom prst="rect">
            <a:avLst/>
          </a:prstGeom>
        </p:spPr>
        <p:txBody>
          <a:bodyPr anchor="t" rtlCol="false" tIns="0" lIns="0" bIns="0" rIns="0">
            <a:spAutoFit/>
          </a:bodyPr>
          <a:lstStyle/>
          <a:p>
            <a:pPr algn="l" marL="0" indent="0" lvl="0">
              <a:lnSpc>
                <a:spcPts val="5022"/>
              </a:lnSpc>
              <a:spcBef>
                <a:spcPct val="0"/>
              </a:spcBef>
            </a:pPr>
            <a:r>
              <a:rPr lang="en-US" b="true" sz="5022" strike="noStrike" u="none">
                <a:solidFill>
                  <a:srgbClr val="7E16C9"/>
                </a:solidFill>
                <a:latin typeface="DIN Next Bold"/>
                <a:ea typeface="DIN Next Bold"/>
                <a:cs typeface="DIN Next Bold"/>
                <a:sym typeface="DIN Next Bold"/>
              </a:rPr>
              <a:t>REDUCING PHISHING VULNERABILITY</a:t>
            </a:r>
          </a:p>
        </p:txBody>
      </p:sp>
      <p:sp>
        <p:nvSpPr>
          <p:cNvPr name="AutoShape 5" id="5"/>
          <p:cNvSpPr/>
          <p:nvPr/>
        </p:nvSpPr>
        <p:spPr>
          <a:xfrm>
            <a:off x="1333500" y="1666875"/>
            <a:ext cx="5334000" cy="0"/>
          </a:xfrm>
          <a:prstGeom prst="line">
            <a:avLst/>
          </a:prstGeom>
          <a:ln cap="rnd" w="19050">
            <a:solidFill>
              <a:srgbClr val="B44DFF"/>
            </a:solidFill>
            <a:prstDash val="solid"/>
            <a:headEnd type="none" len="sm" w="sm"/>
            <a:tailEnd type="none" len="sm" w="sm"/>
          </a:ln>
        </p:spPr>
      </p:sp>
      <p:sp>
        <p:nvSpPr>
          <p:cNvPr name="Freeform 6" id="6"/>
          <p:cNvSpPr/>
          <p:nvPr/>
        </p:nvSpPr>
        <p:spPr>
          <a:xfrm flipH="false" flipV="false" rot="0">
            <a:off x="3302705" y="601423"/>
            <a:ext cx="10989154" cy="10989154"/>
          </a:xfrm>
          <a:custGeom>
            <a:avLst/>
            <a:gdLst/>
            <a:ahLst/>
            <a:cxnLst/>
            <a:rect r="r" b="b" t="t" l="l"/>
            <a:pathLst>
              <a:path h="10989154" w="10989154">
                <a:moveTo>
                  <a:pt x="0" y="0"/>
                </a:moveTo>
                <a:lnTo>
                  <a:pt x="10989154" y="0"/>
                </a:lnTo>
                <a:lnTo>
                  <a:pt x="10989154" y="10989154"/>
                </a:lnTo>
                <a:lnTo>
                  <a:pt x="0" y="10989154"/>
                </a:lnTo>
                <a:lnTo>
                  <a:pt x="0" y="0"/>
                </a:lnTo>
                <a:close/>
              </a:path>
            </a:pathLst>
          </a:custGeom>
          <a:blipFill>
            <a:blip r:embed="rId2">
              <a:alphaModFix amt="75000"/>
            </a:blip>
            <a:stretch>
              <a:fillRect l="-916" t="-916" r="-916" b="-916"/>
            </a:stretch>
          </a:blipFill>
        </p:spPr>
      </p:sp>
      <p:grpSp>
        <p:nvGrpSpPr>
          <p:cNvPr name="Group 7" id="7"/>
          <p:cNvGrpSpPr/>
          <p:nvPr/>
        </p:nvGrpSpPr>
        <p:grpSpPr>
          <a:xfrm rot="0">
            <a:off x="952500" y="2000250"/>
            <a:ext cx="5334000" cy="3810000"/>
            <a:chOff x="0" y="0"/>
            <a:chExt cx="7112000" cy="5080000"/>
          </a:xfrm>
        </p:grpSpPr>
        <p:sp>
          <p:nvSpPr>
            <p:cNvPr name="Freeform 8" id="8"/>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2A0845"/>
            </a:solidFill>
            <a:ln w="19050" cap="sq">
              <a:solidFill>
                <a:srgbClr val="B44DFF"/>
              </a:solidFill>
              <a:prstDash val="solid"/>
              <a:miter/>
            </a:ln>
          </p:spPr>
        </p:sp>
        <p:sp>
          <p:nvSpPr>
            <p:cNvPr name="TextBox 9" id="9"/>
            <p:cNvSpPr txBox="true"/>
            <p:nvPr/>
          </p:nvSpPr>
          <p:spPr>
            <a:xfrm>
              <a:off x="0" y="-57150"/>
              <a:ext cx="7112000" cy="5137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B44DFF"/>
                  </a:solidFill>
                  <a:latin typeface="Open Sans Bold"/>
                  <a:ea typeface="Open Sans Bold"/>
                  <a:cs typeface="Open Sans Bold"/>
                  <a:sym typeface="Open Sans Bold"/>
                </a:rPr>
                <a:t>Phishing exploits human weaknesses — stress, fatigue, and risk-taking increase clicks</a:t>
              </a:r>
            </a:p>
          </p:txBody>
        </p:sp>
      </p:grpSp>
      <p:grpSp>
        <p:nvGrpSpPr>
          <p:cNvPr name="Group 10" id="10"/>
          <p:cNvGrpSpPr/>
          <p:nvPr/>
        </p:nvGrpSpPr>
        <p:grpSpPr>
          <a:xfrm rot="0">
            <a:off x="6477000" y="2000250"/>
            <a:ext cx="5334000" cy="3810000"/>
            <a:chOff x="0" y="0"/>
            <a:chExt cx="7112000" cy="5080000"/>
          </a:xfrm>
        </p:grpSpPr>
        <p:sp>
          <p:nvSpPr>
            <p:cNvPr name="Freeform 11" id="11"/>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2A0845"/>
            </a:solidFill>
            <a:ln w="19050" cap="sq">
              <a:solidFill>
                <a:srgbClr val="B44DFF"/>
              </a:solidFill>
              <a:prstDash val="solid"/>
              <a:miter/>
            </a:ln>
          </p:spPr>
        </p:sp>
        <p:sp>
          <p:nvSpPr>
            <p:cNvPr name="TextBox 12" id="12"/>
            <p:cNvSpPr txBox="true"/>
            <p:nvPr/>
          </p:nvSpPr>
          <p:spPr>
            <a:xfrm>
              <a:off x="0" y="-57150"/>
              <a:ext cx="7112000" cy="5137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B44DFF"/>
                  </a:solidFill>
                  <a:latin typeface="Open Sans Bold"/>
                  <a:ea typeface="Open Sans Bold"/>
                  <a:cs typeface="Open Sans Bold"/>
                  <a:sym typeface="Open Sans Bold"/>
                </a:rPr>
                <a:t>Continuous simulations beat annual training — lower click rates and better retention</a:t>
              </a:r>
            </a:p>
          </p:txBody>
        </p:sp>
      </p:grpSp>
      <p:grpSp>
        <p:nvGrpSpPr>
          <p:cNvPr name="Group 13" id="13"/>
          <p:cNvGrpSpPr/>
          <p:nvPr/>
        </p:nvGrpSpPr>
        <p:grpSpPr>
          <a:xfrm rot="0">
            <a:off x="12001500" y="2000250"/>
            <a:ext cx="5334000" cy="3810000"/>
            <a:chOff x="0" y="0"/>
            <a:chExt cx="7112000" cy="5080000"/>
          </a:xfrm>
        </p:grpSpPr>
        <p:sp>
          <p:nvSpPr>
            <p:cNvPr name="Freeform 14" id="14"/>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2A0845"/>
            </a:solidFill>
            <a:ln w="19050" cap="sq">
              <a:solidFill>
                <a:srgbClr val="B44DFF"/>
              </a:solidFill>
              <a:prstDash val="solid"/>
              <a:miter/>
            </a:ln>
          </p:spPr>
        </p:sp>
        <p:sp>
          <p:nvSpPr>
            <p:cNvPr name="TextBox 15" id="15"/>
            <p:cNvSpPr txBox="true"/>
            <p:nvPr/>
          </p:nvSpPr>
          <p:spPr>
            <a:xfrm>
              <a:off x="0" y="-57150"/>
              <a:ext cx="7112000" cy="5137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B44DFF"/>
                  </a:solidFill>
                  <a:latin typeface="Open Sans Bold"/>
                  <a:ea typeface="Open Sans Bold"/>
                  <a:cs typeface="Open Sans Bold"/>
                  <a:sym typeface="Open Sans Bold"/>
                </a:rPr>
                <a:t>Deep-learning models (Transformers) detect phishing at ~97% accuracy</a:t>
              </a:r>
            </a:p>
          </p:txBody>
        </p:sp>
      </p:grpSp>
      <p:grpSp>
        <p:nvGrpSpPr>
          <p:cNvPr name="Group 16" id="16"/>
          <p:cNvGrpSpPr/>
          <p:nvPr/>
        </p:nvGrpSpPr>
        <p:grpSpPr>
          <a:xfrm rot="0">
            <a:off x="952500" y="6134100"/>
            <a:ext cx="5334000" cy="3810000"/>
            <a:chOff x="0" y="0"/>
            <a:chExt cx="7112000" cy="5080000"/>
          </a:xfrm>
        </p:grpSpPr>
        <p:sp>
          <p:nvSpPr>
            <p:cNvPr name="Freeform 17" id="17"/>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2A0845"/>
            </a:solidFill>
            <a:ln w="19050" cap="sq">
              <a:solidFill>
                <a:srgbClr val="B44DFF"/>
              </a:solidFill>
              <a:prstDash val="solid"/>
              <a:miter/>
            </a:ln>
          </p:spPr>
        </p:sp>
        <p:sp>
          <p:nvSpPr>
            <p:cNvPr name="TextBox 18" id="18"/>
            <p:cNvSpPr txBox="true"/>
            <p:nvPr/>
          </p:nvSpPr>
          <p:spPr>
            <a:xfrm>
              <a:off x="0" y="-57150"/>
              <a:ext cx="7112000" cy="5137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B44DFF"/>
                  </a:solidFill>
                  <a:latin typeface="Open Sans Bold"/>
                  <a:ea typeface="Open Sans Bold"/>
                  <a:cs typeface="Open Sans Bold"/>
                  <a:sym typeface="Open Sans Bold"/>
                </a:rPr>
                <a:t>DevSecOps approach embeds security early and improves user engagement</a:t>
              </a:r>
            </a:p>
          </p:txBody>
        </p:sp>
      </p:grpSp>
      <p:grpSp>
        <p:nvGrpSpPr>
          <p:cNvPr name="Group 19" id="19"/>
          <p:cNvGrpSpPr/>
          <p:nvPr/>
        </p:nvGrpSpPr>
        <p:grpSpPr>
          <a:xfrm rot="0">
            <a:off x="6477000" y="6096000"/>
            <a:ext cx="5334000" cy="3810000"/>
            <a:chOff x="0" y="0"/>
            <a:chExt cx="7112000" cy="5080000"/>
          </a:xfrm>
        </p:grpSpPr>
        <p:sp>
          <p:nvSpPr>
            <p:cNvPr name="Freeform 20" id="20"/>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2A0845"/>
            </a:solidFill>
            <a:ln w="19050" cap="sq">
              <a:solidFill>
                <a:srgbClr val="B44DFF"/>
              </a:solidFill>
              <a:prstDash val="solid"/>
              <a:miter/>
            </a:ln>
          </p:spPr>
        </p:sp>
        <p:sp>
          <p:nvSpPr>
            <p:cNvPr name="TextBox 21" id="21"/>
            <p:cNvSpPr txBox="true"/>
            <p:nvPr/>
          </p:nvSpPr>
          <p:spPr>
            <a:xfrm>
              <a:off x="0" y="-57150"/>
              <a:ext cx="7112000" cy="5137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B44DFF"/>
                  </a:solidFill>
                  <a:latin typeface="Open Sans Bold"/>
                  <a:ea typeface="Open Sans Bold"/>
                  <a:cs typeface="Open Sans Bold"/>
                  <a:sym typeface="Open Sans Bold"/>
                </a:rPr>
                <a:t>Strong security culture at work transfers good habits to home behavior</a:t>
              </a:r>
            </a:p>
          </p:txBody>
        </p:sp>
      </p:grpSp>
      <p:grpSp>
        <p:nvGrpSpPr>
          <p:cNvPr name="Group 22" id="22"/>
          <p:cNvGrpSpPr/>
          <p:nvPr/>
        </p:nvGrpSpPr>
        <p:grpSpPr>
          <a:xfrm rot="0">
            <a:off x="12001500" y="6096000"/>
            <a:ext cx="5334000" cy="3810000"/>
            <a:chOff x="0" y="0"/>
            <a:chExt cx="7112000" cy="5080000"/>
          </a:xfrm>
        </p:grpSpPr>
        <p:sp>
          <p:nvSpPr>
            <p:cNvPr name="Freeform 23" id="23"/>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2A0845"/>
            </a:solidFill>
            <a:ln w="19050" cap="sq">
              <a:solidFill>
                <a:srgbClr val="B44DFF"/>
              </a:solidFill>
              <a:prstDash val="solid"/>
              <a:miter/>
            </a:ln>
          </p:spPr>
        </p:sp>
        <p:sp>
          <p:nvSpPr>
            <p:cNvPr name="TextBox 24" id="24"/>
            <p:cNvSpPr txBox="true"/>
            <p:nvPr/>
          </p:nvSpPr>
          <p:spPr>
            <a:xfrm>
              <a:off x="0" y="-57150"/>
              <a:ext cx="7112000" cy="5137150"/>
            </a:xfrm>
            <a:prstGeom prst="rect">
              <a:avLst/>
            </a:prstGeom>
          </p:spPr>
          <p:txBody>
            <a:bodyPr anchor="ctr" rtlCol="false" tIns="50800" lIns="50800" bIns="50800" rIns="50800"/>
            <a:lstStyle/>
            <a:p>
              <a:pPr algn="ctr" marL="0" indent="0" lvl="0">
                <a:lnSpc>
                  <a:spcPts val="4200"/>
                </a:lnSpc>
                <a:spcBef>
                  <a:spcPct val="0"/>
                </a:spcBef>
              </a:pPr>
              <a:r>
                <a:rPr lang="en-US" b="true" sz="3000" strike="noStrike" u="none">
                  <a:solidFill>
                    <a:srgbClr val="B44DFF"/>
                  </a:solidFill>
                  <a:latin typeface="Open Sans Bold"/>
                  <a:ea typeface="Open Sans Bold"/>
                  <a:cs typeface="Open Sans Bold"/>
                  <a:sym typeface="Open Sans Bold"/>
                </a:rPr>
                <a:t>Proposed HCPD framework unites AI detection, psychology profiling, and governance</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D4FF"/>
            </a:solidFill>
          </p:spPr>
        </p:sp>
      </p:grpSp>
      <p:sp>
        <p:nvSpPr>
          <p:cNvPr name="TextBox 4" id="4"/>
          <p:cNvSpPr txBox="true"/>
          <p:nvPr/>
        </p:nvSpPr>
        <p:spPr>
          <a:xfrm rot="0">
            <a:off x="1333500" y="752512"/>
            <a:ext cx="13335000" cy="765683"/>
          </a:xfrm>
          <a:prstGeom prst="rect">
            <a:avLst/>
          </a:prstGeom>
        </p:spPr>
        <p:txBody>
          <a:bodyPr anchor="t" rtlCol="false" tIns="0" lIns="0" bIns="0" rIns="0">
            <a:spAutoFit/>
          </a:bodyPr>
          <a:lstStyle/>
          <a:p>
            <a:pPr algn="l" marL="0" indent="0" lvl="0">
              <a:lnSpc>
                <a:spcPts val="5019"/>
              </a:lnSpc>
              <a:spcBef>
                <a:spcPct val="0"/>
              </a:spcBef>
            </a:pPr>
            <a:r>
              <a:rPr lang="en-US" b="true" sz="5019" strike="noStrike" u="none">
                <a:solidFill>
                  <a:srgbClr val="00B8E6"/>
                </a:solidFill>
                <a:latin typeface="DIN Next Bold"/>
                <a:ea typeface="DIN Next Bold"/>
                <a:cs typeface="DIN Next Bold"/>
                <a:sym typeface="DIN Next Bold"/>
              </a:rPr>
              <a:t>SME CYBER VULNERABILITY</a:t>
            </a:r>
          </a:p>
        </p:txBody>
      </p:sp>
      <p:sp>
        <p:nvSpPr>
          <p:cNvPr name="AutoShape 5" id="5"/>
          <p:cNvSpPr/>
          <p:nvPr/>
        </p:nvSpPr>
        <p:spPr>
          <a:xfrm>
            <a:off x="1333500" y="1666875"/>
            <a:ext cx="5334000" cy="0"/>
          </a:xfrm>
          <a:prstGeom prst="line">
            <a:avLst/>
          </a:prstGeom>
          <a:ln cap="rnd" w="19050">
            <a:solidFill>
              <a:srgbClr val="00D4FF"/>
            </a:solidFill>
            <a:prstDash val="solid"/>
            <a:headEnd type="none" len="sm" w="sm"/>
            <a:tailEnd type="none" len="sm" w="sm"/>
          </a:ln>
        </p:spPr>
      </p:sp>
      <p:grpSp>
        <p:nvGrpSpPr>
          <p:cNvPr name="Group 6" id="6"/>
          <p:cNvGrpSpPr/>
          <p:nvPr/>
        </p:nvGrpSpPr>
        <p:grpSpPr>
          <a:xfrm rot="0">
            <a:off x="952500" y="1905000"/>
            <a:ext cx="5334000" cy="3810000"/>
            <a:chOff x="0" y="0"/>
            <a:chExt cx="7112000" cy="5080000"/>
          </a:xfrm>
        </p:grpSpPr>
        <p:sp>
          <p:nvSpPr>
            <p:cNvPr name="Freeform 7" id="7"/>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A2E"/>
            </a:solidFill>
            <a:ln w="19050" cap="sq">
              <a:solidFill>
                <a:srgbClr val="00D4FF"/>
              </a:solidFill>
              <a:prstDash val="solid"/>
              <a:miter/>
            </a:ln>
          </p:spPr>
        </p:sp>
        <p:sp>
          <p:nvSpPr>
            <p:cNvPr name="TextBox 8" id="8"/>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D4FF"/>
                  </a:solidFill>
                  <a:latin typeface="Open Sans Bold"/>
                  <a:ea typeface="Open Sans Bold"/>
                  <a:cs typeface="Open Sans Bold"/>
                  <a:sym typeface="Open Sans Bold"/>
                </a:rPr>
                <a:t>SMEs are 90%+ of businesses but lack budget, staff, and awareness for cybersecurity</a:t>
              </a:r>
            </a:p>
          </p:txBody>
        </p:sp>
      </p:grpSp>
      <p:grpSp>
        <p:nvGrpSpPr>
          <p:cNvPr name="Group 9" id="9"/>
          <p:cNvGrpSpPr/>
          <p:nvPr/>
        </p:nvGrpSpPr>
        <p:grpSpPr>
          <a:xfrm rot="0">
            <a:off x="6477000" y="1905000"/>
            <a:ext cx="5334000" cy="3810000"/>
            <a:chOff x="0" y="0"/>
            <a:chExt cx="7112000" cy="5080000"/>
          </a:xfrm>
        </p:grpSpPr>
        <p:sp>
          <p:nvSpPr>
            <p:cNvPr name="Freeform 10" id="10"/>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A2E"/>
            </a:solidFill>
            <a:ln w="19050" cap="sq">
              <a:solidFill>
                <a:srgbClr val="00D4FF"/>
              </a:solidFill>
              <a:prstDash val="solid"/>
              <a:miter/>
            </a:ln>
          </p:spPr>
        </p:sp>
        <p:sp>
          <p:nvSpPr>
            <p:cNvPr name="TextBox 11" id="11"/>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D4FF"/>
                  </a:solidFill>
                  <a:latin typeface="Open Sans Bold"/>
                  <a:ea typeface="Open Sans Bold"/>
                  <a:cs typeface="Open Sans Bold"/>
                  <a:sym typeface="Open Sans Bold"/>
                </a:rPr>
                <a:t>Phishing and ransomware exploit untrained staff — insider threats worsen without policies</a:t>
              </a:r>
            </a:p>
          </p:txBody>
        </p:sp>
      </p:grpSp>
      <p:grpSp>
        <p:nvGrpSpPr>
          <p:cNvPr name="Group 12" id="12"/>
          <p:cNvGrpSpPr/>
          <p:nvPr/>
        </p:nvGrpSpPr>
        <p:grpSpPr>
          <a:xfrm rot="0">
            <a:off x="12001500" y="1905000"/>
            <a:ext cx="5334000" cy="3810000"/>
            <a:chOff x="0" y="0"/>
            <a:chExt cx="7112000" cy="5080000"/>
          </a:xfrm>
        </p:grpSpPr>
        <p:sp>
          <p:nvSpPr>
            <p:cNvPr name="Freeform 13" id="13"/>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A2E"/>
            </a:solidFill>
            <a:ln w="19050" cap="sq">
              <a:solidFill>
                <a:srgbClr val="00D4FF"/>
              </a:solidFill>
              <a:prstDash val="solid"/>
              <a:miter/>
            </a:ln>
          </p:spPr>
        </p:sp>
        <p:sp>
          <p:nvSpPr>
            <p:cNvPr name="TextBox 14" id="14"/>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D4FF"/>
                  </a:solidFill>
                  <a:latin typeface="Open Sans Bold"/>
                  <a:ea typeface="Open Sans Bold"/>
                  <a:cs typeface="Open Sans Bold"/>
                  <a:sym typeface="Open Sans Bold"/>
                </a:rPr>
                <a:t>Security ROI is invisible until a breach — SMEs stay reactive, not proactive</a:t>
              </a:r>
            </a:p>
          </p:txBody>
        </p:sp>
      </p:grpSp>
      <p:grpSp>
        <p:nvGrpSpPr>
          <p:cNvPr name="Group 15" id="15"/>
          <p:cNvGrpSpPr/>
          <p:nvPr/>
        </p:nvGrpSpPr>
        <p:grpSpPr>
          <a:xfrm rot="0">
            <a:off x="952500" y="6038850"/>
            <a:ext cx="5334000" cy="3810000"/>
            <a:chOff x="0" y="0"/>
            <a:chExt cx="7112000" cy="5080000"/>
          </a:xfrm>
        </p:grpSpPr>
        <p:sp>
          <p:nvSpPr>
            <p:cNvPr name="Freeform 16" id="16"/>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A2E"/>
            </a:solidFill>
            <a:ln w="19050" cap="sq">
              <a:solidFill>
                <a:srgbClr val="00D4FF"/>
              </a:solidFill>
              <a:prstDash val="solid"/>
              <a:miter/>
            </a:ln>
          </p:spPr>
        </p:sp>
        <p:sp>
          <p:nvSpPr>
            <p:cNvPr name="TextBox 17" id="17"/>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D4FF"/>
                  </a:solidFill>
                  <a:latin typeface="Open Sans Bold"/>
                  <a:ea typeface="Open Sans Bold"/>
                  <a:cs typeface="Open Sans Bold"/>
                  <a:sym typeface="Open Sans Bold"/>
                </a:rPr>
                <a:t>58% of attacks hit SMEs to infiltrate larger supply chains — a systemic risk</a:t>
              </a:r>
            </a:p>
          </p:txBody>
        </p:sp>
      </p:grpSp>
      <p:grpSp>
        <p:nvGrpSpPr>
          <p:cNvPr name="Group 18" id="18"/>
          <p:cNvGrpSpPr/>
          <p:nvPr/>
        </p:nvGrpSpPr>
        <p:grpSpPr>
          <a:xfrm rot="0">
            <a:off x="6477000" y="6038850"/>
            <a:ext cx="5334000" cy="3810000"/>
            <a:chOff x="0" y="0"/>
            <a:chExt cx="7112000" cy="5080000"/>
          </a:xfrm>
        </p:grpSpPr>
        <p:sp>
          <p:nvSpPr>
            <p:cNvPr name="Freeform 19" id="19"/>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A2E"/>
            </a:solidFill>
            <a:ln w="19050" cap="sq">
              <a:solidFill>
                <a:srgbClr val="00D4FF"/>
              </a:solidFill>
              <a:prstDash val="solid"/>
              <a:miter/>
            </a:ln>
          </p:spPr>
        </p:sp>
        <p:sp>
          <p:nvSpPr>
            <p:cNvPr name="TextBox 20" id="20"/>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D4FF"/>
                  </a:solidFill>
                  <a:latin typeface="Open Sans Bold"/>
                  <a:ea typeface="Open Sans Bold"/>
                  <a:cs typeface="Open Sans Bold"/>
                  <a:sym typeface="Open Sans Bold"/>
                </a:rPr>
                <a:t>MSSPs are built for enterprises — too complex and expensive for small businesses</a:t>
              </a:r>
            </a:p>
          </p:txBody>
        </p:sp>
      </p:grpSp>
      <p:grpSp>
        <p:nvGrpSpPr>
          <p:cNvPr name="Group 21" id="21"/>
          <p:cNvGrpSpPr/>
          <p:nvPr/>
        </p:nvGrpSpPr>
        <p:grpSpPr>
          <a:xfrm rot="0">
            <a:off x="11925300" y="6038850"/>
            <a:ext cx="5334000" cy="3701148"/>
            <a:chOff x="0" y="0"/>
            <a:chExt cx="7112000" cy="4934864"/>
          </a:xfrm>
        </p:grpSpPr>
        <p:sp>
          <p:nvSpPr>
            <p:cNvPr name="Freeform 22" id="22"/>
            <p:cNvSpPr/>
            <p:nvPr/>
          </p:nvSpPr>
          <p:spPr>
            <a:xfrm flipH="false" flipV="false" rot="0">
              <a:off x="0" y="0"/>
              <a:ext cx="7112000" cy="4934864"/>
            </a:xfrm>
            <a:custGeom>
              <a:avLst/>
              <a:gdLst/>
              <a:ahLst/>
              <a:cxnLst/>
              <a:rect r="r" b="b" t="t" l="l"/>
              <a:pathLst>
                <a:path h="4934864" w="7112000">
                  <a:moveTo>
                    <a:pt x="3556000" y="0"/>
                  </a:moveTo>
                  <a:cubicBezTo>
                    <a:pt x="1592075" y="0"/>
                    <a:pt x="0" y="1104707"/>
                    <a:pt x="0" y="2467432"/>
                  </a:cubicBezTo>
                  <a:cubicBezTo>
                    <a:pt x="0" y="3830157"/>
                    <a:pt x="1592075" y="4934864"/>
                    <a:pt x="3556000" y="4934864"/>
                  </a:cubicBezTo>
                  <a:cubicBezTo>
                    <a:pt x="5519924" y="4934864"/>
                    <a:pt x="7112000" y="3830157"/>
                    <a:pt x="7112000" y="2467432"/>
                  </a:cubicBezTo>
                  <a:cubicBezTo>
                    <a:pt x="7112000" y="1104707"/>
                    <a:pt x="5519924" y="0"/>
                    <a:pt x="3556000" y="0"/>
                  </a:cubicBezTo>
                  <a:close/>
                </a:path>
              </a:pathLst>
            </a:custGeom>
            <a:solidFill>
              <a:srgbClr val="001A2E"/>
            </a:solidFill>
            <a:ln w="19050" cap="sq">
              <a:solidFill>
                <a:srgbClr val="00D4FF"/>
              </a:solidFill>
              <a:prstDash val="solid"/>
              <a:miter/>
            </a:ln>
          </p:spPr>
        </p:sp>
        <p:sp>
          <p:nvSpPr>
            <p:cNvPr name="TextBox 23" id="23"/>
            <p:cNvSpPr txBox="true"/>
            <p:nvPr/>
          </p:nvSpPr>
          <p:spPr>
            <a:xfrm>
              <a:off x="0" y="-57150"/>
              <a:ext cx="7112000" cy="4992014"/>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D4FF"/>
                  </a:solidFill>
                  <a:latin typeface="Open Sans Bold"/>
                  <a:ea typeface="Open Sans Bold"/>
                  <a:cs typeface="Open Sans Bold"/>
                  <a:sym typeface="Open Sans Bold"/>
                </a:rPr>
                <a:t>Solution: government-supported, SME-tailored services prioritizing core protections</a:t>
              </a:r>
            </a:p>
          </p:txBody>
        </p:sp>
      </p:grpSp>
    </p:spTree>
  </p:cSld>
  <p:clrMapOvr>
    <a:masterClrMapping/>
  </p:clrMapOvr>
</p:sld>
</file>

<file path=ppt/slides/slide11.xml><?xml version="1.0" encoding="utf-8"?>
<p:sld xmlns:p="http://schemas.openxmlformats.org/presentationml/2006/main" xmlns:a="http://schemas.openxmlformats.org/drawingml/2006/main">
  <p:cSld>
    <p:bg>
      <p:bgPr>
        <a:solidFill>
          <a:srgbClr val="060D1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77B6"/>
            </a:solidFill>
          </p:spPr>
        </p:sp>
      </p:grpSp>
      <p:sp>
        <p:nvSpPr>
          <p:cNvPr name="TextBox 4" id="4"/>
          <p:cNvSpPr txBox="true"/>
          <p:nvPr/>
        </p:nvSpPr>
        <p:spPr>
          <a:xfrm rot="0">
            <a:off x="1333500" y="752512"/>
            <a:ext cx="13335000" cy="765683"/>
          </a:xfrm>
          <a:prstGeom prst="rect">
            <a:avLst/>
          </a:prstGeom>
        </p:spPr>
        <p:txBody>
          <a:bodyPr anchor="t" rtlCol="false" tIns="0" lIns="0" bIns="0" rIns="0">
            <a:spAutoFit/>
          </a:bodyPr>
          <a:lstStyle/>
          <a:p>
            <a:pPr algn="l" marL="0" indent="0" lvl="0">
              <a:lnSpc>
                <a:spcPts val="5019"/>
              </a:lnSpc>
              <a:spcBef>
                <a:spcPct val="0"/>
              </a:spcBef>
            </a:pPr>
            <a:r>
              <a:rPr lang="en-US" b="true" sz="5019" strike="noStrike" u="none">
                <a:solidFill>
                  <a:srgbClr val="0099DD"/>
                </a:solidFill>
                <a:latin typeface="DIN Next Bold"/>
                <a:ea typeface="DIN Next Bold"/>
                <a:cs typeface="DIN Next Bold"/>
                <a:sym typeface="DIN Next Bold"/>
              </a:rPr>
              <a:t>AI &amp; CORPORATE PHISHING</a:t>
            </a:r>
          </a:p>
        </p:txBody>
      </p:sp>
      <p:sp>
        <p:nvSpPr>
          <p:cNvPr name="AutoShape 5" id="5"/>
          <p:cNvSpPr/>
          <p:nvPr/>
        </p:nvSpPr>
        <p:spPr>
          <a:xfrm>
            <a:off x="1333500" y="1666875"/>
            <a:ext cx="5334000" cy="0"/>
          </a:xfrm>
          <a:prstGeom prst="line">
            <a:avLst/>
          </a:prstGeom>
          <a:ln cap="rnd" w="19050">
            <a:solidFill>
              <a:srgbClr val="0077B6"/>
            </a:solidFill>
            <a:prstDash val="solid"/>
            <a:headEnd type="none" len="sm" w="sm"/>
            <a:tailEnd type="none" len="sm" w="sm"/>
          </a:ln>
        </p:spPr>
      </p:sp>
      <p:grpSp>
        <p:nvGrpSpPr>
          <p:cNvPr name="Group 6" id="6"/>
          <p:cNvGrpSpPr/>
          <p:nvPr/>
        </p:nvGrpSpPr>
        <p:grpSpPr>
          <a:xfrm rot="0">
            <a:off x="952500" y="1905000"/>
            <a:ext cx="5334000" cy="3810000"/>
            <a:chOff x="0" y="0"/>
            <a:chExt cx="7112000" cy="5080000"/>
          </a:xfrm>
        </p:grpSpPr>
        <p:sp>
          <p:nvSpPr>
            <p:cNvPr name="Freeform 7" id="7"/>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020"/>
            </a:solidFill>
            <a:ln w="19050" cap="sq">
              <a:solidFill>
                <a:srgbClr val="0077B6"/>
              </a:solidFill>
              <a:prstDash val="solid"/>
              <a:miter/>
            </a:ln>
          </p:spPr>
        </p:sp>
        <p:sp>
          <p:nvSpPr>
            <p:cNvPr name="TextBox 8" id="8"/>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77B6"/>
                  </a:solidFill>
                  <a:latin typeface="Open Sans Bold"/>
                  <a:ea typeface="Open Sans Bold"/>
                  <a:cs typeface="Open Sans Bold"/>
                  <a:sym typeface="Open Sans Bold"/>
                </a:rPr>
                <a:t>AI generates personalized phishing at scale — 82.6% of phishing emails in 2025 showed AI content</a:t>
              </a:r>
            </a:p>
          </p:txBody>
        </p:sp>
      </p:grpSp>
      <p:grpSp>
        <p:nvGrpSpPr>
          <p:cNvPr name="Group 9" id="9"/>
          <p:cNvGrpSpPr/>
          <p:nvPr/>
        </p:nvGrpSpPr>
        <p:grpSpPr>
          <a:xfrm rot="0">
            <a:off x="6477000" y="1905000"/>
            <a:ext cx="5334000" cy="3810000"/>
            <a:chOff x="0" y="0"/>
            <a:chExt cx="7112000" cy="5080000"/>
          </a:xfrm>
        </p:grpSpPr>
        <p:sp>
          <p:nvSpPr>
            <p:cNvPr name="Freeform 10" id="10"/>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020"/>
            </a:solidFill>
            <a:ln w="19050" cap="sq">
              <a:solidFill>
                <a:srgbClr val="0077B6"/>
              </a:solidFill>
              <a:prstDash val="solid"/>
              <a:miter/>
            </a:ln>
          </p:spPr>
        </p:sp>
        <p:sp>
          <p:nvSpPr>
            <p:cNvPr name="TextBox 11" id="11"/>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77B6"/>
                  </a:solidFill>
                  <a:latin typeface="Open Sans Bold"/>
                  <a:ea typeface="Open Sans Bold"/>
                  <a:cs typeface="Open Sans Bold"/>
                  <a:sym typeface="Open Sans Bold"/>
                </a:rPr>
                <a:t>LLMs produce perfect grammar, making old red flags obsolete — deepfakes clone executive voices</a:t>
              </a:r>
            </a:p>
          </p:txBody>
        </p:sp>
      </p:grpSp>
      <p:grpSp>
        <p:nvGrpSpPr>
          <p:cNvPr name="Group 12" id="12"/>
          <p:cNvGrpSpPr/>
          <p:nvPr/>
        </p:nvGrpSpPr>
        <p:grpSpPr>
          <a:xfrm rot="0">
            <a:off x="12001500" y="1905000"/>
            <a:ext cx="5334000" cy="3810000"/>
            <a:chOff x="0" y="0"/>
            <a:chExt cx="7112000" cy="5080000"/>
          </a:xfrm>
        </p:grpSpPr>
        <p:sp>
          <p:nvSpPr>
            <p:cNvPr name="Freeform 13" id="13"/>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020"/>
            </a:solidFill>
            <a:ln w="19050" cap="sq">
              <a:solidFill>
                <a:srgbClr val="0077B6"/>
              </a:solidFill>
              <a:prstDash val="solid"/>
              <a:miter/>
            </a:ln>
          </p:spPr>
        </p:sp>
        <p:sp>
          <p:nvSpPr>
            <p:cNvPr name="TextBox 14" id="14"/>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77B6"/>
                  </a:solidFill>
                  <a:latin typeface="Open Sans Bold"/>
                  <a:ea typeface="Open Sans Bold"/>
                  <a:cs typeface="Open Sans Bold"/>
                  <a:sym typeface="Open Sans Bold"/>
                </a:rPr>
                <a:t>AI spear-phishing hits 54% click-through vs 12% for generic — 350% more effective than traditional</a:t>
              </a:r>
            </a:p>
          </p:txBody>
        </p:sp>
      </p:grpSp>
      <p:grpSp>
        <p:nvGrpSpPr>
          <p:cNvPr name="Group 15" id="15"/>
          <p:cNvGrpSpPr/>
          <p:nvPr/>
        </p:nvGrpSpPr>
        <p:grpSpPr>
          <a:xfrm rot="0">
            <a:off x="952500" y="6038850"/>
            <a:ext cx="5334000" cy="3810000"/>
            <a:chOff x="0" y="0"/>
            <a:chExt cx="7112000" cy="5080000"/>
          </a:xfrm>
        </p:grpSpPr>
        <p:sp>
          <p:nvSpPr>
            <p:cNvPr name="Freeform 16" id="16"/>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020"/>
            </a:solidFill>
            <a:ln w="19050" cap="sq">
              <a:solidFill>
                <a:srgbClr val="0077B6"/>
              </a:solidFill>
              <a:prstDash val="solid"/>
              <a:miter/>
            </a:ln>
          </p:spPr>
        </p:sp>
        <p:sp>
          <p:nvSpPr>
            <p:cNvPr name="TextBox 17" id="17"/>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77B6"/>
                  </a:solidFill>
                  <a:latin typeface="Open Sans Bold"/>
                  <a:ea typeface="Open Sans Bold"/>
                  <a:cs typeface="Open Sans Bold"/>
                  <a:sym typeface="Open Sans Bold"/>
                </a:rPr>
                <a:t>ML defenders detect subtle threats traditional rules miss — behavioral analysis flags anomalies</a:t>
              </a:r>
            </a:p>
          </p:txBody>
        </p:sp>
      </p:grpSp>
      <p:grpSp>
        <p:nvGrpSpPr>
          <p:cNvPr name="Group 18" id="18"/>
          <p:cNvGrpSpPr/>
          <p:nvPr/>
        </p:nvGrpSpPr>
        <p:grpSpPr>
          <a:xfrm rot="0">
            <a:off x="6477000" y="6038850"/>
            <a:ext cx="5334000" cy="3810000"/>
            <a:chOff x="0" y="0"/>
            <a:chExt cx="7112000" cy="5080000"/>
          </a:xfrm>
        </p:grpSpPr>
        <p:sp>
          <p:nvSpPr>
            <p:cNvPr name="Freeform 19" id="19"/>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020"/>
            </a:solidFill>
            <a:ln w="19050" cap="sq">
              <a:solidFill>
                <a:srgbClr val="0077B6"/>
              </a:solidFill>
              <a:prstDash val="solid"/>
              <a:miter/>
            </a:ln>
          </p:spPr>
        </p:sp>
        <p:sp>
          <p:nvSpPr>
            <p:cNvPr name="TextBox 20" id="20"/>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77B6"/>
                  </a:solidFill>
                  <a:latin typeface="Open Sans Bold"/>
                  <a:ea typeface="Open Sans Bold"/>
                  <a:cs typeface="Open Sans Bold"/>
                  <a:sym typeface="Open Sans Bold"/>
                </a:rPr>
                <a:t>Automated response isolates compromised accounts in real time — reinforcement learning improves over time</a:t>
              </a:r>
            </a:p>
          </p:txBody>
        </p:sp>
      </p:grpSp>
      <p:grpSp>
        <p:nvGrpSpPr>
          <p:cNvPr name="Group 21" id="21"/>
          <p:cNvGrpSpPr/>
          <p:nvPr/>
        </p:nvGrpSpPr>
        <p:grpSpPr>
          <a:xfrm rot="0">
            <a:off x="12001500" y="6038850"/>
            <a:ext cx="5334000" cy="3810000"/>
            <a:chOff x="0" y="0"/>
            <a:chExt cx="7112000" cy="5080000"/>
          </a:xfrm>
        </p:grpSpPr>
        <p:sp>
          <p:nvSpPr>
            <p:cNvPr name="Freeform 22" id="22"/>
            <p:cNvSpPr/>
            <p:nvPr/>
          </p:nvSpPr>
          <p:spPr>
            <a:xfrm flipH="false" flipV="false" rot="0">
              <a:off x="0" y="0"/>
              <a:ext cx="7112000" cy="5080000"/>
            </a:xfrm>
            <a:custGeom>
              <a:avLst/>
              <a:gdLst/>
              <a:ahLst/>
              <a:cxnLst/>
              <a:rect r="r" b="b" t="t" l="l"/>
              <a:pathLst>
                <a:path h="5080000" w="7112000">
                  <a:moveTo>
                    <a:pt x="3556000" y="0"/>
                  </a:moveTo>
                  <a:cubicBezTo>
                    <a:pt x="1592075" y="0"/>
                    <a:pt x="0" y="1137197"/>
                    <a:pt x="0" y="2540000"/>
                  </a:cubicBezTo>
                  <a:cubicBezTo>
                    <a:pt x="0" y="3942803"/>
                    <a:pt x="1592075" y="5080000"/>
                    <a:pt x="3556000" y="5080000"/>
                  </a:cubicBezTo>
                  <a:cubicBezTo>
                    <a:pt x="5519924" y="5080000"/>
                    <a:pt x="7112000" y="3942803"/>
                    <a:pt x="7112000" y="2540000"/>
                  </a:cubicBezTo>
                  <a:cubicBezTo>
                    <a:pt x="7112000" y="1137197"/>
                    <a:pt x="5519924" y="0"/>
                    <a:pt x="3556000" y="0"/>
                  </a:cubicBezTo>
                  <a:close/>
                </a:path>
              </a:pathLst>
            </a:custGeom>
            <a:solidFill>
              <a:srgbClr val="001020"/>
            </a:solidFill>
            <a:ln w="19050" cap="sq">
              <a:solidFill>
                <a:srgbClr val="0077B6"/>
              </a:solidFill>
              <a:prstDash val="solid"/>
              <a:miter/>
            </a:ln>
          </p:spPr>
        </p:sp>
        <p:sp>
          <p:nvSpPr>
            <p:cNvPr name="TextBox 23" id="23"/>
            <p:cNvSpPr txBox="true"/>
            <p:nvPr/>
          </p:nvSpPr>
          <p:spPr>
            <a:xfrm>
              <a:off x="0" y="-57150"/>
              <a:ext cx="7112000" cy="5137150"/>
            </a:xfrm>
            <a:prstGeom prst="rect">
              <a:avLst/>
            </a:prstGeom>
          </p:spPr>
          <p:txBody>
            <a:bodyPr anchor="ctr" rtlCol="false" tIns="50800" lIns="50800" bIns="50800" rIns="50800"/>
            <a:lstStyle/>
            <a:p>
              <a:pPr algn="ctr" marL="0" indent="0" lvl="0">
                <a:lnSpc>
                  <a:spcPts val="3919"/>
                </a:lnSpc>
                <a:spcBef>
                  <a:spcPct val="0"/>
                </a:spcBef>
              </a:pPr>
              <a:r>
                <a:rPr lang="en-US" b="true" sz="2799" strike="noStrike" u="none">
                  <a:solidFill>
                    <a:srgbClr val="0077B6"/>
                  </a:solidFill>
                  <a:latin typeface="Open Sans Bold"/>
                  <a:ea typeface="Open Sans Bold"/>
                  <a:cs typeface="Open Sans Bold"/>
                  <a:sym typeface="Open Sans Bold"/>
                </a:rPr>
                <a:t>Organizations must adopt Zero Trust, MFA, continuous training, and AI-driven tools to keep pace</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2190750" y="1143000"/>
            <a:ext cx="857250" cy="762000"/>
            <a:chOff x="0" y="0"/>
            <a:chExt cx="1143000" cy="1016000"/>
          </a:xfrm>
        </p:grpSpPr>
        <p:sp>
          <p:nvSpPr>
            <p:cNvPr name="Freeform 3" id="3"/>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4" id="4"/>
          <p:cNvGrpSpPr/>
          <p:nvPr/>
        </p:nvGrpSpPr>
        <p:grpSpPr>
          <a:xfrm rot="0">
            <a:off x="4191000" y="1143000"/>
            <a:ext cx="857250" cy="762000"/>
            <a:chOff x="0" y="0"/>
            <a:chExt cx="1143000" cy="1016000"/>
          </a:xfrm>
        </p:grpSpPr>
        <p:sp>
          <p:nvSpPr>
            <p:cNvPr name="Freeform 5" id="5"/>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6" id="6"/>
          <p:cNvGrpSpPr/>
          <p:nvPr/>
        </p:nvGrpSpPr>
        <p:grpSpPr>
          <a:xfrm rot="0">
            <a:off x="7715250" y="1143000"/>
            <a:ext cx="857250" cy="762000"/>
            <a:chOff x="0" y="0"/>
            <a:chExt cx="1143000" cy="1016000"/>
          </a:xfrm>
        </p:grpSpPr>
        <p:sp>
          <p:nvSpPr>
            <p:cNvPr name="Freeform 7" id="7"/>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8" id="8"/>
          <p:cNvGrpSpPr/>
          <p:nvPr/>
        </p:nvGrpSpPr>
        <p:grpSpPr>
          <a:xfrm rot="0">
            <a:off x="9715500" y="1143000"/>
            <a:ext cx="857250" cy="762000"/>
            <a:chOff x="0" y="0"/>
            <a:chExt cx="1143000" cy="1016000"/>
          </a:xfrm>
        </p:grpSpPr>
        <p:sp>
          <p:nvSpPr>
            <p:cNvPr name="Freeform 9" id="9"/>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10" id="10"/>
          <p:cNvGrpSpPr/>
          <p:nvPr/>
        </p:nvGrpSpPr>
        <p:grpSpPr>
          <a:xfrm rot="0">
            <a:off x="13239750" y="1143000"/>
            <a:ext cx="857250" cy="762000"/>
            <a:chOff x="0" y="0"/>
            <a:chExt cx="1143000" cy="1016000"/>
          </a:xfrm>
        </p:grpSpPr>
        <p:sp>
          <p:nvSpPr>
            <p:cNvPr name="Freeform 11" id="11"/>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12" id="12"/>
          <p:cNvGrpSpPr/>
          <p:nvPr/>
        </p:nvGrpSpPr>
        <p:grpSpPr>
          <a:xfrm rot="0">
            <a:off x="15240000" y="1143000"/>
            <a:ext cx="857250" cy="762000"/>
            <a:chOff x="0" y="0"/>
            <a:chExt cx="1143000" cy="1016000"/>
          </a:xfrm>
        </p:grpSpPr>
        <p:sp>
          <p:nvSpPr>
            <p:cNvPr name="Freeform 13" id="13"/>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14" id="14"/>
          <p:cNvGrpSpPr/>
          <p:nvPr/>
        </p:nvGrpSpPr>
        <p:grpSpPr>
          <a:xfrm rot="0">
            <a:off x="2190750" y="5391150"/>
            <a:ext cx="857250" cy="762000"/>
            <a:chOff x="0" y="0"/>
            <a:chExt cx="1143000" cy="1016000"/>
          </a:xfrm>
        </p:grpSpPr>
        <p:sp>
          <p:nvSpPr>
            <p:cNvPr name="Freeform 15" id="15"/>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16" id="16"/>
          <p:cNvGrpSpPr/>
          <p:nvPr/>
        </p:nvGrpSpPr>
        <p:grpSpPr>
          <a:xfrm rot="0">
            <a:off x="4191000" y="5391150"/>
            <a:ext cx="857250" cy="762000"/>
            <a:chOff x="0" y="0"/>
            <a:chExt cx="1143000" cy="1016000"/>
          </a:xfrm>
        </p:grpSpPr>
        <p:sp>
          <p:nvSpPr>
            <p:cNvPr name="Freeform 17" id="17"/>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18" id="18"/>
          <p:cNvGrpSpPr/>
          <p:nvPr/>
        </p:nvGrpSpPr>
        <p:grpSpPr>
          <a:xfrm rot="0">
            <a:off x="7715250" y="5391150"/>
            <a:ext cx="857250" cy="762000"/>
            <a:chOff x="0" y="0"/>
            <a:chExt cx="1143000" cy="1016000"/>
          </a:xfrm>
        </p:grpSpPr>
        <p:sp>
          <p:nvSpPr>
            <p:cNvPr name="Freeform 19" id="19"/>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20" id="20"/>
          <p:cNvGrpSpPr/>
          <p:nvPr/>
        </p:nvGrpSpPr>
        <p:grpSpPr>
          <a:xfrm rot="0">
            <a:off x="9715500" y="5391150"/>
            <a:ext cx="857250" cy="762000"/>
            <a:chOff x="0" y="0"/>
            <a:chExt cx="1143000" cy="1016000"/>
          </a:xfrm>
        </p:grpSpPr>
        <p:sp>
          <p:nvSpPr>
            <p:cNvPr name="Freeform 21" id="21"/>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22" id="22"/>
          <p:cNvGrpSpPr/>
          <p:nvPr/>
        </p:nvGrpSpPr>
        <p:grpSpPr>
          <a:xfrm rot="0">
            <a:off x="13239750" y="5391150"/>
            <a:ext cx="857250" cy="762000"/>
            <a:chOff x="0" y="0"/>
            <a:chExt cx="1143000" cy="1016000"/>
          </a:xfrm>
        </p:grpSpPr>
        <p:sp>
          <p:nvSpPr>
            <p:cNvPr name="Freeform 23" id="23"/>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24" id="24"/>
          <p:cNvGrpSpPr/>
          <p:nvPr/>
        </p:nvGrpSpPr>
        <p:grpSpPr>
          <a:xfrm rot="0">
            <a:off x="15240000" y="5391150"/>
            <a:ext cx="857250" cy="762000"/>
            <a:chOff x="0" y="0"/>
            <a:chExt cx="1143000" cy="1016000"/>
          </a:xfrm>
        </p:grpSpPr>
        <p:sp>
          <p:nvSpPr>
            <p:cNvPr name="Freeform 25" id="25"/>
            <p:cNvSpPr/>
            <p:nvPr/>
          </p:nvSpPr>
          <p:spPr>
            <a:xfrm flipH="false" flipV="false" rot="0">
              <a:off x="0" y="0"/>
              <a:ext cx="1143000" cy="1016000"/>
            </a:xfrm>
            <a:custGeom>
              <a:avLst/>
              <a:gdLst/>
              <a:ahLst/>
              <a:cxnLst/>
              <a:rect r="r" b="b" t="t" l="l"/>
              <a:pathLst>
                <a:path h="1016000" w="1143000">
                  <a:moveTo>
                    <a:pt x="571500" y="0"/>
                  </a:moveTo>
                  <a:lnTo>
                    <a:pt x="1143000" y="1016000"/>
                  </a:lnTo>
                  <a:lnTo>
                    <a:pt x="0" y="1016000"/>
                  </a:lnTo>
                  <a:lnTo>
                    <a:pt x="571500" y="0"/>
                  </a:lnTo>
                  <a:close/>
                </a:path>
              </a:pathLst>
            </a:custGeom>
            <a:solidFill>
              <a:srgbClr val="1A0D00"/>
            </a:solidFill>
            <a:ln w="19050" cap="sq">
              <a:solidFill>
                <a:srgbClr val="FF6F00"/>
              </a:solidFill>
              <a:prstDash val="solid"/>
              <a:miter/>
            </a:ln>
          </p:spPr>
        </p:sp>
      </p:grpSp>
      <p:grpSp>
        <p:nvGrpSpPr>
          <p:cNvPr name="Group 26" id="26"/>
          <p:cNvGrpSpPr/>
          <p:nvPr/>
        </p:nvGrpSpPr>
        <p:grpSpPr>
          <a:xfrm rot="0">
            <a:off x="12001500" y="5915025"/>
            <a:ext cx="5334000" cy="3924300"/>
            <a:chOff x="0" y="0"/>
            <a:chExt cx="7112000" cy="5232400"/>
          </a:xfrm>
        </p:grpSpPr>
        <p:sp>
          <p:nvSpPr>
            <p:cNvPr name="Freeform 27" id="27"/>
            <p:cNvSpPr/>
            <p:nvPr/>
          </p:nvSpPr>
          <p:spPr>
            <a:xfrm flipH="false" flipV="false" rot="0">
              <a:off x="0" y="0"/>
              <a:ext cx="7112000" cy="5232400"/>
            </a:xfrm>
            <a:custGeom>
              <a:avLst/>
              <a:gdLst/>
              <a:ahLst/>
              <a:cxnLst/>
              <a:rect r="r" b="b" t="t" l="l"/>
              <a:pathLst>
                <a:path h="5232400" w="7112000">
                  <a:moveTo>
                    <a:pt x="3556000" y="0"/>
                  </a:moveTo>
                  <a:cubicBezTo>
                    <a:pt x="1592075" y="0"/>
                    <a:pt x="0" y="1171313"/>
                    <a:pt x="0" y="2616200"/>
                  </a:cubicBezTo>
                  <a:cubicBezTo>
                    <a:pt x="0" y="4061087"/>
                    <a:pt x="1592075" y="5232400"/>
                    <a:pt x="3556000" y="5232400"/>
                  </a:cubicBezTo>
                  <a:cubicBezTo>
                    <a:pt x="5519924" y="5232400"/>
                    <a:pt x="7112000" y="4061087"/>
                    <a:pt x="7112000" y="2616200"/>
                  </a:cubicBezTo>
                  <a:cubicBezTo>
                    <a:pt x="7112000" y="1171313"/>
                    <a:pt x="5519924" y="0"/>
                    <a:pt x="3556000" y="0"/>
                  </a:cubicBezTo>
                  <a:close/>
                </a:path>
              </a:pathLst>
            </a:custGeom>
            <a:solidFill>
              <a:srgbClr val="1A0D00"/>
            </a:solidFill>
            <a:ln w="19050" cap="sq">
              <a:solidFill>
                <a:srgbClr val="FF6F00"/>
              </a:solidFill>
              <a:prstDash val="solid"/>
              <a:miter/>
            </a:ln>
          </p:spPr>
        </p:sp>
        <p:sp>
          <p:nvSpPr>
            <p:cNvPr name="TextBox 28" id="28"/>
            <p:cNvSpPr txBox="true"/>
            <p:nvPr/>
          </p:nvSpPr>
          <p:spPr>
            <a:xfrm>
              <a:off x="0" y="-38100"/>
              <a:ext cx="7112000" cy="5270500"/>
            </a:xfrm>
            <a:prstGeom prst="rect">
              <a:avLst/>
            </a:prstGeom>
          </p:spPr>
          <p:txBody>
            <a:bodyPr anchor="ctr" rtlCol="false" tIns="50800" lIns="50800" bIns="50800" rIns="50800"/>
            <a:lstStyle/>
            <a:p>
              <a:pPr algn="ctr" marL="0" indent="0" lvl="0">
                <a:lnSpc>
                  <a:spcPts val="3359"/>
                </a:lnSpc>
                <a:spcBef>
                  <a:spcPct val="0"/>
                </a:spcBef>
              </a:pPr>
              <a:r>
                <a:rPr lang="en-US" b="true" sz="2400" strike="noStrike" u="none">
                  <a:solidFill>
                    <a:srgbClr val="FF6F00"/>
                  </a:solidFill>
                  <a:latin typeface="Open Sans Bold"/>
                  <a:ea typeface="Open Sans Bold"/>
                  <a:cs typeface="Open Sans Bold"/>
                  <a:sym typeface="Open Sans Bold"/>
                </a:rPr>
                <a:t>Cyber resilience is now an intangible asset boosting customer and investor trust long-term</a:t>
              </a:r>
            </a:p>
          </p:txBody>
        </p:sp>
      </p:grpSp>
      <p:grpSp>
        <p:nvGrpSpPr>
          <p:cNvPr name="Group 29" id="29"/>
          <p:cNvGrpSpPr/>
          <p:nvPr/>
        </p:nvGrpSpPr>
        <p:grpSpPr>
          <a:xfrm rot="0">
            <a:off x="6477000" y="5915025"/>
            <a:ext cx="5334000" cy="4133850"/>
            <a:chOff x="0" y="0"/>
            <a:chExt cx="7112000" cy="5511800"/>
          </a:xfrm>
        </p:grpSpPr>
        <p:sp>
          <p:nvSpPr>
            <p:cNvPr name="Freeform 30" id="30"/>
            <p:cNvSpPr/>
            <p:nvPr/>
          </p:nvSpPr>
          <p:spPr>
            <a:xfrm flipH="false" flipV="false" rot="0">
              <a:off x="0" y="0"/>
              <a:ext cx="7112000" cy="5511800"/>
            </a:xfrm>
            <a:custGeom>
              <a:avLst/>
              <a:gdLst/>
              <a:ahLst/>
              <a:cxnLst/>
              <a:rect r="r" b="b" t="t" l="l"/>
              <a:pathLst>
                <a:path h="5511800" w="7112000">
                  <a:moveTo>
                    <a:pt x="3556000" y="0"/>
                  </a:moveTo>
                  <a:cubicBezTo>
                    <a:pt x="1592075" y="0"/>
                    <a:pt x="0" y="1233859"/>
                    <a:pt x="0" y="2755900"/>
                  </a:cubicBezTo>
                  <a:cubicBezTo>
                    <a:pt x="0" y="4277942"/>
                    <a:pt x="1592075" y="5511800"/>
                    <a:pt x="3556000" y="5511800"/>
                  </a:cubicBezTo>
                  <a:cubicBezTo>
                    <a:pt x="5519924" y="5511800"/>
                    <a:pt x="7112000" y="4277942"/>
                    <a:pt x="7112000" y="2755900"/>
                  </a:cubicBezTo>
                  <a:cubicBezTo>
                    <a:pt x="7112000" y="1233859"/>
                    <a:pt x="5519924" y="0"/>
                    <a:pt x="3556000" y="0"/>
                  </a:cubicBezTo>
                  <a:close/>
                </a:path>
              </a:pathLst>
            </a:custGeom>
            <a:solidFill>
              <a:srgbClr val="1A0D00"/>
            </a:solidFill>
            <a:ln w="19050" cap="sq">
              <a:solidFill>
                <a:srgbClr val="FF6F00"/>
              </a:solidFill>
              <a:prstDash val="solid"/>
              <a:miter/>
            </a:ln>
          </p:spPr>
        </p:sp>
        <p:sp>
          <p:nvSpPr>
            <p:cNvPr name="TextBox 31" id="31"/>
            <p:cNvSpPr txBox="true"/>
            <p:nvPr/>
          </p:nvSpPr>
          <p:spPr>
            <a:xfrm>
              <a:off x="0" y="-38100"/>
              <a:ext cx="7112000" cy="5549900"/>
            </a:xfrm>
            <a:prstGeom prst="rect">
              <a:avLst/>
            </a:prstGeom>
          </p:spPr>
          <p:txBody>
            <a:bodyPr anchor="ctr" rtlCol="false" tIns="50800" lIns="50800" bIns="50800" rIns="50800"/>
            <a:lstStyle/>
            <a:p>
              <a:pPr algn="ctr" marL="0" indent="0" lvl="0">
                <a:lnSpc>
                  <a:spcPts val="3359"/>
                </a:lnSpc>
                <a:spcBef>
                  <a:spcPct val="0"/>
                </a:spcBef>
              </a:pPr>
              <a:r>
                <a:rPr lang="en-US" b="true" sz="2400" strike="noStrike" u="none">
                  <a:solidFill>
                    <a:srgbClr val="FF6F00"/>
                  </a:solidFill>
                  <a:latin typeface="Open Sans Bold"/>
                  <a:ea typeface="Open Sans Bold"/>
                  <a:cs typeface="Open Sans Bold"/>
                  <a:sym typeface="Open Sans Bold"/>
                </a:rPr>
                <a:t>SMEs face disproportionate burden — ~25% of operating budget on compliance vs large firms absorbing costs</a:t>
              </a:r>
            </a:p>
          </p:txBody>
        </p:sp>
      </p:grpSp>
      <p:grpSp>
        <p:nvGrpSpPr>
          <p:cNvPr name="Group 32" id="32"/>
          <p:cNvGrpSpPr/>
          <p:nvPr/>
        </p:nvGrpSpPr>
        <p:grpSpPr>
          <a:xfrm rot="0">
            <a:off x="952500" y="5915025"/>
            <a:ext cx="5334000" cy="3924300"/>
            <a:chOff x="0" y="0"/>
            <a:chExt cx="7112000" cy="5232400"/>
          </a:xfrm>
        </p:grpSpPr>
        <p:sp>
          <p:nvSpPr>
            <p:cNvPr name="Freeform 33" id="33"/>
            <p:cNvSpPr/>
            <p:nvPr/>
          </p:nvSpPr>
          <p:spPr>
            <a:xfrm flipH="false" flipV="false" rot="0">
              <a:off x="0" y="0"/>
              <a:ext cx="7112000" cy="5232400"/>
            </a:xfrm>
            <a:custGeom>
              <a:avLst/>
              <a:gdLst/>
              <a:ahLst/>
              <a:cxnLst/>
              <a:rect r="r" b="b" t="t" l="l"/>
              <a:pathLst>
                <a:path h="5232400" w="7112000">
                  <a:moveTo>
                    <a:pt x="3556000" y="0"/>
                  </a:moveTo>
                  <a:cubicBezTo>
                    <a:pt x="1592075" y="0"/>
                    <a:pt x="0" y="1171313"/>
                    <a:pt x="0" y="2616200"/>
                  </a:cubicBezTo>
                  <a:cubicBezTo>
                    <a:pt x="0" y="4061087"/>
                    <a:pt x="1592075" y="5232400"/>
                    <a:pt x="3556000" y="5232400"/>
                  </a:cubicBezTo>
                  <a:cubicBezTo>
                    <a:pt x="5519924" y="5232400"/>
                    <a:pt x="7112000" y="4061087"/>
                    <a:pt x="7112000" y="2616200"/>
                  </a:cubicBezTo>
                  <a:cubicBezTo>
                    <a:pt x="7112000" y="1171313"/>
                    <a:pt x="5519924" y="0"/>
                    <a:pt x="3556000" y="0"/>
                  </a:cubicBezTo>
                  <a:close/>
                </a:path>
              </a:pathLst>
            </a:custGeom>
            <a:solidFill>
              <a:srgbClr val="1A0D00"/>
            </a:solidFill>
            <a:ln w="19050" cap="sq">
              <a:solidFill>
                <a:srgbClr val="FF6F00"/>
              </a:solidFill>
              <a:prstDash val="solid"/>
              <a:miter/>
            </a:ln>
          </p:spPr>
        </p:sp>
        <p:sp>
          <p:nvSpPr>
            <p:cNvPr name="TextBox 34" id="34"/>
            <p:cNvSpPr txBox="true"/>
            <p:nvPr/>
          </p:nvSpPr>
          <p:spPr>
            <a:xfrm>
              <a:off x="0" y="-38100"/>
              <a:ext cx="7112000" cy="5270500"/>
            </a:xfrm>
            <a:prstGeom prst="rect">
              <a:avLst/>
            </a:prstGeom>
          </p:spPr>
          <p:txBody>
            <a:bodyPr anchor="ctr" rtlCol="false" tIns="50800" lIns="50800" bIns="50800" rIns="50800"/>
            <a:lstStyle/>
            <a:p>
              <a:pPr algn="ctr" marL="0" indent="0" lvl="0">
                <a:lnSpc>
                  <a:spcPts val="3359"/>
                </a:lnSpc>
                <a:spcBef>
                  <a:spcPct val="0"/>
                </a:spcBef>
              </a:pPr>
              <a:r>
                <a:rPr lang="en-US" b="true" sz="2400" strike="noStrike" u="none">
                  <a:solidFill>
                    <a:srgbClr val="FF6F00"/>
                  </a:solidFill>
                  <a:latin typeface="Open Sans Bold"/>
                  <a:ea typeface="Open Sans Bold"/>
                  <a:cs typeface="Open Sans Bold"/>
                  <a:sym typeface="Open Sans Bold"/>
                </a:rPr>
                <a:t>Full security automation cuts breach costs: ~$2.45M vs ~$6.03M without it</a:t>
              </a:r>
            </a:p>
          </p:txBody>
        </p:sp>
      </p:grpSp>
      <p:grpSp>
        <p:nvGrpSpPr>
          <p:cNvPr name="Group 35" id="35"/>
          <p:cNvGrpSpPr/>
          <p:nvPr/>
        </p:nvGrpSpPr>
        <p:grpSpPr>
          <a:xfrm rot="0">
            <a:off x="12001500" y="1666875"/>
            <a:ext cx="5334000" cy="3924300"/>
            <a:chOff x="0" y="0"/>
            <a:chExt cx="7112000" cy="5232400"/>
          </a:xfrm>
        </p:grpSpPr>
        <p:sp>
          <p:nvSpPr>
            <p:cNvPr name="Freeform 36" id="36"/>
            <p:cNvSpPr/>
            <p:nvPr/>
          </p:nvSpPr>
          <p:spPr>
            <a:xfrm flipH="false" flipV="false" rot="0">
              <a:off x="0" y="0"/>
              <a:ext cx="7112000" cy="5232400"/>
            </a:xfrm>
            <a:custGeom>
              <a:avLst/>
              <a:gdLst/>
              <a:ahLst/>
              <a:cxnLst/>
              <a:rect r="r" b="b" t="t" l="l"/>
              <a:pathLst>
                <a:path h="5232400" w="7112000">
                  <a:moveTo>
                    <a:pt x="3556000" y="0"/>
                  </a:moveTo>
                  <a:cubicBezTo>
                    <a:pt x="1592075" y="0"/>
                    <a:pt x="0" y="1171313"/>
                    <a:pt x="0" y="2616200"/>
                  </a:cubicBezTo>
                  <a:cubicBezTo>
                    <a:pt x="0" y="4061087"/>
                    <a:pt x="1592075" y="5232400"/>
                    <a:pt x="3556000" y="5232400"/>
                  </a:cubicBezTo>
                  <a:cubicBezTo>
                    <a:pt x="5519924" y="5232400"/>
                    <a:pt x="7112000" y="4061087"/>
                    <a:pt x="7112000" y="2616200"/>
                  </a:cubicBezTo>
                  <a:cubicBezTo>
                    <a:pt x="7112000" y="1171313"/>
                    <a:pt x="5519924" y="0"/>
                    <a:pt x="3556000" y="0"/>
                  </a:cubicBezTo>
                  <a:close/>
                </a:path>
              </a:pathLst>
            </a:custGeom>
            <a:solidFill>
              <a:srgbClr val="1A0D00"/>
            </a:solidFill>
            <a:ln w="19050" cap="sq">
              <a:solidFill>
                <a:srgbClr val="FF6F00"/>
              </a:solidFill>
              <a:prstDash val="solid"/>
              <a:miter/>
            </a:ln>
          </p:spPr>
        </p:sp>
        <p:sp>
          <p:nvSpPr>
            <p:cNvPr name="TextBox 37" id="37"/>
            <p:cNvSpPr txBox="true"/>
            <p:nvPr/>
          </p:nvSpPr>
          <p:spPr>
            <a:xfrm>
              <a:off x="0" y="-38100"/>
              <a:ext cx="7112000" cy="5270500"/>
            </a:xfrm>
            <a:prstGeom prst="rect">
              <a:avLst/>
            </a:prstGeom>
          </p:spPr>
          <p:txBody>
            <a:bodyPr anchor="ctr" rtlCol="false" tIns="50800" lIns="50800" bIns="50800" rIns="50800"/>
            <a:lstStyle/>
            <a:p>
              <a:pPr algn="ctr" marL="0" indent="0" lvl="0">
                <a:lnSpc>
                  <a:spcPts val="3359"/>
                </a:lnSpc>
                <a:spcBef>
                  <a:spcPct val="0"/>
                </a:spcBef>
              </a:pPr>
              <a:r>
                <a:rPr lang="en-US" b="true" sz="2400" strike="noStrike" u="none">
                  <a:solidFill>
                    <a:srgbClr val="FF6F00"/>
                  </a:solidFill>
                  <a:latin typeface="Open Sans Bold"/>
                  <a:ea typeface="Open Sans Bold"/>
                  <a:cs typeface="Open Sans Bold"/>
                  <a:sym typeface="Open Sans Bold"/>
                </a:rPr>
                <a:t>Fines up to €20M or 4% turnover (GDPR) — non-compliance is unsustainable for any firm</a:t>
              </a:r>
            </a:p>
          </p:txBody>
        </p:sp>
      </p:grpSp>
      <p:grpSp>
        <p:nvGrpSpPr>
          <p:cNvPr name="Group 38" id="38"/>
          <p:cNvGrpSpPr/>
          <p:nvPr/>
        </p:nvGrpSpPr>
        <p:grpSpPr>
          <a:xfrm rot="0">
            <a:off x="6477000" y="1666875"/>
            <a:ext cx="5334000" cy="3924300"/>
            <a:chOff x="0" y="0"/>
            <a:chExt cx="7112000" cy="5232400"/>
          </a:xfrm>
        </p:grpSpPr>
        <p:sp>
          <p:nvSpPr>
            <p:cNvPr name="Freeform 39" id="39"/>
            <p:cNvSpPr/>
            <p:nvPr/>
          </p:nvSpPr>
          <p:spPr>
            <a:xfrm flipH="false" flipV="false" rot="0">
              <a:off x="0" y="0"/>
              <a:ext cx="7112000" cy="5232400"/>
            </a:xfrm>
            <a:custGeom>
              <a:avLst/>
              <a:gdLst/>
              <a:ahLst/>
              <a:cxnLst/>
              <a:rect r="r" b="b" t="t" l="l"/>
              <a:pathLst>
                <a:path h="5232400" w="7112000">
                  <a:moveTo>
                    <a:pt x="3556000" y="0"/>
                  </a:moveTo>
                  <a:cubicBezTo>
                    <a:pt x="1592075" y="0"/>
                    <a:pt x="0" y="1171313"/>
                    <a:pt x="0" y="2616200"/>
                  </a:cubicBezTo>
                  <a:cubicBezTo>
                    <a:pt x="0" y="4061087"/>
                    <a:pt x="1592075" y="5232400"/>
                    <a:pt x="3556000" y="5232400"/>
                  </a:cubicBezTo>
                  <a:cubicBezTo>
                    <a:pt x="5519924" y="5232400"/>
                    <a:pt x="7112000" y="4061087"/>
                    <a:pt x="7112000" y="2616200"/>
                  </a:cubicBezTo>
                  <a:cubicBezTo>
                    <a:pt x="7112000" y="1171313"/>
                    <a:pt x="5519924" y="0"/>
                    <a:pt x="3556000" y="0"/>
                  </a:cubicBezTo>
                  <a:close/>
                </a:path>
              </a:pathLst>
            </a:custGeom>
            <a:solidFill>
              <a:srgbClr val="1A0D00"/>
            </a:solidFill>
            <a:ln w="19050" cap="sq">
              <a:solidFill>
                <a:srgbClr val="FF6F00"/>
              </a:solidFill>
              <a:prstDash val="solid"/>
              <a:miter/>
            </a:ln>
          </p:spPr>
        </p:sp>
        <p:sp>
          <p:nvSpPr>
            <p:cNvPr name="TextBox 40" id="40"/>
            <p:cNvSpPr txBox="true"/>
            <p:nvPr/>
          </p:nvSpPr>
          <p:spPr>
            <a:xfrm>
              <a:off x="0" y="-38100"/>
              <a:ext cx="7112000" cy="5270500"/>
            </a:xfrm>
            <a:prstGeom prst="rect">
              <a:avLst/>
            </a:prstGeom>
          </p:spPr>
          <p:txBody>
            <a:bodyPr anchor="ctr" rtlCol="false" tIns="50800" lIns="50800" bIns="50800" rIns="50800"/>
            <a:lstStyle/>
            <a:p>
              <a:pPr algn="ctr" marL="0" indent="0" lvl="0">
                <a:lnSpc>
                  <a:spcPts val="3359"/>
                </a:lnSpc>
                <a:spcBef>
                  <a:spcPct val="0"/>
                </a:spcBef>
              </a:pPr>
              <a:r>
                <a:rPr lang="en-US" b="true" sz="2400" strike="noStrike" u="none">
                  <a:solidFill>
                    <a:srgbClr val="FF6F00"/>
                  </a:solidFill>
                  <a:latin typeface="Open Sans Bold"/>
                  <a:ea typeface="Open Sans Bold"/>
                  <a:cs typeface="Open Sans Bold"/>
                  <a:sym typeface="Open Sans Bold"/>
                </a:rPr>
                <a:t>PETs adopted: differential privacy, synthetic data, homomorphic encryption protect identities</a:t>
              </a:r>
            </a:p>
          </p:txBody>
        </p:sp>
      </p:grpSp>
      <p:grpSp>
        <p:nvGrpSpPr>
          <p:cNvPr name="Group 41" id="41"/>
          <p:cNvGrpSpPr/>
          <p:nvPr/>
        </p:nvGrpSpPr>
        <p:grpSpPr>
          <a:xfrm rot="0">
            <a:off x="952500" y="1666875"/>
            <a:ext cx="5334000" cy="3924300"/>
            <a:chOff x="0" y="0"/>
            <a:chExt cx="7112000" cy="5232400"/>
          </a:xfrm>
        </p:grpSpPr>
        <p:sp>
          <p:nvSpPr>
            <p:cNvPr name="Freeform 42" id="42"/>
            <p:cNvSpPr/>
            <p:nvPr/>
          </p:nvSpPr>
          <p:spPr>
            <a:xfrm flipH="false" flipV="false" rot="0">
              <a:off x="0" y="0"/>
              <a:ext cx="7112000" cy="5232400"/>
            </a:xfrm>
            <a:custGeom>
              <a:avLst/>
              <a:gdLst/>
              <a:ahLst/>
              <a:cxnLst/>
              <a:rect r="r" b="b" t="t" l="l"/>
              <a:pathLst>
                <a:path h="5232400" w="7112000">
                  <a:moveTo>
                    <a:pt x="3556000" y="0"/>
                  </a:moveTo>
                  <a:cubicBezTo>
                    <a:pt x="1592075" y="0"/>
                    <a:pt x="0" y="1171313"/>
                    <a:pt x="0" y="2616200"/>
                  </a:cubicBezTo>
                  <a:cubicBezTo>
                    <a:pt x="0" y="4061087"/>
                    <a:pt x="1592075" y="5232400"/>
                    <a:pt x="3556000" y="5232400"/>
                  </a:cubicBezTo>
                  <a:cubicBezTo>
                    <a:pt x="5519924" y="5232400"/>
                    <a:pt x="7112000" y="4061087"/>
                    <a:pt x="7112000" y="2616200"/>
                  </a:cubicBezTo>
                  <a:cubicBezTo>
                    <a:pt x="7112000" y="1171313"/>
                    <a:pt x="5519924" y="0"/>
                    <a:pt x="3556000" y="0"/>
                  </a:cubicBezTo>
                  <a:close/>
                </a:path>
              </a:pathLst>
            </a:custGeom>
            <a:solidFill>
              <a:srgbClr val="1A0D00"/>
            </a:solidFill>
            <a:ln w="19050" cap="sq">
              <a:solidFill>
                <a:srgbClr val="FF6F00"/>
              </a:solidFill>
              <a:prstDash val="solid"/>
              <a:miter/>
            </a:ln>
          </p:spPr>
        </p:sp>
        <p:sp>
          <p:nvSpPr>
            <p:cNvPr name="TextBox 43" id="43"/>
            <p:cNvSpPr txBox="true"/>
            <p:nvPr/>
          </p:nvSpPr>
          <p:spPr>
            <a:xfrm>
              <a:off x="0" y="-38100"/>
              <a:ext cx="7112000" cy="5270500"/>
            </a:xfrm>
            <a:prstGeom prst="rect">
              <a:avLst/>
            </a:prstGeom>
          </p:spPr>
          <p:txBody>
            <a:bodyPr anchor="ctr" rtlCol="false" tIns="50800" lIns="50800" bIns="50800" rIns="50800"/>
            <a:lstStyle/>
            <a:p>
              <a:pPr algn="ctr" marL="0" indent="0" lvl="0">
                <a:lnSpc>
                  <a:spcPts val="3359"/>
                </a:lnSpc>
                <a:spcBef>
                  <a:spcPct val="0"/>
                </a:spcBef>
              </a:pPr>
              <a:r>
                <a:rPr lang="en-US" b="true" sz="2400" strike="noStrike" u="none">
                  <a:solidFill>
                    <a:srgbClr val="FF6F00"/>
                  </a:solidFill>
                  <a:latin typeface="Open Sans Bold"/>
                  <a:ea typeface="Open Sans Bold"/>
                  <a:cs typeface="Open Sans Bold"/>
                  <a:sym typeface="Open Sans Bold"/>
                </a:rPr>
                <a:t>Regulations push companies from reactive security to proactive Privacy-by-Design governance</a:t>
              </a:r>
            </a:p>
          </p:txBody>
        </p:sp>
      </p:grpSp>
      <p:grpSp>
        <p:nvGrpSpPr>
          <p:cNvPr name="Group 44" id="44"/>
          <p:cNvGrpSpPr/>
          <p:nvPr/>
        </p:nvGrpSpPr>
        <p:grpSpPr>
          <a:xfrm rot="0">
            <a:off x="762000" y="0"/>
            <a:ext cx="57150" cy="10287000"/>
            <a:chOff x="0" y="0"/>
            <a:chExt cx="76200" cy="13716000"/>
          </a:xfrm>
        </p:grpSpPr>
        <p:sp>
          <p:nvSpPr>
            <p:cNvPr name="Freeform 45" id="45"/>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FF6F00"/>
            </a:solidFill>
          </p:spPr>
        </p:sp>
      </p:grpSp>
      <p:sp>
        <p:nvSpPr>
          <p:cNvPr name="TextBox 46" id="46"/>
          <p:cNvSpPr txBox="true"/>
          <p:nvPr/>
        </p:nvSpPr>
        <p:spPr>
          <a:xfrm rot="0">
            <a:off x="1333500" y="752512"/>
            <a:ext cx="13335000" cy="765683"/>
          </a:xfrm>
          <a:prstGeom prst="rect">
            <a:avLst/>
          </a:prstGeom>
        </p:spPr>
        <p:txBody>
          <a:bodyPr anchor="t" rtlCol="false" tIns="0" lIns="0" bIns="0" rIns="0">
            <a:spAutoFit/>
          </a:bodyPr>
          <a:lstStyle/>
          <a:p>
            <a:pPr algn="l" marL="0" indent="0" lvl="0">
              <a:lnSpc>
                <a:spcPts val="5019"/>
              </a:lnSpc>
              <a:spcBef>
                <a:spcPct val="0"/>
              </a:spcBef>
            </a:pPr>
            <a:r>
              <a:rPr lang="en-US" b="true" sz="5019" strike="noStrike" u="none">
                <a:solidFill>
                  <a:srgbClr val="FF8C00"/>
                </a:solidFill>
                <a:latin typeface="DIN Next Bold"/>
                <a:ea typeface="DIN Next Bold"/>
                <a:cs typeface="DIN Next Bold"/>
                <a:sym typeface="DIN Next Bold"/>
              </a:rPr>
              <a:t>DATA PRIVACY &amp; GDPR/CCPA</a:t>
            </a:r>
          </a:p>
        </p:txBody>
      </p:sp>
      <p:sp>
        <p:nvSpPr>
          <p:cNvPr name="AutoShape 47" id="47"/>
          <p:cNvSpPr/>
          <p:nvPr/>
        </p:nvSpPr>
        <p:spPr>
          <a:xfrm>
            <a:off x="1333500" y="1666875"/>
            <a:ext cx="5334000" cy="0"/>
          </a:xfrm>
          <a:prstGeom prst="line">
            <a:avLst/>
          </a:prstGeom>
          <a:ln cap="rnd" w="19050">
            <a:solidFill>
              <a:srgbClr val="FF6F00"/>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361819"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933319" y="752475"/>
            <a:ext cx="9525000" cy="765757"/>
          </a:xfrm>
          <a:prstGeom prst="rect">
            <a:avLst/>
          </a:prstGeom>
        </p:spPr>
        <p:txBody>
          <a:bodyPr anchor="t" rtlCol="false" tIns="0" lIns="0" bIns="0" rIns="0">
            <a:spAutoFit/>
          </a:bodyPr>
          <a:lstStyle/>
          <a:p>
            <a:pPr algn="l" marL="0" indent="0" lvl="0">
              <a:lnSpc>
                <a:spcPts val="5022"/>
              </a:lnSpc>
              <a:spcBef>
                <a:spcPct val="0"/>
              </a:spcBef>
            </a:pPr>
            <a:r>
              <a:rPr lang="en-US" b="true" sz="5022" strike="noStrike" u="none">
                <a:solidFill>
                  <a:srgbClr val="254B8F"/>
                </a:solidFill>
                <a:latin typeface="DIN Next Bold"/>
                <a:ea typeface="DIN Next Bold"/>
                <a:cs typeface="DIN Next Bold"/>
                <a:sym typeface="DIN Next Bold"/>
              </a:rPr>
              <a:t>CONCLUSIONS</a:t>
            </a:r>
          </a:p>
        </p:txBody>
      </p:sp>
      <p:sp>
        <p:nvSpPr>
          <p:cNvPr name="AutoShape 5" id="5"/>
          <p:cNvSpPr/>
          <p:nvPr/>
        </p:nvSpPr>
        <p:spPr>
          <a:xfrm>
            <a:off x="933319" y="1714500"/>
            <a:ext cx="5334000" cy="0"/>
          </a:xfrm>
          <a:prstGeom prst="line">
            <a:avLst/>
          </a:prstGeom>
          <a:ln cap="rnd" w="19050">
            <a:solidFill>
              <a:srgbClr val="00B4D8"/>
            </a:solidFill>
            <a:prstDash val="solid"/>
            <a:headEnd type="none" len="sm" w="sm"/>
            <a:tailEnd type="none" len="sm" w="sm"/>
          </a:ln>
        </p:spPr>
      </p:sp>
      <p:sp>
        <p:nvSpPr>
          <p:cNvPr name="Freeform 6" id="6"/>
          <p:cNvSpPr/>
          <p:nvPr/>
        </p:nvSpPr>
        <p:spPr>
          <a:xfrm flipH="false" flipV="false" rot="0">
            <a:off x="12744319" y="3810000"/>
            <a:ext cx="3810000" cy="3810000"/>
          </a:xfrm>
          <a:custGeom>
            <a:avLst/>
            <a:gdLst/>
            <a:ahLst/>
            <a:cxnLst/>
            <a:rect r="r" b="b" t="t" l="l"/>
            <a:pathLst>
              <a:path h="3810000" w="3810000">
                <a:moveTo>
                  <a:pt x="0" y="0"/>
                </a:moveTo>
                <a:lnTo>
                  <a:pt x="3810000" y="0"/>
                </a:lnTo>
                <a:lnTo>
                  <a:pt x="3810000" y="3810000"/>
                </a:lnTo>
                <a:lnTo>
                  <a:pt x="0" y="3810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28700" y="1866900"/>
            <a:ext cx="15862977" cy="8308975"/>
          </a:xfrm>
          <a:prstGeom prst="rect">
            <a:avLst/>
          </a:prstGeom>
        </p:spPr>
        <p:txBody>
          <a:bodyPr anchor="t" rtlCol="false" tIns="0" lIns="0" bIns="0" rIns="0">
            <a:spAutoFit/>
          </a:bodyPr>
          <a:lstStyle/>
          <a:p>
            <a:pPr algn="l" marL="0" indent="0" lvl="0">
              <a:lnSpc>
                <a:spcPts val="3499"/>
              </a:lnSpc>
              <a:spcBef>
                <a:spcPct val="0"/>
              </a:spcBef>
            </a:pPr>
            <a:r>
              <a:rPr lang="en-US" b="true" sz="2499" strike="noStrike" u="none">
                <a:solidFill>
                  <a:srgbClr val="48B5D7"/>
                </a:solidFill>
                <a:latin typeface="Open Sans Bold"/>
                <a:ea typeface="Open Sans Bold"/>
                <a:cs typeface="Open Sans Bold"/>
                <a:sym typeface="Open Sans Bold"/>
              </a:rPr>
              <a:t>Through intense research we realized the importance of cyber security in businesses.</a:t>
            </a:r>
          </a:p>
          <a:p>
            <a:pPr algn="l" marL="0" indent="0" lvl="0">
              <a:lnSpc>
                <a:spcPts val="3499"/>
              </a:lnSpc>
              <a:spcBef>
                <a:spcPct val="0"/>
              </a:spcBef>
            </a:pPr>
          </a:p>
          <a:p>
            <a:pPr algn="l" marL="0" indent="0" lvl="0">
              <a:lnSpc>
                <a:spcPts val="3499"/>
              </a:lnSpc>
              <a:spcBef>
                <a:spcPct val="0"/>
              </a:spcBef>
            </a:pPr>
            <a:r>
              <a:rPr lang="en-US" b="true" sz="2499" strike="noStrike" u="none">
                <a:solidFill>
                  <a:srgbClr val="48B5D7"/>
                </a:solidFill>
                <a:latin typeface="Open Sans Bold"/>
                <a:ea typeface="Open Sans Bold"/>
                <a:cs typeface="Open Sans Bold"/>
                <a:sym typeface="Open Sans Bold"/>
              </a:rPr>
              <a:t>• In the financial department, a strong security system saves companies billions of dollars in losses and helps them keep a trust-worthy image.</a:t>
            </a:r>
          </a:p>
          <a:p>
            <a:pPr algn="l" marL="0" indent="0" lvl="0">
              <a:lnSpc>
                <a:spcPts val="3499"/>
              </a:lnSpc>
              <a:spcBef>
                <a:spcPct val="0"/>
              </a:spcBef>
            </a:pPr>
          </a:p>
          <a:p>
            <a:pPr algn="l" marL="0" indent="0" lvl="0">
              <a:lnSpc>
                <a:spcPts val="3499"/>
              </a:lnSpc>
              <a:spcBef>
                <a:spcPct val="0"/>
              </a:spcBef>
            </a:pPr>
            <a:r>
              <a:rPr lang="en-US" b="true" sz="2499" strike="noStrike" u="none">
                <a:solidFill>
                  <a:srgbClr val="48B5D7"/>
                </a:solidFill>
                <a:latin typeface="Open Sans Bold"/>
                <a:ea typeface="Open Sans Bold"/>
                <a:cs typeface="Open Sans Bold"/>
                <a:sym typeface="Open Sans Bold"/>
              </a:rPr>
              <a:t>• In the humanitarian aspect, we realized phishing uses psychological weaknesses and human emotion to prey on users. Thus, strong security ideology needs to be incorporated, which affects individuals - positively - on a personal and professional level.</a:t>
            </a:r>
          </a:p>
          <a:p>
            <a:pPr algn="l" marL="0" indent="0" lvl="0">
              <a:lnSpc>
                <a:spcPts val="3499"/>
              </a:lnSpc>
              <a:spcBef>
                <a:spcPct val="0"/>
              </a:spcBef>
            </a:pPr>
          </a:p>
          <a:p>
            <a:pPr algn="l" marL="0" indent="0" lvl="0">
              <a:lnSpc>
                <a:spcPts val="3499"/>
              </a:lnSpc>
              <a:spcBef>
                <a:spcPct val="0"/>
              </a:spcBef>
            </a:pPr>
            <a:r>
              <a:rPr lang="en-US" b="true" sz="2499" strike="noStrike" u="none">
                <a:solidFill>
                  <a:srgbClr val="48B5D7"/>
                </a:solidFill>
                <a:latin typeface="Open Sans Bold"/>
                <a:ea typeface="Open Sans Bold"/>
                <a:cs typeface="Open Sans Bold"/>
                <a:sym typeface="Open Sans Bold"/>
              </a:rPr>
              <a:t>• We found out t</a:t>
            </a:r>
            <a:r>
              <a:rPr lang="en-US" b="true" sz="2499" strike="noStrike" u="none">
                <a:solidFill>
                  <a:srgbClr val="48B5D7"/>
                </a:solidFill>
                <a:latin typeface="Open Sans Bold"/>
                <a:ea typeface="Open Sans Bold"/>
                <a:cs typeface="Open Sans Bold"/>
                <a:sym typeface="Open Sans Bold"/>
              </a:rPr>
              <a:t>hat most phishing attacks affect small enterprise businesses, since they work on a tight budget and with limited knowledge. Therefore, there needs to be a government plan to fund a good security system.</a:t>
            </a:r>
          </a:p>
          <a:p>
            <a:pPr algn="l" marL="0" indent="0" lvl="0">
              <a:lnSpc>
                <a:spcPts val="3499"/>
              </a:lnSpc>
              <a:spcBef>
                <a:spcPct val="0"/>
              </a:spcBef>
            </a:pPr>
          </a:p>
          <a:p>
            <a:pPr algn="l" marL="0" indent="0" lvl="0">
              <a:lnSpc>
                <a:spcPts val="3499"/>
              </a:lnSpc>
              <a:spcBef>
                <a:spcPct val="0"/>
              </a:spcBef>
            </a:pPr>
            <a:r>
              <a:rPr lang="en-US" b="true" sz="2499" strike="noStrike" u="none">
                <a:solidFill>
                  <a:srgbClr val="48B5D7"/>
                </a:solidFill>
                <a:latin typeface="Open Sans Bold"/>
                <a:ea typeface="Open Sans Bold"/>
                <a:cs typeface="Open Sans Bold"/>
                <a:sym typeface="Open Sans Bold"/>
              </a:rPr>
              <a:t>• We realized the impact AI has in both the phishing department and on the way it can be used to determine attacks and reduce them. Which is why companies need to invest in continuous training and AI tools that detect threats.</a:t>
            </a:r>
          </a:p>
          <a:p>
            <a:pPr algn="l" marL="0" indent="0" lvl="0">
              <a:lnSpc>
                <a:spcPts val="3499"/>
              </a:lnSpc>
              <a:spcBef>
                <a:spcPct val="0"/>
              </a:spcBef>
            </a:pPr>
          </a:p>
          <a:p>
            <a:pPr algn="l" marL="0" indent="0" lvl="0">
              <a:lnSpc>
                <a:spcPts val="3499"/>
              </a:lnSpc>
              <a:spcBef>
                <a:spcPct val="0"/>
              </a:spcBef>
            </a:pPr>
            <a:r>
              <a:rPr lang="en-US" b="true" sz="2499" strike="noStrike" u="none">
                <a:solidFill>
                  <a:srgbClr val="48B5D7"/>
                </a:solidFill>
                <a:latin typeface="Open Sans Bold"/>
                <a:ea typeface="Open Sans Bold"/>
                <a:cs typeface="Open Sans Bold"/>
                <a:sym typeface="Open Sans Bold"/>
              </a:rPr>
              <a:t>• Finally, we uncovered that privacy enhancing technologies enforce encryption that protects data identities and a good cyber resilience program boosts client trust.</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D1B2A"/>
        </a:solidFill>
      </p:bgPr>
    </p:bg>
    <p:spTree>
      <p:nvGrpSpPr>
        <p:cNvPr id="1" name=""/>
        <p:cNvGrpSpPr/>
        <p:nvPr/>
      </p:nvGrpSpPr>
      <p:grpSpPr>
        <a:xfrm>
          <a:off x="0" y="0"/>
          <a:ext cx="0" cy="0"/>
          <a:chOff x="0" y="0"/>
          <a:chExt cx="0" cy="0"/>
        </a:xfrm>
      </p:grpSpPr>
      <p:sp>
        <p:nvSpPr>
          <p:cNvPr name="TextBox 2" id="2"/>
          <p:cNvSpPr txBox="true"/>
          <p:nvPr/>
        </p:nvSpPr>
        <p:spPr>
          <a:xfrm rot="0">
            <a:off x="467873" y="4718321"/>
            <a:ext cx="16791427" cy="604249"/>
          </a:xfrm>
          <a:prstGeom prst="rect">
            <a:avLst/>
          </a:prstGeom>
        </p:spPr>
        <p:txBody>
          <a:bodyPr anchor="t" rtlCol="false" tIns="0" lIns="0" bIns="0" rIns="0">
            <a:spAutoFit/>
          </a:bodyPr>
          <a:lstStyle/>
          <a:p>
            <a:pPr algn="ctr">
              <a:lnSpc>
                <a:spcPts val="5043"/>
              </a:lnSpc>
            </a:pPr>
            <a:r>
              <a:rPr lang="en-US" sz="3602" b="true">
                <a:solidFill>
                  <a:srgbClr val="FFFFFF"/>
                </a:solidFill>
                <a:latin typeface="Open Sans Bold"/>
                <a:ea typeface="Open Sans Bold"/>
                <a:cs typeface="Open Sans Bold"/>
                <a:sym typeface="Open Sans Bold"/>
              </a:rPr>
              <a:t>Find our entire presentation on github!</a:t>
            </a:r>
          </a:p>
          <a:p>
            <a:pPr algn="ctr">
              <a:lnSpc>
                <a:spcPts val="5043"/>
              </a:lnSpc>
              <a:spcBef>
                <a:spcPct val="0"/>
              </a:spcBef>
            </a:pPr>
            <a:r>
              <a:rPr lang="en-US" b="true" sz="3602">
                <a:solidFill>
                  <a:srgbClr val="FFFFFF"/>
                </a:solidFill>
                <a:latin typeface="Open Sans Bold"/>
                <a:ea typeface="Open Sans Bold"/>
                <a:cs typeface="Open Sans Bold"/>
                <a:sym typeface="Open Sans Bold"/>
              </a:rPr>
              <a:t>https://github.com/angel1ki/Cybersecurity-and-its-affects-on-businesses-</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D1B2A"/>
        </a:solidFill>
      </p:bgPr>
    </p:bg>
    <p:spTree>
      <p:nvGrpSpPr>
        <p:cNvPr id="1" name=""/>
        <p:cNvGrpSpPr/>
        <p:nvPr/>
      </p:nvGrpSpPr>
      <p:grpSpPr>
        <a:xfrm>
          <a:off x="0" y="0"/>
          <a:ext cx="0" cy="0"/>
          <a:chOff x="0" y="0"/>
          <a:chExt cx="0" cy="0"/>
        </a:xfrm>
      </p:grpSpPr>
      <p:grpSp>
        <p:nvGrpSpPr>
          <p:cNvPr name="Group 2" id="2"/>
          <p:cNvGrpSpPr/>
          <p:nvPr/>
        </p:nvGrpSpPr>
        <p:grpSpPr>
          <a:xfrm rot="0">
            <a:off x="762000" y="0"/>
            <a:ext cx="57150" cy="10287000"/>
            <a:chOff x="0" y="0"/>
            <a:chExt cx="76200" cy="13716000"/>
          </a:xfrm>
        </p:grpSpPr>
        <p:sp>
          <p:nvSpPr>
            <p:cNvPr name="Freeform 3" id="3"/>
            <p:cNvSpPr/>
            <p:nvPr/>
          </p:nvSpPr>
          <p:spPr>
            <a:xfrm flipH="false" flipV="false" rot="0">
              <a:off x="0" y="0"/>
              <a:ext cx="76200" cy="13716000"/>
            </a:xfrm>
            <a:custGeom>
              <a:avLst/>
              <a:gdLst/>
              <a:ahLst/>
              <a:cxnLst/>
              <a:rect r="r" b="b" t="t" l="l"/>
              <a:pathLst>
                <a:path h="13716000" w="76200">
                  <a:moveTo>
                    <a:pt x="0" y="0"/>
                  </a:moveTo>
                  <a:lnTo>
                    <a:pt x="76200" y="0"/>
                  </a:lnTo>
                  <a:lnTo>
                    <a:pt x="76200" y="13716000"/>
                  </a:lnTo>
                  <a:lnTo>
                    <a:pt x="0" y="13716000"/>
                  </a:lnTo>
                  <a:close/>
                </a:path>
              </a:pathLst>
            </a:custGeom>
            <a:solidFill>
              <a:srgbClr val="00B4D8"/>
            </a:solidFill>
          </p:spPr>
        </p:sp>
      </p:grpSp>
      <p:sp>
        <p:nvSpPr>
          <p:cNvPr name="TextBox 4" id="4"/>
          <p:cNvSpPr txBox="true"/>
          <p:nvPr/>
        </p:nvSpPr>
        <p:spPr>
          <a:xfrm rot="0">
            <a:off x="3429000" y="3629025"/>
            <a:ext cx="11430000" cy="1133424"/>
          </a:xfrm>
          <a:prstGeom prst="rect">
            <a:avLst/>
          </a:prstGeom>
        </p:spPr>
        <p:txBody>
          <a:bodyPr anchor="t" rtlCol="false" tIns="0" lIns="0" bIns="0" rIns="0">
            <a:spAutoFit/>
          </a:bodyPr>
          <a:lstStyle/>
          <a:p>
            <a:pPr algn="ctr" marL="0" indent="0" lvl="0">
              <a:lnSpc>
                <a:spcPts val="7497"/>
              </a:lnSpc>
              <a:spcBef>
                <a:spcPct val="0"/>
              </a:spcBef>
            </a:pPr>
            <a:r>
              <a:rPr lang="en-US" b="true" sz="7497" strike="noStrike" u="none">
                <a:solidFill>
                  <a:srgbClr val="00B4D8"/>
                </a:solidFill>
                <a:latin typeface="DIN Next Bold"/>
                <a:ea typeface="DIN Next Bold"/>
                <a:cs typeface="DIN Next Bold"/>
                <a:sym typeface="DIN Next Bold"/>
              </a:rPr>
              <a:t>THANK YOU</a:t>
            </a:r>
          </a:p>
        </p:txBody>
      </p:sp>
      <p:sp>
        <p:nvSpPr>
          <p:cNvPr name="TextBox 5" id="5"/>
          <p:cNvSpPr txBox="true"/>
          <p:nvPr/>
        </p:nvSpPr>
        <p:spPr>
          <a:xfrm rot="0">
            <a:off x="6286500" y="5124450"/>
            <a:ext cx="5715000" cy="419100"/>
          </a:xfrm>
          <a:prstGeom prst="rect">
            <a:avLst/>
          </a:prstGeom>
        </p:spPr>
        <p:txBody>
          <a:bodyPr anchor="t" rtlCol="false" tIns="0" lIns="0" bIns="0" rIns="0">
            <a:spAutoFit/>
          </a:bodyPr>
          <a:lstStyle/>
          <a:p>
            <a:pPr algn="ctr" marL="0" indent="0" lvl="0">
              <a:lnSpc>
                <a:spcPts val="3359"/>
              </a:lnSpc>
              <a:spcBef>
                <a:spcPct val="0"/>
              </a:spcBef>
            </a:pPr>
            <a:r>
              <a:rPr lang="en-US" sz="2799" strike="noStrike" u="none">
                <a:solidFill>
                  <a:srgbClr val="FFFFFF"/>
                </a:solidFill>
                <a:latin typeface="Open Sans"/>
                <a:ea typeface="Open Sans"/>
                <a:cs typeface="Open Sans"/>
                <a:sym typeface="Open Sans"/>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DAHKxyATSgs</dc:identifier>
  <dcterms:modified xsi:type="dcterms:W3CDTF">2011-08-01T06:04:30Z</dcterms:modified>
  <cp:revision>1</cp:revision>
  <dc:title>Match Page Design Style</dc:title>
</cp:coreProperties>
</file>