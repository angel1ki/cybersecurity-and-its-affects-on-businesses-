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_rels/slideMaster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5.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_rels/presentation.xml.rels" ContentType="application/vnd.openxmlformats-package.relationships+xml"/>
  <Override PartName="/ppt/theme/theme1.xml" ContentType="application/vnd.openxmlformats-officedocument.theme+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10.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DCFBE001-28DC-4ABC-B7AB-1A4F1B3F2740}" type="slidenum">
              <a:t>&lt;#&gt;</a:t>
            </a:fld>
          </a:p>
        </p:txBody>
      </p:sp>
      <p:sp>
        <p:nvSpPr>
          <p:cNvPr id="4" name="PlaceHolder 3"/>
          <p:cNvSpPr>
            <a:spLocks noGrp="1"/>
          </p:cNvSpPr>
          <p:nvPr>
            <p:ph type="dt" idx="3"/>
          </p:nvPr>
        </p:nvSpPr>
        <p:spPr/>
        <p:txBody>
          <a:bodyPr/>
          <a:p>
            <a:r>
              <a:rPr lang="el-GR"/>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6"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l-GR"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5CFCC7B7-88B9-4208-BB3A-89B52FAD1F7F}" type="slidenum">
              <a:t>&lt;#&gt;</a:t>
            </a:fld>
          </a:p>
        </p:txBody>
      </p:sp>
      <p:sp>
        <p:nvSpPr>
          <p:cNvPr id="6" name="PlaceHolder 5"/>
          <p:cNvSpPr>
            <a:spLocks noGrp="1"/>
          </p:cNvSpPr>
          <p:nvPr>
            <p:ph type="dt" idx="3"/>
          </p:nvPr>
        </p:nvSpPr>
        <p:spPr/>
        <p:txBody>
          <a:bodyPr/>
          <a:p>
            <a:r>
              <a:rPr lang="el-GR"/>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5D8AD65-096B-4F81-B2C2-3C940A6075BD}" type="slidenum">
              <a:t>&lt;#&gt;</a:t>
            </a:fld>
          </a:p>
        </p:txBody>
      </p:sp>
      <p:sp>
        <p:nvSpPr>
          <p:cNvPr id="6" name="PlaceHolder 5"/>
          <p:cNvSpPr>
            <a:spLocks noGrp="1"/>
          </p:cNvSpPr>
          <p:nvPr>
            <p:ph type="dt" idx="3"/>
          </p:nvPr>
        </p:nvSpPr>
        <p:spPr/>
        <p:txBody>
          <a:bodyPr/>
          <a:p>
            <a:r>
              <a:rPr lang="el-GR"/>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10"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11"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B984BFA9-A2D3-4F68-8BE0-D325CBB7D994}" type="slidenum">
              <a:t>&lt;#&gt;</a:t>
            </a:fld>
          </a:p>
        </p:txBody>
      </p:sp>
      <p:sp>
        <p:nvSpPr>
          <p:cNvPr id="7" name="PlaceHolder 6"/>
          <p:cNvSpPr>
            <a:spLocks noGrp="1"/>
          </p:cNvSpPr>
          <p:nvPr>
            <p:ph type="dt" idx="3"/>
          </p:nvPr>
        </p:nvSpPr>
        <p:spPr/>
        <p:txBody>
          <a:bodyPr/>
          <a:p>
            <a:r>
              <a:rPr lang="el-GR"/>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78DF5D2D-0411-4DB2-B28C-2DB2CFE366A3}" type="slidenum">
              <a:t>&lt;#&gt;</a:t>
            </a:fld>
          </a:p>
        </p:txBody>
      </p:sp>
      <p:sp>
        <p:nvSpPr>
          <p:cNvPr id="5" name="PlaceHolder 4"/>
          <p:cNvSpPr>
            <a:spLocks noGrp="1"/>
          </p:cNvSpPr>
          <p:nvPr>
            <p:ph type="dt" idx="3"/>
          </p:nvPr>
        </p:nvSpPr>
        <p:spPr/>
        <p:txBody>
          <a:bodyPr/>
          <a:p>
            <a:r>
              <a:rPr lang="el-GR"/>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914400" y="410400"/>
            <a:ext cx="16458840" cy="7962840"/>
          </a:xfrm>
          <a:prstGeom prst="rect">
            <a:avLst/>
          </a:prstGeom>
          <a:noFill/>
          <a:ln w="0">
            <a:noFill/>
          </a:ln>
        </p:spPr>
        <p:txBody>
          <a:bodyPr lIns="0" rIns="0" tIns="0" bIns="0" anchor="ctr">
            <a:noAutofit/>
          </a:bodyPr>
          <a:p>
            <a:pPr algn="ctr"/>
            <a:endParaRPr b="0" lang="el-GR"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3C7E52F0-BF52-4983-9E24-AA10B68A655A}" type="slidenum">
              <a:t>&lt;#&gt;</a:t>
            </a:fld>
          </a:p>
        </p:txBody>
      </p:sp>
      <p:sp>
        <p:nvSpPr>
          <p:cNvPr id="5" name="PlaceHolder 4"/>
          <p:cNvSpPr>
            <a:spLocks noGrp="1"/>
          </p:cNvSpPr>
          <p:nvPr>
            <p:ph type="dt" idx="3"/>
          </p:nvPr>
        </p:nvSpPr>
        <p:spPr/>
        <p:txBody>
          <a:bodyPr/>
          <a:p>
            <a:r>
              <a:rPr lang="el-GR"/>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15" name="PlaceHolder 2"/>
          <p:cNvSpPr>
            <a:spLocks noGrp="1"/>
          </p:cNvSpPr>
          <p:nvPr>
            <p:ph/>
          </p:nvPr>
        </p:nvSpPr>
        <p:spPr>
          <a:xfrm>
            <a:off x="914400" y="240696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16"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17" name="PlaceHolder 4"/>
          <p:cNvSpPr>
            <a:spLocks noGrp="1"/>
          </p:cNvSpPr>
          <p:nvPr>
            <p:ph/>
          </p:nvPr>
        </p:nvSpPr>
        <p:spPr>
          <a:xfrm>
            <a:off x="914400" y="552312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3FDB324-87EC-4B54-8032-23EDD5CF3F8F}" type="slidenum">
              <a:t>&lt;#&gt;</a:t>
            </a:fld>
          </a:p>
        </p:txBody>
      </p:sp>
      <p:sp>
        <p:nvSpPr>
          <p:cNvPr id="8" name="PlaceHolder 7"/>
          <p:cNvSpPr>
            <a:spLocks noGrp="1"/>
          </p:cNvSpPr>
          <p:nvPr>
            <p:ph type="dt" idx="3"/>
          </p:nvPr>
        </p:nvSpPr>
        <p:spPr/>
        <p:txBody>
          <a:bodyPr/>
          <a:p>
            <a:r>
              <a:rPr lang="el-GR"/>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1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20" name="PlaceHolder 3"/>
          <p:cNvSpPr>
            <a:spLocks noGrp="1"/>
          </p:cNvSpPr>
          <p:nvPr>
            <p:ph/>
          </p:nvPr>
        </p:nvSpPr>
        <p:spPr>
          <a:xfrm>
            <a:off x="9348120" y="240696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21" name="PlaceHolder 4"/>
          <p:cNvSpPr>
            <a:spLocks noGrp="1"/>
          </p:cNvSpPr>
          <p:nvPr>
            <p:ph/>
          </p:nvPr>
        </p:nvSpPr>
        <p:spPr>
          <a:xfrm>
            <a:off x="9348120" y="552312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951C6ACB-1DC6-449F-BF4C-0405E1528323}" type="slidenum">
              <a:t>&lt;#&gt;</a:t>
            </a:fld>
          </a:p>
        </p:txBody>
      </p:sp>
      <p:sp>
        <p:nvSpPr>
          <p:cNvPr id="8" name="PlaceHolder 7"/>
          <p:cNvSpPr>
            <a:spLocks noGrp="1"/>
          </p:cNvSpPr>
          <p:nvPr>
            <p:ph type="dt" idx="3"/>
          </p:nvPr>
        </p:nvSpPr>
        <p:spPr/>
        <p:txBody>
          <a:bodyPr/>
          <a:p>
            <a:r>
              <a:rPr lang="el-GR"/>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23" name="PlaceHolder 2"/>
          <p:cNvSpPr>
            <a:spLocks noGrp="1"/>
          </p:cNvSpPr>
          <p:nvPr>
            <p:ph/>
          </p:nvPr>
        </p:nvSpPr>
        <p:spPr>
          <a:xfrm>
            <a:off x="914400" y="240696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24" name="PlaceHolder 3"/>
          <p:cNvSpPr>
            <a:spLocks noGrp="1"/>
          </p:cNvSpPr>
          <p:nvPr>
            <p:ph/>
          </p:nvPr>
        </p:nvSpPr>
        <p:spPr>
          <a:xfrm>
            <a:off x="9348120" y="240696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25" name="PlaceHolder 4"/>
          <p:cNvSpPr>
            <a:spLocks noGrp="1"/>
          </p:cNvSpPr>
          <p:nvPr>
            <p:ph/>
          </p:nvPr>
        </p:nvSpPr>
        <p:spPr>
          <a:xfrm>
            <a:off x="914400" y="5523120"/>
            <a:ext cx="1645884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5C786F8-07D7-419F-9F5C-EF8D9B26EB88}" type="slidenum">
              <a:t>&lt;#&gt;</a:t>
            </a:fld>
          </a:p>
        </p:txBody>
      </p:sp>
      <p:sp>
        <p:nvSpPr>
          <p:cNvPr id="8" name="PlaceHolder 7"/>
          <p:cNvSpPr>
            <a:spLocks noGrp="1"/>
          </p:cNvSpPr>
          <p:nvPr>
            <p:ph type="dt" idx="3"/>
          </p:nvPr>
        </p:nvSpPr>
        <p:spPr/>
        <p:txBody>
          <a:bodyPr/>
          <a:p>
            <a:r>
              <a:rPr lang="el-GR"/>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27" name="PlaceHolder 2"/>
          <p:cNvSpPr>
            <a:spLocks noGrp="1"/>
          </p:cNvSpPr>
          <p:nvPr>
            <p:ph/>
          </p:nvPr>
        </p:nvSpPr>
        <p:spPr>
          <a:xfrm>
            <a:off x="914400" y="2406960"/>
            <a:ext cx="1645884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28" name="PlaceHolder 3"/>
          <p:cNvSpPr>
            <a:spLocks noGrp="1"/>
          </p:cNvSpPr>
          <p:nvPr>
            <p:ph/>
          </p:nvPr>
        </p:nvSpPr>
        <p:spPr>
          <a:xfrm>
            <a:off x="914400" y="5523120"/>
            <a:ext cx="1645884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956C3E62-E1D3-4D76-A7B7-75BB079CBDA8}" type="slidenum">
              <a:t>&lt;#&gt;</a:t>
            </a:fld>
          </a:p>
        </p:txBody>
      </p:sp>
      <p:sp>
        <p:nvSpPr>
          <p:cNvPr id="7" name="PlaceHolder 6"/>
          <p:cNvSpPr>
            <a:spLocks noGrp="1"/>
          </p:cNvSpPr>
          <p:nvPr>
            <p:ph type="dt" idx="3"/>
          </p:nvPr>
        </p:nvSpPr>
        <p:spPr/>
        <p:txBody>
          <a:bodyPr/>
          <a:p>
            <a:r>
              <a:rPr lang="el-GR"/>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30" name="PlaceHolder 2"/>
          <p:cNvSpPr>
            <a:spLocks noGrp="1"/>
          </p:cNvSpPr>
          <p:nvPr>
            <p:ph/>
          </p:nvPr>
        </p:nvSpPr>
        <p:spPr>
          <a:xfrm>
            <a:off x="914400" y="240696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1" name="PlaceHolder 3"/>
          <p:cNvSpPr>
            <a:spLocks noGrp="1"/>
          </p:cNvSpPr>
          <p:nvPr>
            <p:ph/>
          </p:nvPr>
        </p:nvSpPr>
        <p:spPr>
          <a:xfrm>
            <a:off x="9348120" y="240696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2" name="PlaceHolder 4"/>
          <p:cNvSpPr>
            <a:spLocks noGrp="1"/>
          </p:cNvSpPr>
          <p:nvPr>
            <p:ph/>
          </p:nvPr>
        </p:nvSpPr>
        <p:spPr>
          <a:xfrm>
            <a:off x="914400" y="552312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3" name="PlaceHolder 5"/>
          <p:cNvSpPr>
            <a:spLocks noGrp="1"/>
          </p:cNvSpPr>
          <p:nvPr>
            <p:ph/>
          </p:nvPr>
        </p:nvSpPr>
        <p:spPr>
          <a:xfrm>
            <a:off x="9348120" y="5523120"/>
            <a:ext cx="803160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EB1CAC89-7FD9-4C30-8E56-4C8AF41BC81F}" type="slidenum">
              <a:t>&lt;#&gt;</a:t>
            </a:fld>
          </a:p>
        </p:txBody>
      </p:sp>
      <p:sp>
        <p:nvSpPr>
          <p:cNvPr id="9" name="PlaceHolder 8"/>
          <p:cNvSpPr>
            <a:spLocks noGrp="1"/>
          </p:cNvSpPr>
          <p:nvPr>
            <p:ph type="dt" idx="3"/>
          </p:nvPr>
        </p:nvSpPr>
        <p:spPr/>
        <p:txBody>
          <a:bodyPr/>
          <a:p>
            <a:r>
              <a:rPr lang="el-GR"/>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l-GR" sz="4400" spc="-1" strike="noStrike">
              <a:solidFill>
                <a:srgbClr val="000000"/>
              </a:solidFill>
              <a:latin typeface="Arial"/>
            </a:endParaRPr>
          </a:p>
        </p:txBody>
      </p:sp>
      <p:sp>
        <p:nvSpPr>
          <p:cNvPr id="35" name="PlaceHolder 2"/>
          <p:cNvSpPr>
            <a:spLocks noGrp="1"/>
          </p:cNvSpPr>
          <p:nvPr>
            <p:ph/>
          </p:nvPr>
        </p:nvSpPr>
        <p:spPr>
          <a:xfrm>
            <a:off x="914400" y="2406960"/>
            <a:ext cx="529956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6" name="PlaceHolder 3"/>
          <p:cNvSpPr>
            <a:spLocks noGrp="1"/>
          </p:cNvSpPr>
          <p:nvPr>
            <p:ph/>
          </p:nvPr>
        </p:nvSpPr>
        <p:spPr>
          <a:xfrm>
            <a:off x="6479280" y="2406960"/>
            <a:ext cx="529956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7" name="PlaceHolder 4"/>
          <p:cNvSpPr>
            <a:spLocks noGrp="1"/>
          </p:cNvSpPr>
          <p:nvPr>
            <p:ph/>
          </p:nvPr>
        </p:nvSpPr>
        <p:spPr>
          <a:xfrm>
            <a:off x="12044160" y="2406960"/>
            <a:ext cx="529956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8" name="PlaceHolder 5"/>
          <p:cNvSpPr>
            <a:spLocks noGrp="1"/>
          </p:cNvSpPr>
          <p:nvPr>
            <p:ph/>
          </p:nvPr>
        </p:nvSpPr>
        <p:spPr>
          <a:xfrm>
            <a:off x="914400" y="5523120"/>
            <a:ext cx="529956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39" name="PlaceHolder 6"/>
          <p:cNvSpPr>
            <a:spLocks noGrp="1"/>
          </p:cNvSpPr>
          <p:nvPr>
            <p:ph/>
          </p:nvPr>
        </p:nvSpPr>
        <p:spPr>
          <a:xfrm>
            <a:off x="6479280" y="5523120"/>
            <a:ext cx="529956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40" name="PlaceHolder 7"/>
          <p:cNvSpPr>
            <a:spLocks noGrp="1"/>
          </p:cNvSpPr>
          <p:nvPr>
            <p:ph/>
          </p:nvPr>
        </p:nvSpPr>
        <p:spPr>
          <a:xfrm>
            <a:off x="12044160" y="5523120"/>
            <a:ext cx="5299560" cy="2845440"/>
          </a:xfrm>
          <a:prstGeom prst="rect">
            <a:avLst/>
          </a:prstGeom>
          <a:noFill/>
          <a:ln w="0">
            <a:noFill/>
          </a:ln>
        </p:spPr>
        <p:txBody>
          <a:bodyPr lIns="0" rIns="0" tIns="0" bIns="0" anchor="t">
            <a:normAutofit/>
          </a:bodyPr>
          <a:p>
            <a:pPr indent="0">
              <a:spcBef>
                <a:spcPts val="1417"/>
              </a:spcBef>
              <a:buNone/>
            </a:pPr>
            <a:endParaRPr b="0" lang="el-GR"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189D623A-ECD0-43CA-B624-2ECD25DE2030}" type="slidenum">
              <a:t>&lt;#&gt;</a:t>
            </a:fld>
          </a:p>
        </p:txBody>
      </p:sp>
      <p:sp>
        <p:nvSpPr>
          <p:cNvPr id="11" name="PlaceHolder 10"/>
          <p:cNvSpPr>
            <a:spLocks noGrp="1"/>
          </p:cNvSpPr>
          <p:nvPr>
            <p:ph type="dt" idx="3"/>
          </p:nvPr>
        </p:nvSpPr>
        <p:spPr/>
        <p:txBody>
          <a:bodyPr/>
          <a:p>
            <a:r>
              <a:rPr lang="el-GR"/>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l-GR" sz="1400" spc="-1" strike="noStrike">
                <a:solidFill>
                  <a:srgbClr val="000000"/>
                </a:solidFill>
                <a:latin typeface="Times New Roman"/>
              </a:defRPr>
            </a:lvl1pPr>
          </a:lstStyle>
          <a:p>
            <a:pPr indent="0" algn="ctr">
              <a:lnSpc>
                <a:spcPct val="100000"/>
              </a:lnSpc>
              <a:buNone/>
              <a:tabLst>
                <a:tab algn="l" pos="0"/>
              </a:tabLst>
            </a:pPr>
            <a:r>
              <a:rPr b="0" lang="el-GR" sz="1400" spc="-1" strike="noStrike">
                <a:solidFill>
                  <a:srgbClr val="000000"/>
                </a:solidFill>
                <a:latin typeface="Times New Roman"/>
              </a:rPr>
              <a:t>&lt;υποσέλιδο&gt;</a:t>
            </a:r>
            <a:endParaRPr b="0" lang="el-GR"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33000" cy="3643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85442D2-982E-436F-9CDF-734E43ADD38F}" type="slidenum">
              <a:rPr b="0" lang="en-US" sz="1200" spc="-1" strike="noStrike">
                <a:solidFill>
                  <a:schemeClr val="dk1">
                    <a:tint val="75000"/>
                  </a:schemeClr>
                </a:solidFill>
                <a:latin typeface="Calibri"/>
              </a:rPr>
              <a:t>&lt;αριθμός&gt;</a:t>
            </a:fld>
            <a:endParaRPr b="0" lang="el-GR"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l-GR" sz="1400" spc="-1" strike="noStrike">
                <a:solidFill>
                  <a:srgbClr val="000000"/>
                </a:solidFill>
                <a:latin typeface="Times New Roman"/>
              </a:defRPr>
            </a:lvl1pPr>
          </a:lstStyle>
          <a:p>
            <a:pPr indent="0">
              <a:buNone/>
            </a:pPr>
            <a:r>
              <a:rPr b="0" lang="el-GR" sz="1400" spc="-1" strike="noStrike">
                <a:solidFill>
                  <a:srgbClr val="000000"/>
                </a:solidFill>
                <a:latin typeface="Times New Roman"/>
              </a:rPr>
              <a:t>&lt;ημερομηνία/ώρα&gt;</a:t>
            </a:r>
            <a:endParaRPr b="0" lang="el-GR" sz="1400" spc="-1" strike="noStrike">
              <a:solidFill>
                <a:srgbClr val="000000"/>
              </a:solidFill>
              <a:latin typeface="Times New Roman"/>
            </a:endParaRPr>
          </a:p>
        </p:txBody>
      </p:sp>
      <p:sp>
        <p:nvSpPr>
          <p:cNvPr id="3"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r>
              <a:rPr b="0" lang="el-GR" sz="4400" spc="-1" strike="noStrike">
                <a:solidFill>
                  <a:srgbClr val="000000"/>
                </a:solidFill>
                <a:latin typeface="Arial"/>
              </a:rPr>
              <a:t>Πατήστε για επεξεργασία της μορφής κειμένου του τίτλου</a:t>
            </a:r>
            <a:endParaRPr b="0" lang="el-GR" sz="4400" spc="-1" strike="noStrike">
              <a:solidFill>
                <a:srgbClr val="000000"/>
              </a:solidFill>
              <a:latin typeface="Arial"/>
            </a:endParaRPr>
          </a:p>
        </p:txBody>
      </p:sp>
      <p:sp>
        <p:nvSpPr>
          <p:cNvPr id="4"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l-GR" sz="3200" spc="-1" strike="noStrike">
                <a:solidFill>
                  <a:srgbClr val="000000"/>
                </a:solidFill>
                <a:latin typeface="Arial"/>
              </a:rPr>
              <a:t>Πατήστε για επεξεργασία της μορφής κειμένου διάρθρωσης</a:t>
            </a:r>
            <a:endParaRPr b="0" lang="el-GR"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l-GR" sz="2800" spc="-1" strike="noStrike">
                <a:solidFill>
                  <a:srgbClr val="000000"/>
                </a:solidFill>
                <a:latin typeface="Arial"/>
              </a:rPr>
              <a:t>Δεύτερο επίπεδο διάρθρωσης</a:t>
            </a:r>
            <a:endParaRPr b="0" lang="el-G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l-GR" sz="2400" spc="-1" strike="noStrike">
                <a:solidFill>
                  <a:srgbClr val="000000"/>
                </a:solidFill>
                <a:latin typeface="Arial"/>
              </a:rPr>
              <a:t>Τρίτο επίπεδο διάρθρωσης</a:t>
            </a:r>
            <a:endParaRPr b="0" lang="el-GR"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l-GR" sz="2000" spc="-1" strike="noStrike">
                <a:solidFill>
                  <a:srgbClr val="000000"/>
                </a:solidFill>
                <a:latin typeface="Arial"/>
              </a:rPr>
              <a:t>Τέταρτο επίπεδο διάρθρωσης</a:t>
            </a:r>
            <a:endParaRPr b="0" lang="el-GR"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l-GR" sz="2000" spc="-1" strike="noStrike">
                <a:solidFill>
                  <a:srgbClr val="000000"/>
                </a:solidFill>
                <a:latin typeface="Arial"/>
              </a:rPr>
              <a:t>Πέμπτο επίπεδο διάρθρωσης</a:t>
            </a:r>
            <a:endParaRPr b="0" lang="el-G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l-GR" sz="2000" spc="-1" strike="noStrike">
                <a:solidFill>
                  <a:srgbClr val="000000"/>
                </a:solidFill>
                <a:latin typeface="Arial"/>
              </a:rPr>
              <a:t>Έκτο επίπεδο διάρθρωσης</a:t>
            </a:r>
            <a:endParaRPr b="0" lang="el-G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l-GR" sz="2000" spc="-1" strike="noStrike">
                <a:solidFill>
                  <a:srgbClr val="000000"/>
                </a:solidFill>
                <a:latin typeface="Arial"/>
              </a:rPr>
              <a:t>Έβδομο επίπεδο διάρθρωσης</a:t>
            </a:r>
            <a:endParaRPr b="0" lang="el-G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41" name="Group 2"/>
          <p:cNvGrpSpPr/>
          <p:nvPr/>
        </p:nvGrpSpPr>
        <p:grpSpPr>
          <a:xfrm>
            <a:off x="762120" y="0"/>
            <a:ext cx="56520" cy="10286280"/>
            <a:chOff x="762120" y="0"/>
            <a:chExt cx="56520" cy="10286280"/>
          </a:xfrm>
        </p:grpSpPr>
        <p:sp>
          <p:nvSpPr>
            <p:cNvPr id="42"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43" name="TextBox 4"/>
          <p:cNvSpPr/>
          <p:nvPr/>
        </p:nvSpPr>
        <p:spPr>
          <a:xfrm>
            <a:off x="2476440" y="3247920"/>
            <a:ext cx="13334400" cy="952200"/>
          </a:xfrm>
          <a:prstGeom prst="rect">
            <a:avLst/>
          </a:prstGeom>
          <a:noFill/>
          <a:ln w="0">
            <a:noFill/>
          </a:ln>
        </p:spPr>
        <p:style>
          <a:lnRef idx="0"/>
          <a:fillRef idx="0"/>
          <a:effectRef idx="0"/>
          <a:fontRef idx="minor"/>
        </p:style>
        <p:txBody>
          <a:bodyPr lIns="0" rIns="0" tIns="0" bIns="0" anchor="t">
            <a:spAutoFit/>
          </a:bodyPr>
          <a:p>
            <a:pPr algn="ctr" defTabSz="914400">
              <a:lnSpc>
                <a:spcPts val="7498"/>
              </a:lnSpc>
              <a:tabLst>
                <a:tab algn="l" pos="0"/>
              </a:tabLst>
            </a:pPr>
            <a:r>
              <a:rPr b="1" lang="en-US" sz="7490" spc="-1" strike="noStrike">
                <a:solidFill>
                  <a:srgbClr val="00b4d8"/>
                </a:solidFill>
                <a:latin typeface="DIN Next Bold"/>
                <a:ea typeface="DIN Next Bold"/>
              </a:rPr>
              <a:t>CYBER SECURITY</a:t>
            </a:r>
            <a:endParaRPr b="0" lang="el-GR" sz="7490" spc="-1" strike="noStrike">
              <a:solidFill>
                <a:srgbClr val="ffffff"/>
              </a:solidFill>
              <a:latin typeface="Arial"/>
            </a:endParaRPr>
          </a:p>
        </p:txBody>
      </p:sp>
      <p:sp>
        <p:nvSpPr>
          <p:cNvPr id="44" name="TextBox 5"/>
          <p:cNvSpPr/>
          <p:nvPr/>
        </p:nvSpPr>
        <p:spPr>
          <a:xfrm>
            <a:off x="4381560" y="4896000"/>
            <a:ext cx="952416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0" lang="en-US" sz="3200" spc="-1" strike="noStrike">
                <a:solidFill>
                  <a:srgbClr val="ffffff"/>
                </a:solidFill>
                <a:latin typeface="Open Sans"/>
                <a:ea typeface="Open Sans"/>
              </a:rPr>
              <a:t>How It Affects Businesses</a:t>
            </a:r>
            <a:endParaRPr b="0" lang="el-GR" sz="3200" spc="-1" strike="noStrike">
              <a:solidFill>
                <a:srgbClr val="ffffff"/>
              </a:solidFill>
              <a:latin typeface="Arial"/>
            </a:endParaRPr>
          </a:p>
        </p:txBody>
      </p:sp>
      <p:sp>
        <p:nvSpPr>
          <p:cNvPr id="45" name="Freeform 6"/>
          <p:cNvSpPr/>
          <p:nvPr/>
        </p:nvSpPr>
        <p:spPr>
          <a:xfrm>
            <a:off x="7829640" y="5905440"/>
            <a:ext cx="2628360" cy="2856960"/>
          </a:xfrm>
          <a:custGeom>
            <a:avLst/>
            <a:gdLst>
              <a:gd name="textAreaLeft" fmla="*/ 0 w 2628360"/>
              <a:gd name="textAreaRight" fmla="*/ 2629080 w 2628360"/>
              <a:gd name="textAreaTop" fmla="*/ 0 h 2856960"/>
              <a:gd name="textAreaBottom" fmla="*/ 2857680 h 2856960"/>
            </a:gdLst>
            <a:ahLst/>
            <a:rect l="textAreaLeft" t="textAreaTop" r="textAreaRight" b="textAreaBottom"/>
            <a:pathLst>
              <a:path w="2628900" h="2857500">
                <a:moveTo>
                  <a:pt x="0" y="0"/>
                </a:moveTo>
                <a:lnTo>
                  <a:pt x="2628900" y="0"/>
                </a:lnTo>
                <a:lnTo>
                  <a:pt x="2628900" y="2857500"/>
                </a:lnTo>
                <a:lnTo>
                  <a:pt x="0" y="28575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sp>
        <p:nvSpPr>
          <p:cNvPr id="46" name="TextBox 2"/>
          <p:cNvSpPr/>
          <p:nvPr/>
        </p:nvSpPr>
        <p:spPr>
          <a:xfrm>
            <a:off x="228240" y="1427760"/>
            <a:ext cx="17665920" cy="7999200"/>
          </a:xfrm>
          <a:prstGeom prst="rect">
            <a:avLst/>
          </a:prstGeom>
          <a:noFill/>
          <a:ln w="0">
            <a:noFill/>
          </a:ln>
        </p:spPr>
        <p:style>
          <a:lnRef idx="0"/>
          <a:fillRef idx="0"/>
          <a:effectRef idx="0"/>
          <a:fontRef idx="minor"/>
        </p:style>
        <p:txBody>
          <a:bodyPr lIns="0" rIns="0" tIns="0" bIns="0" anchor="t">
            <a:spAutoFit/>
          </a:bodyPr>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ΔΙΑΜΑΝΤΟΠΟΥΛΟΥ ΑΓΓΕΛΙΚΗ - 24390085</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ΛΙΒΕΡΑ ΜΙΧΑΕΛΑ - 24390225</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ΑΚΥΛΑΣ ΚΩΝΣΤΑΝΤΙΝΟΣ - 24390281</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ΜΠΑΣΤΑΣ ΙΑΣΩΝΑΣ - 24390126</a:t>
            </a:r>
            <a:endParaRPr b="0" lang="el-GR" sz="5000" spc="-1" strike="noStrike">
              <a:solidFill>
                <a:srgbClr val="ffffff"/>
              </a:solidFill>
              <a:latin typeface="Arial"/>
            </a:endParaRPr>
          </a:p>
          <a:p>
            <a:pPr defTabSz="914400">
              <a:lnSpc>
                <a:spcPts val="6999"/>
              </a:lnSpc>
            </a:pPr>
            <a:endParaRPr b="0" lang="el-GR" sz="1800" spc="-1" strike="noStrike">
              <a:solidFill>
                <a:srgbClr val="ffffff"/>
              </a:solidFill>
              <a:latin typeface="Arial"/>
            </a:endParaRPr>
          </a:p>
          <a:p>
            <a:pPr lvl="1" marL="1079640" indent="-539640" defTabSz="914400">
              <a:lnSpc>
                <a:spcPts val="6999"/>
              </a:lnSpc>
              <a:buClr>
                <a:srgbClr val="00b4d8"/>
              </a:buClr>
              <a:buFont typeface="Arial"/>
              <a:buChar char="•"/>
            </a:pPr>
            <a:r>
              <a:rPr b="1" lang="en-US" sz="5000" spc="-1" strike="noStrike">
                <a:solidFill>
                  <a:srgbClr val="00b4d8"/>
                </a:solidFill>
                <a:latin typeface="Open Sans Bold"/>
                <a:ea typeface="Open Sans Bold"/>
              </a:rPr>
              <a:t>ΖΥΜΒΡΑΓΟΥΔΑΚΗΣ ΑΓΓΕΛΟΣ - 24390147</a:t>
            </a:r>
            <a:endParaRPr b="0" lang="el-GR" sz="5000" spc="-1" strike="noStrike">
              <a:solidFill>
                <a:srgbClr val="ffffff"/>
              </a:solidFill>
              <a:latin typeface="Arial"/>
            </a:endParaRPr>
          </a:p>
        </p:txBody>
      </p:sp>
      <p:sp>
        <p:nvSpPr>
          <p:cNvPr id="47" name="TextBox 3"/>
          <p:cNvSpPr/>
          <p:nvPr/>
        </p:nvSpPr>
        <p:spPr>
          <a:xfrm>
            <a:off x="228240" y="216720"/>
            <a:ext cx="15159600" cy="1066320"/>
          </a:xfrm>
          <a:prstGeom prst="rect">
            <a:avLst/>
          </a:prstGeom>
          <a:noFill/>
          <a:ln w="0">
            <a:noFill/>
          </a:ln>
        </p:spPr>
        <p:style>
          <a:lnRef idx="0"/>
          <a:fillRef idx="0"/>
          <a:effectRef idx="0"/>
          <a:fontRef idx="minor"/>
        </p:style>
        <p:txBody>
          <a:bodyPr lIns="0" rIns="0" tIns="0" bIns="0" anchor="t">
            <a:spAutoFit/>
          </a:bodyPr>
          <a:p>
            <a:pPr defTabSz="914400">
              <a:lnSpc>
                <a:spcPts val="8399"/>
              </a:lnSpc>
            </a:pPr>
            <a:r>
              <a:rPr b="1" lang="en-US" sz="6000" spc="-1" strike="noStrike">
                <a:solidFill>
                  <a:srgbClr val="0077b6"/>
                </a:solidFill>
                <a:latin typeface="Canva Sans Bold"/>
                <a:ea typeface="Canva Sans Bold"/>
              </a:rPr>
              <a:t>OUR TEAM </a:t>
            </a:r>
            <a:endParaRPr b="0" lang="el-GR" sz="6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48" name="Group 2"/>
          <p:cNvGrpSpPr/>
          <p:nvPr/>
        </p:nvGrpSpPr>
        <p:grpSpPr>
          <a:xfrm>
            <a:off x="762120" y="0"/>
            <a:ext cx="56520" cy="10286280"/>
            <a:chOff x="762120" y="0"/>
            <a:chExt cx="56520" cy="10286280"/>
          </a:xfrm>
        </p:grpSpPr>
        <p:sp>
          <p:nvSpPr>
            <p:cNvPr id="49"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50" name="TextBox 4"/>
          <p:cNvSpPr/>
          <p:nvPr/>
        </p:nvSpPr>
        <p:spPr>
          <a:xfrm>
            <a:off x="1333440" y="752400"/>
            <a:ext cx="13182840" cy="6382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SYSTEMATIC LITERATURE REVIEW</a:t>
            </a:r>
            <a:endParaRPr b="0" lang="el-GR" sz="5020" spc="-1" strike="noStrike">
              <a:solidFill>
                <a:srgbClr val="ffffff"/>
              </a:solidFill>
              <a:latin typeface="Arial"/>
            </a:endParaRPr>
          </a:p>
        </p:txBody>
      </p:sp>
      <p:sp>
        <p:nvSpPr>
          <p:cNvPr id="51" name="AutoShape 5"/>
          <p:cNvSpPr/>
          <p:nvPr/>
        </p:nvSpPr>
        <p:spPr>
          <a:xfrm>
            <a:off x="1308240" y="144756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52" name="Freeform 6"/>
          <p:cNvSpPr/>
          <p:nvPr/>
        </p:nvSpPr>
        <p:spPr>
          <a:xfrm>
            <a:off x="13144680" y="3809880"/>
            <a:ext cx="3809160" cy="3799800"/>
          </a:xfrm>
          <a:custGeom>
            <a:avLst/>
            <a:gdLst>
              <a:gd name="textAreaLeft" fmla="*/ 0 w 3809160"/>
              <a:gd name="textAreaRight" fmla="*/ 3809880 w 3809160"/>
              <a:gd name="textAreaTop" fmla="*/ 0 h 3799800"/>
              <a:gd name="textAreaBottom" fmla="*/ 3800520 h 3799800"/>
            </a:gdLst>
            <a:ahLst/>
            <a:rect l="textAreaLeft" t="textAreaTop" r="textAreaRight" b="textAreaBottom"/>
            <a:pathLst>
              <a:path w="3810000" h="3800475">
                <a:moveTo>
                  <a:pt x="0" y="0"/>
                </a:moveTo>
                <a:lnTo>
                  <a:pt x="3810000" y="0"/>
                </a:lnTo>
                <a:lnTo>
                  <a:pt x="3810000" y="3800475"/>
                </a:lnTo>
                <a:lnTo>
                  <a:pt x="0" y="3800475"/>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
        <p:nvSpPr>
          <p:cNvPr id="53" name="TextBox 7"/>
          <p:cNvSpPr/>
          <p:nvPr/>
        </p:nvSpPr>
        <p:spPr>
          <a:xfrm>
            <a:off x="918360" y="1660680"/>
            <a:ext cx="17369640" cy="8226000"/>
          </a:xfrm>
          <a:prstGeom prst="rect">
            <a:avLst/>
          </a:prstGeom>
          <a:noFill/>
          <a:ln w="0">
            <a:noFill/>
          </a:ln>
        </p:spPr>
        <p:style>
          <a:lnRef idx="0"/>
          <a:fillRef idx="0"/>
          <a:effectRef idx="0"/>
          <a:fontRef idx="minor"/>
        </p:style>
        <p:txBody>
          <a:bodyPr lIns="0" rIns="0" tIns="0" bIns="0" anchor="t">
            <a:spAutoFit/>
          </a:bodyPr>
          <a:p>
            <a:pPr defTabSz="914400">
              <a:lnSpc>
                <a:spcPct val="150000"/>
              </a:lnSpc>
              <a:tabLst>
                <a:tab algn="l" pos="0"/>
              </a:tabLst>
            </a:pPr>
            <a:r>
              <a:rPr b="1" lang="en-US" sz="4000" spc="-1" strike="noStrike">
                <a:solidFill>
                  <a:srgbClr val="00b4d8"/>
                </a:solidFill>
                <a:latin typeface="DIN Next Bold"/>
                <a:ea typeface="DIN Next Bold"/>
              </a:rPr>
              <a:t>• </a:t>
            </a:r>
            <a:r>
              <a:rPr b="1" lang="en-US" sz="4000" spc="-1" strike="noStrike">
                <a:solidFill>
                  <a:srgbClr val="00b4d8"/>
                </a:solidFill>
                <a:latin typeface="DIN Next Bold"/>
                <a:ea typeface="DIN Next Bold"/>
              </a:rPr>
              <a:t>Our search was limited to texts that were published from 2010 to 2019.</a:t>
            </a:r>
            <a:endParaRPr b="0" lang="el-GR" sz="4000" spc="-1" strike="noStrike">
              <a:solidFill>
                <a:srgbClr val="ffffff"/>
              </a:solidFill>
              <a:latin typeface="Arial"/>
            </a:endParaRPr>
          </a:p>
          <a:p>
            <a:pPr defTabSz="914400">
              <a:lnSpc>
                <a:spcPct val="150000"/>
              </a:lnSpc>
              <a:tabLst>
                <a:tab algn="l" pos="0"/>
              </a:tabLst>
            </a:pPr>
            <a:r>
              <a:rPr b="1" lang="en-US" sz="4000" spc="-1" strike="noStrike">
                <a:solidFill>
                  <a:srgbClr val="00b4d8"/>
                </a:solidFill>
                <a:latin typeface="DIN Next Bold"/>
                <a:ea typeface="DIN Next Bold"/>
              </a:rPr>
              <a:t>• </a:t>
            </a:r>
            <a:r>
              <a:rPr b="1" lang="en-US" sz="4000" spc="-1" strike="noStrike">
                <a:solidFill>
                  <a:srgbClr val="00b4d8"/>
                </a:solidFill>
                <a:latin typeface="DIN Next Bold"/>
                <a:ea typeface="DIN Next Bold"/>
              </a:rPr>
              <a:t>We gathered 32 papers</a:t>
            </a:r>
            <a:endParaRPr b="0" lang="el-GR" sz="4000" spc="-1" strike="noStrike">
              <a:solidFill>
                <a:srgbClr val="ffffff"/>
              </a:solidFill>
              <a:latin typeface="Arial"/>
            </a:endParaRPr>
          </a:p>
          <a:p>
            <a:pPr defTabSz="914400">
              <a:lnSpc>
                <a:spcPct val="150000"/>
              </a:lnSpc>
              <a:tabLst>
                <a:tab algn="l" pos="0"/>
              </a:tabLst>
            </a:pPr>
            <a:r>
              <a:rPr b="1" lang="en-US" sz="4000" spc="-1" strike="noStrike">
                <a:solidFill>
                  <a:srgbClr val="00b4d8"/>
                </a:solidFill>
                <a:latin typeface="DIN Next Bold"/>
                <a:ea typeface="DIN Next Bold"/>
              </a:rPr>
              <a:t>• </a:t>
            </a:r>
            <a:r>
              <a:rPr b="1" lang="en-US" sz="4000" spc="-1" strike="noStrike">
                <a:solidFill>
                  <a:srgbClr val="00b4d8"/>
                </a:solidFill>
                <a:latin typeface="DIN Next Bold"/>
                <a:ea typeface="DIN Next Bold"/>
              </a:rPr>
              <a:t>Using accuracy and the prestige of the papers with the help of search machines - like google scholar- we selected information that enhanced our knowledge and gave our presentation scientific accuracy.</a:t>
            </a:r>
            <a:endParaRPr b="0" lang="el-GR" sz="4000" spc="-1" strike="noStrike">
              <a:solidFill>
                <a:srgbClr val="ffffff"/>
              </a:solidFill>
              <a:latin typeface="Arial"/>
            </a:endParaRPr>
          </a:p>
          <a:p>
            <a:pPr defTabSz="914400">
              <a:lnSpc>
                <a:spcPct val="150000"/>
              </a:lnSpc>
              <a:tabLst>
                <a:tab algn="l" pos="0"/>
              </a:tabLst>
            </a:pPr>
            <a:r>
              <a:rPr b="1" lang="en-US" sz="4000" spc="-1" strike="noStrike">
                <a:solidFill>
                  <a:srgbClr val="00b4d8"/>
                </a:solidFill>
                <a:latin typeface="DIN Next Bold"/>
                <a:ea typeface="DIN Next Bold"/>
              </a:rPr>
              <a:t>• </a:t>
            </a:r>
            <a:r>
              <a:rPr b="1" lang="en-US" sz="4000" spc="-1" strike="noStrike">
                <a:solidFill>
                  <a:srgbClr val="00b4d8"/>
                </a:solidFill>
                <a:latin typeface="DIN Next Bold"/>
                <a:ea typeface="DIN Next Bold"/>
              </a:rPr>
              <a:t>Using journal and conference papers alike, we were able to create a factual and reality based paper.</a:t>
            </a:r>
            <a:endParaRPr b="0" lang="el-GR" sz="4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54" name="Group 2"/>
          <p:cNvGrpSpPr/>
          <p:nvPr/>
        </p:nvGrpSpPr>
        <p:grpSpPr>
          <a:xfrm>
            <a:off x="762120" y="0"/>
            <a:ext cx="56520" cy="10286280"/>
            <a:chOff x="762120" y="0"/>
            <a:chExt cx="56520" cy="10286280"/>
          </a:xfrm>
        </p:grpSpPr>
        <p:sp>
          <p:nvSpPr>
            <p:cNvPr id="55"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56" name="TextBox 4"/>
          <p:cNvSpPr/>
          <p:nvPr/>
        </p:nvSpPr>
        <p:spPr>
          <a:xfrm>
            <a:off x="1333440" y="752400"/>
            <a:ext cx="13093920" cy="6382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SYSTEMATIC LITERATURE REVIEW</a:t>
            </a:r>
            <a:endParaRPr b="0" lang="el-GR" sz="5020" spc="-1" strike="noStrike">
              <a:solidFill>
                <a:srgbClr val="ffffff"/>
              </a:solidFill>
              <a:latin typeface="Arial"/>
            </a:endParaRPr>
          </a:p>
        </p:txBody>
      </p:sp>
      <p:sp>
        <p:nvSpPr>
          <p:cNvPr id="57" name="AutoShape 5"/>
          <p:cNvSpPr/>
          <p:nvPr/>
        </p:nvSpPr>
        <p:spPr>
          <a:xfrm>
            <a:off x="1358640" y="132084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58" name="TextBox 6"/>
          <p:cNvSpPr/>
          <p:nvPr/>
        </p:nvSpPr>
        <p:spPr>
          <a:xfrm>
            <a:off x="819000" y="1600200"/>
            <a:ext cx="16953840" cy="8379000"/>
          </a:xfrm>
          <a:prstGeom prst="rect">
            <a:avLst/>
          </a:prstGeom>
          <a:noFill/>
          <a:ln w="0">
            <a:noFill/>
          </a:ln>
        </p:spPr>
        <p:style>
          <a:lnRef idx="0"/>
          <a:fillRef idx="0"/>
          <a:effectRef idx="0"/>
          <a:fontRef idx="minor"/>
        </p:style>
        <p:txBody>
          <a:bodyPr lIns="0" rIns="0" tIns="0" bIns="0" anchor="t">
            <a:spAutoFit/>
          </a:bodyPr>
          <a:p>
            <a:pPr defTabSz="914400">
              <a:lnSpc>
                <a:spcPts val="5998"/>
              </a:lnSpc>
              <a:tabLst>
                <a:tab algn="l" pos="0"/>
              </a:tabLst>
            </a:pPr>
            <a:r>
              <a:rPr b="1" lang="en-US" sz="4000" spc="-1" strike="noStrike">
                <a:solidFill>
                  <a:srgbClr val="00b4d8"/>
                </a:solidFill>
                <a:latin typeface="Open Sans Bold"/>
                <a:ea typeface="Open Sans Bold"/>
              </a:rPr>
              <a:t>The literature review was conducted following the Kitchenham (2004) model, which consists of three phases:</a:t>
            </a:r>
            <a:endParaRPr b="0" lang="el-GR" sz="4000" spc="-1" strike="noStrike">
              <a:solidFill>
                <a:srgbClr val="ffffff"/>
              </a:solidFill>
              <a:latin typeface="Arial"/>
            </a:endParaRPr>
          </a:p>
          <a:p>
            <a:pPr defTabSz="914400">
              <a:lnSpc>
                <a:spcPts val="5998"/>
              </a:lnSpc>
              <a:tabLst>
                <a:tab algn="l" pos="0"/>
              </a:tabLst>
            </a:pPr>
            <a:endParaRPr b="0" lang="el-GR" sz="1800" spc="-1" strike="noStrike">
              <a:solidFill>
                <a:srgbClr val="ffffff"/>
              </a:solidFill>
              <a:latin typeface="Arial"/>
            </a:endParaRPr>
          </a:p>
          <a:p>
            <a:pPr defTabSz="914400">
              <a:lnSpc>
                <a:spcPts val="5998"/>
              </a:lnSpc>
              <a:tabLst>
                <a:tab algn="l" pos="0"/>
              </a:tabLst>
            </a:pPr>
            <a:r>
              <a:rPr b="1" lang="en-US" sz="4000" spc="-1" strike="noStrike">
                <a:solidFill>
                  <a:srgbClr val="00b4d8"/>
                </a:solidFill>
                <a:latin typeface="Open Sans Bold"/>
                <a:ea typeface="Open Sans Bold"/>
              </a:rPr>
              <a:t>• </a:t>
            </a:r>
            <a:r>
              <a:rPr b="1" lang="en-US" sz="4000" spc="-1" strike="noStrike">
                <a:solidFill>
                  <a:srgbClr val="00b4d8"/>
                </a:solidFill>
                <a:latin typeface="Open Sans Bold"/>
                <a:ea typeface="Open Sans Bold"/>
              </a:rPr>
              <a:t>Development of a review protocol that includes the objectives, methodology, and expected outcomes.</a:t>
            </a:r>
            <a:endParaRPr b="0" lang="el-GR" sz="4000" spc="-1" strike="noStrike">
              <a:solidFill>
                <a:srgbClr val="ffffff"/>
              </a:solidFill>
              <a:latin typeface="Arial"/>
            </a:endParaRPr>
          </a:p>
          <a:p>
            <a:pPr defTabSz="914400">
              <a:lnSpc>
                <a:spcPts val="5998"/>
              </a:lnSpc>
              <a:tabLst>
                <a:tab algn="l" pos="0"/>
              </a:tabLst>
            </a:pPr>
            <a:endParaRPr b="0" lang="el-GR" sz="1800" spc="-1" strike="noStrike">
              <a:solidFill>
                <a:srgbClr val="ffffff"/>
              </a:solidFill>
              <a:latin typeface="Arial"/>
            </a:endParaRPr>
          </a:p>
          <a:p>
            <a:pPr defTabSz="914400">
              <a:lnSpc>
                <a:spcPts val="5998"/>
              </a:lnSpc>
              <a:tabLst>
                <a:tab algn="l" pos="0"/>
              </a:tabLst>
            </a:pPr>
            <a:r>
              <a:rPr b="1" lang="en-US" sz="4000" spc="-1" strike="noStrike">
                <a:solidFill>
                  <a:srgbClr val="00b4d8"/>
                </a:solidFill>
                <a:latin typeface="Open Sans Bold"/>
                <a:ea typeface="Open Sans Bold"/>
              </a:rPr>
              <a:t>• </a:t>
            </a:r>
            <a:r>
              <a:rPr b="1" lang="en-US" sz="4000" spc="-1" strike="noStrike">
                <a:solidFill>
                  <a:srgbClr val="00b4d8"/>
                </a:solidFill>
                <a:latin typeface="Open Sans Bold"/>
                <a:ea typeface="Open Sans Bold"/>
              </a:rPr>
              <a:t>Conducting the review by searching databases, applying inclusion/exclusion criteria, and reviewing the results.</a:t>
            </a:r>
            <a:endParaRPr b="0" lang="el-GR" sz="4000" spc="-1" strike="noStrike">
              <a:solidFill>
                <a:srgbClr val="ffffff"/>
              </a:solidFill>
              <a:latin typeface="Arial"/>
            </a:endParaRPr>
          </a:p>
          <a:p>
            <a:pPr defTabSz="914400">
              <a:lnSpc>
                <a:spcPts val="5998"/>
              </a:lnSpc>
              <a:tabLst>
                <a:tab algn="l" pos="0"/>
              </a:tabLst>
            </a:pPr>
            <a:endParaRPr b="0" lang="el-GR" sz="1800" spc="-1" strike="noStrike">
              <a:solidFill>
                <a:srgbClr val="ffffff"/>
              </a:solidFill>
              <a:latin typeface="Arial"/>
            </a:endParaRPr>
          </a:p>
          <a:p>
            <a:pPr defTabSz="914400">
              <a:lnSpc>
                <a:spcPts val="5998"/>
              </a:lnSpc>
              <a:tabLst>
                <a:tab algn="l" pos="0"/>
              </a:tabLst>
            </a:pPr>
            <a:r>
              <a:rPr b="1" lang="en-US" sz="4000" spc="-1" strike="noStrike">
                <a:solidFill>
                  <a:srgbClr val="00b4d8"/>
                </a:solidFill>
                <a:latin typeface="Open Sans Bold"/>
                <a:ea typeface="Open Sans Bold"/>
              </a:rPr>
              <a:t>• </a:t>
            </a:r>
            <a:r>
              <a:rPr b="1" lang="en-US" sz="4000" spc="-1" strike="noStrike">
                <a:solidFill>
                  <a:srgbClr val="00b4d8"/>
                </a:solidFill>
                <a:latin typeface="Open Sans Bold"/>
                <a:ea typeface="Open Sans Bold"/>
              </a:rPr>
              <a:t>Communicating the results through a structured report of findings.</a:t>
            </a:r>
            <a:endParaRPr b="0" lang="el-GR" sz="4000" spc="-1" strike="noStrike">
              <a:solidFill>
                <a:srgbClr val="ffffff"/>
              </a:solidFill>
              <a:latin typeface="Arial"/>
            </a:endParaRPr>
          </a:p>
        </p:txBody>
      </p:sp>
      <p:sp>
        <p:nvSpPr>
          <p:cNvPr id="59" name="Freeform 7"/>
          <p:cNvSpPr/>
          <p:nvPr/>
        </p:nvSpPr>
        <p:spPr>
          <a:xfrm>
            <a:off x="15533640" y="3551760"/>
            <a:ext cx="2753640" cy="2753640"/>
          </a:xfrm>
          <a:custGeom>
            <a:avLst/>
            <a:gdLst>
              <a:gd name="textAreaLeft" fmla="*/ 0 w 2753640"/>
              <a:gd name="textAreaRight" fmla="*/ 2754360 w 2753640"/>
              <a:gd name="textAreaTop" fmla="*/ 0 h 2753640"/>
              <a:gd name="textAreaBottom" fmla="*/ 2754360 h 2753640"/>
            </a:gdLst>
            <a:ahLst/>
            <a:rect l="textAreaLeft" t="textAreaTop" r="textAreaRight" b="textAreaBottom"/>
            <a:pathLst>
              <a:path w="2754300" h="2754300">
                <a:moveTo>
                  <a:pt x="0" y="0"/>
                </a:moveTo>
                <a:lnTo>
                  <a:pt x="2754300" y="0"/>
                </a:lnTo>
                <a:lnTo>
                  <a:pt x="2754300" y="2754300"/>
                </a:lnTo>
                <a:lnTo>
                  <a:pt x="0" y="27543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60" name="Group 2"/>
          <p:cNvGrpSpPr/>
          <p:nvPr/>
        </p:nvGrpSpPr>
        <p:grpSpPr>
          <a:xfrm>
            <a:off x="762120" y="0"/>
            <a:ext cx="56520" cy="10286280"/>
            <a:chOff x="762120" y="0"/>
            <a:chExt cx="56520" cy="10286280"/>
          </a:xfrm>
        </p:grpSpPr>
        <p:sp>
          <p:nvSpPr>
            <p:cNvPr id="61"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62" name="TextBox 4"/>
          <p:cNvSpPr/>
          <p:nvPr/>
        </p:nvSpPr>
        <p:spPr>
          <a:xfrm>
            <a:off x="1333440" y="476280"/>
            <a:ext cx="12763440" cy="561960"/>
          </a:xfrm>
          <a:prstGeom prst="rect">
            <a:avLst/>
          </a:prstGeom>
          <a:noFill/>
          <a:ln w="0">
            <a:noFill/>
          </a:ln>
        </p:spPr>
        <p:style>
          <a:lnRef idx="0"/>
          <a:fillRef idx="0"/>
          <a:effectRef idx="0"/>
          <a:fontRef idx="minor"/>
        </p:style>
        <p:txBody>
          <a:bodyPr lIns="0" rIns="0" tIns="0" bIns="0" anchor="t">
            <a:spAutoFit/>
          </a:bodyPr>
          <a:p>
            <a:pPr defTabSz="914400">
              <a:lnSpc>
                <a:spcPts val="4422"/>
              </a:lnSpc>
              <a:tabLst>
                <a:tab algn="l" pos="0"/>
              </a:tabLst>
            </a:pPr>
            <a:r>
              <a:rPr b="1" lang="en-US" sz="4420" spc="-1" strike="noStrike">
                <a:solidFill>
                  <a:srgbClr val="254b8f"/>
                </a:solidFill>
                <a:latin typeface="DIN Next Bold"/>
                <a:ea typeface="DIN Next Bold"/>
              </a:rPr>
              <a:t>PHASES OF THE LITERATURE REVIEW</a:t>
            </a:r>
            <a:endParaRPr b="0" lang="el-GR" sz="4420" spc="-1" strike="noStrike">
              <a:solidFill>
                <a:srgbClr val="ffffff"/>
              </a:solidFill>
              <a:latin typeface="Arial"/>
            </a:endParaRPr>
          </a:p>
        </p:txBody>
      </p:sp>
      <p:sp>
        <p:nvSpPr>
          <p:cNvPr id="63" name="AutoShape 5"/>
          <p:cNvSpPr/>
          <p:nvPr/>
        </p:nvSpPr>
        <p:spPr>
          <a:xfrm>
            <a:off x="1333440" y="104436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grpSp>
        <p:nvGrpSpPr>
          <p:cNvPr id="64" name="Group 6"/>
          <p:cNvGrpSpPr/>
          <p:nvPr/>
        </p:nvGrpSpPr>
        <p:grpSpPr>
          <a:xfrm>
            <a:off x="762120" y="1570680"/>
            <a:ext cx="5616360" cy="6264360"/>
            <a:chOff x="762120" y="1570680"/>
            <a:chExt cx="5616360" cy="6264360"/>
          </a:xfrm>
        </p:grpSpPr>
        <p:sp>
          <p:nvSpPr>
            <p:cNvPr id="65" name="Freeform 7"/>
            <p:cNvSpPr/>
            <p:nvPr/>
          </p:nvSpPr>
          <p:spPr>
            <a:xfrm>
              <a:off x="762120" y="1570680"/>
              <a:ext cx="5616360" cy="6264360"/>
            </a:xfrm>
            <a:custGeom>
              <a:avLst/>
              <a:gdLst>
                <a:gd name="textAreaLeft" fmla="*/ 0 w 5616360"/>
                <a:gd name="textAreaRight" fmla="*/ 5617080 w 5616360"/>
                <a:gd name="textAreaTop" fmla="*/ 0 h 6264360"/>
                <a:gd name="textAreaBottom" fmla="*/ 6265080 h 6264360"/>
              </a:gdLst>
              <a:ahLst/>
              <a:rect l="textAreaLeft" t="textAreaTop" r="textAreaRight" b="textAreaBottom"/>
              <a:pathLst>
                <a:path w="6604000" h="7366000">
                  <a:moveTo>
                    <a:pt x="660400" y="0"/>
                  </a:moveTo>
                  <a:lnTo>
                    <a:pt x="5943600" y="0"/>
                  </a:lnTo>
                  <a:cubicBezTo>
                    <a:pt x="6308329" y="0"/>
                    <a:pt x="6604000" y="295671"/>
                    <a:pt x="6604000" y="660400"/>
                  </a:cubicBezTo>
                  <a:lnTo>
                    <a:pt x="6604000" y="6705600"/>
                  </a:lnTo>
                  <a:cubicBezTo>
                    <a:pt x="6604000" y="7070329"/>
                    <a:pt x="6308329" y="7366000"/>
                    <a:pt x="5943600" y="7366000"/>
                  </a:cubicBezTo>
                  <a:lnTo>
                    <a:pt x="660400" y="7366000"/>
                  </a:lnTo>
                  <a:cubicBezTo>
                    <a:pt x="295671" y="7366000"/>
                    <a:pt x="0" y="7070329"/>
                    <a:pt x="0" y="6705600"/>
                  </a:cubicBezTo>
                  <a:lnTo>
                    <a:pt x="0" y="660400"/>
                  </a:lnTo>
                  <a:cubicBezTo>
                    <a:pt x="0" y="295671"/>
                    <a:pt x="295671" y="0"/>
                    <a:pt x="660400" y="0"/>
                  </a:cubicBezTo>
                  <a:close/>
                </a:path>
              </a:pathLst>
            </a:custGeom>
            <a:solidFill>
              <a:srgbClr val="0a1628"/>
            </a:solidFill>
            <a:ln cap="sq" w="19050">
              <a:solidFill>
                <a:srgbClr val="00b4d8"/>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sp>
        <p:nvSpPr>
          <p:cNvPr id="66" name="TextBox 8"/>
          <p:cNvSpPr/>
          <p:nvPr/>
        </p:nvSpPr>
        <p:spPr>
          <a:xfrm>
            <a:off x="1284480" y="1821600"/>
            <a:ext cx="4571280" cy="444600"/>
          </a:xfrm>
          <a:prstGeom prst="rect">
            <a:avLst/>
          </a:prstGeom>
          <a:noFill/>
          <a:ln w="0">
            <a:noFill/>
          </a:ln>
        </p:spPr>
        <p:style>
          <a:lnRef idx="0"/>
          <a:fillRef idx="0"/>
          <a:effectRef idx="0"/>
          <a:fontRef idx="minor"/>
        </p:style>
        <p:txBody>
          <a:bodyPr lIns="0" rIns="0" tIns="0" bIns="0" anchor="t">
            <a:spAutoFit/>
          </a:bodyPr>
          <a:p>
            <a:pPr algn="ctr" defTabSz="914400">
              <a:lnSpc>
                <a:spcPts val="3501"/>
              </a:lnSpc>
              <a:tabLst>
                <a:tab algn="l" pos="0"/>
              </a:tabLst>
            </a:pPr>
            <a:r>
              <a:rPr b="1" lang="en-US" sz="3500" spc="-1" strike="noStrike">
                <a:solidFill>
                  <a:srgbClr val="8bcffe"/>
                </a:solidFill>
                <a:latin typeface="DIN Next Bold"/>
                <a:ea typeface="DIN Next Bold"/>
              </a:rPr>
              <a:t>PHASE 1</a:t>
            </a:r>
            <a:endParaRPr b="0" lang="el-GR" sz="3500" spc="-1" strike="noStrike">
              <a:solidFill>
                <a:srgbClr val="ffffff"/>
              </a:solidFill>
              <a:latin typeface="Arial"/>
            </a:endParaRPr>
          </a:p>
        </p:txBody>
      </p:sp>
      <p:sp>
        <p:nvSpPr>
          <p:cNvPr id="67" name="TextBox 9"/>
          <p:cNvSpPr/>
          <p:nvPr/>
        </p:nvSpPr>
        <p:spPr>
          <a:xfrm>
            <a:off x="1284480" y="2405520"/>
            <a:ext cx="4571280" cy="304920"/>
          </a:xfrm>
          <a:prstGeom prst="rect">
            <a:avLst/>
          </a:prstGeom>
          <a:noFill/>
          <a:ln w="0">
            <a:noFill/>
          </a:ln>
        </p:spPr>
        <p:style>
          <a:lnRef idx="0"/>
          <a:fillRef idx="0"/>
          <a:effectRef idx="0"/>
          <a:fontRef idx="minor"/>
        </p:style>
        <p:txBody>
          <a:bodyPr lIns="0" rIns="0" tIns="0" bIns="0" anchor="t">
            <a:spAutoFit/>
          </a:bodyPr>
          <a:p>
            <a:pPr algn="ctr" defTabSz="914400">
              <a:lnSpc>
                <a:spcPts val="2401"/>
              </a:lnSpc>
              <a:tabLst>
                <a:tab algn="l" pos="0"/>
              </a:tabLst>
            </a:pPr>
            <a:r>
              <a:rPr b="0" lang="en-US" sz="2400" spc="-1" strike="noStrike">
                <a:solidFill>
                  <a:srgbClr val="ffffff"/>
                </a:solidFill>
                <a:latin typeface="Open Sans"/>
                <a:ea typeface="Open Sans"/>
              </a:rPr>
              <a:t>Planning the Review</a:t>
            </a:r>
            <a:endParaRPr b="0" lang="el-GR" sz="2400" spc="-1" strike="noStrike">
              <a:solidFill>
                <a:srgbClr val="ffffff"/>
              </a:solidFill>
              <a:latin typeface="Arial"/>
            </a:endParaRPr>
          </a:p>
        </p:txBody>
      </p:sp>
      <p:sp>
        <p:nvSpPr>
          <p:cNvPr id="68" name="TextBox 10"/>
          <p:cNvSpPr/>
          <p:nvPr/>
        </p:nvSpPr>
        <p:spPr>
          <a:xfrm>
            <a:off x="1047600" y="2800440"/>
            <a:ext cx="5142960" cy="5085000"/>
          </a:xfrm>
          <a:prstGeom prst="rect">
            <a:avLst/>
          </a:prstGeom>
          <a:noFill/>
          <a:ln w="0">
            <a:noFill/>
          </a:ln>
        </p:spPr>
        <p:style>
          <a:lnRef idx="0"/>
          <a:fillRef idx="0"/>
          <a:effectRef idx="0"/>
          <a:fontRef idx="minor"/>
        </p:style>
        <p:txBody>
          <a:bodyPr lIns="0" rIns="0" tIns="0" bIns="0" anchor="t">
            <a:spAutoFit/>
          </a:bodyPr>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Formulation of research questions</a:t>
            </a:r>
            <a:endParaRPr b="0" lang="el-GR" sz="24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Selection of databases</a:t>
            </a:r>
            <a:endParaRPr b="0" lang="el-GR" sz="24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Definition of inclusion/exclusion criteria</a:t>
            </a:r>
            <a:endParaRPr b="0" lang="el-GR" sz="2400" spc="-1" strike="noStrike">
              <a:solidFill>
                <a:srgbClr val="ffffff"/>
              </a:solidFill>
              <a:latin typeface="Arial"/>
            </a:endParaRPr>
          </a:p>
          <a:p>
            <a:pPr defTabSz="914400">
              <a:lnSpc>
                <a:spcPts val="3640"/>
              </a:lnSpc>
              <a:tabLst>
                <a:tab algn="l" pos="0"/>
              </a:tabLst>
            </a:pPr>
            <a:endParaRPr b="0" lang="el-GR" sz="26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Data extraction strategy</a:t>
            </a:r>
            <a:endParaRPr b="0" lang="el-GR" sz="2400" spc="-1" strike="noStrike">
              <a:solidFill>
                <a:srgbClr val="ffffff"/>
              </a:solidFill>
              <a:latin typeface="Arial"/>
            </a:endParaRPr>
          </a:p>
          <a:p>
            <a:pPr defTabSz="914400">
              <a:lnSpc>
                <a:spcPts val="3640"/>
              </a:lnSpc>
              <a:tabLst>
                <a:tab algn="l" pos="0"/>
              </a:tabLst>
            </a:pPr>
            <a:endParaRPr b="0" lang="el-GR" sz="26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Quality assessment plan</a:t>
            </a:r>
            <a:endParaRPr b="0" lang="el-GR" sz="2400" spc="-1" strike="noStrike">
              <a:solidFill>
                <a:srgbClr val="ffffff"/>
              </a:solidFill>
              <a:latin typeface="Arial"/>
            </a:endParaRPr>
          </a:p>
        </p:txBody>
      </p:sp>
      <p:grpSp>
        <p:nvGrpSpPr>
          <p:cNvPr id="69" name="Group 11"/>
          <p:cNvGrpSpPr/>
          <p:nvPr/>
        </p:nvGrpSpPr>
        <p:grpSpPr>
          <a:xfrm>
            <a:off x="6493320" y="1619280"/>
            <a:ext cx="5669640" cy="6324120"/>
            <a:chOff x="6493320" y="1619280"/>
            <a:chExt cx="5669640" cy="6324120"/>
          </a:xfrm>
        </p:grpSpPr>
        <p:sp>
          <p:nvSpPr>
            <p:cNvPr id="70" name="Freeform 12"/>
            <p:cNvSpPr/>
            <p:nvPr/>
          </p:nvSpPr>
          <p:spPr>
            <a:xfrm>
              <a:off x="6493320" y="1619280"/>
              <a:ext cx="5669640" cy="6324120"/>
            </a:xfrm>
            <a:custGeom>
              <a:avLst/>
              <a:gdLst>
                <a:gd name="textAreaLeft" fmla="*/ 0 w 5669640"/>
                <a:gd name="textAreaRight" fmla="*/ 5670360 w 5669640"/>
                <a:gd name="textAreaTop" fmla="*/ 0 h 6324120"/>
                <a:gd name="textAreaBottom" fmla="*/ 6324840 h 6324120"/>
              </a:gdLst>
              <a:ahLst/>
              <a:rect l="textAreaLeft" t="textAreaTop" r="textAreaRight" b="textAreaBottom"/>
              <a:pathLst>
                <a:path w="6604000" h="7366000">
                  <a:moveTo>
                    <a:pt x="660400" y="0"/>
                  </a:moveTo>
                  <a:lnTo>
                    <a:pt x="5943600" y="0"/>
                  </a:lnTo>
                  <a:cubicBezTo>
                    <a:pt x="6308329" y="0"/>
                    <a:pt x="6604000" y="295671"/>
                    <a:pt x="6604000" y="660400"/>
                  </a:cubicBezTo>
                  <a:lnTo>
                    <a:pt x="6604000" y="6705600"/>
                  </a:lnTo>
                  <a:cubicBezTo>
                    <a:pt x="6604000" y="7070329"/>
                    <a:pt x="6308329" y="7366000"/>
                    <a:pt x="5943600" y="7366000"/>
                  </a:cubicBezTo>
                  <a:lnTo>
                    <a:pt x="660400" y="7366000"/>
                  </a:lnTo>
                  <a:cubicBezTo>
                    <a:pt x="295671" y="7366000"/>
                    <a:pt x="0" y="7070329"/>
                    <a:pt x="0" y="6705600"/>
                  </a:cubicBezTo>
                  <a:lnTo>
                    <a:pt x="0" y="660400"/>
                  </a:lnTo>
                  <a:cubicBezTo>
                    <a:pt x="0" y="295671"/>
                    <a:pt x="295671" y="0"/>
                    <a:pt x="660400" y="0"/>
                  </a:cubicBezTo>
                  <a:close/>
                </a:path>
              </a:pathLst>
            </a:custGeom>
            <a:solidFill>
              <a:srgbClr val="0a1628"/>
            </a:solidFill>
            <a:ln cap="sq" w="19050">
              <a:solidFill>
                <a:srgbClr val="00b4d8"/>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sp>
        <p:nvSpPr>
          <p:cNvPr id="71" name="TextBox 13"/>
          <p:cNvSpPr/>
          <p:nvPr/>
        </p:nvSpPr>
        <p:spPr>
          <a:xfrm>
            <a:off x="6961320" y="1821600"/>
            <a:ext cx="4571280" cy="444600"/>
          </a:xfrm>
          <a:prstGeom prst="rect">
            <a:avLst/>
          </a:prstGeom>
          <a:noFill/>
          <a:ln w="0">
            <a:noFill/>
          </a:ln>
        </p:spPr>
        <p:style>
          <a:lnRef idx="0"/>
          <a:fillRef idx="0"/>
          <a:effectRef idx="0"/>
          <a:fontRef idx="minor"/>
        </p:style>
        <p:txBody>
          <a:bodyPr lIns="0" rIns="0" tIns="0" bIns="0" anchor="t">
            <a:spAutoFit/>
          </a:bodyPr>
          <a:p>
            <a:pPr algn="ctr" defTabSz="914400">
              <a:lnSpc>
                <a:spcPts val="3501"/>
              </a:lnSpc>
              <a:tabLst>
                <a:tab algn="l" pos="0"/>
              </a:tabLst>
            </a:pPr>
            <a:r>
              <a:rPr b="1" lang="en-US" sz="3500" spc="-1" strike="noStrike">
                <a:solidFill>
                  <a:srgbClr val="8bcffe"/>
                </a:solidFill>
                <a:latin typeface="DIN Next Bold"/>
                <a:ea typeface="DIN Next Bold"/>
              </a:rPr>
              <a:t>PHASE 2</a:t>
            </a:r>
            <a:endParaRPr b="0" lang="el-GR" sz="3500" spc="-1" strike="noStrike">
              <a:solidFill>
                <a:srgbClr val="ffffff"/>
              </a:solidFill>
              <a:latin typeface="Arial"/>
            </a:endParaRPr>
          </a:p>
        </p:txBody>
      </p:sp>
      <p:sp>
        <p:nvSpPr>
          <p:cNvPr id="72" name="TextBox 14"/>
          <p:cNvSpPr/>
          <p:nvPr/>
        </p:nvSpPr>
        <p:spPr>
          <a:xfrm>
            <a:off x="6961320" y="2359800"/>
            <a:ext cx="4571280" cy="304920"/>
          </a:xfrm>
          <a:prstGeom prst="rect">
            <a:avLst/>
          </a:prstGeom>
          <a:noFill/>
          <a:ln w="0">
            <a:noFill/>
          </a:ln>
        </p:spPr>
        <p:style>
          <a:lnRef idx="0"/>
          <a:fillRef idx="0"/>
          <a:effectRef idx="0"/>
          <a:fontRef idx="minor"/>
        </p:style>
        <p:txBody>
          <a:bodyPr lIns="0" rIns="0" tIns="0" bIns="0" anchor="t">
            <a:spAutoFit/>
          </a:bodyPr>
          <a:p>
            <a:pPr algn="ctr" defTabSz="914400">
              <a:lnSpc>
                <a:spcPts val="2401"/>
              </a:lnSpc>
              <a:tabLst>
                <a:tab algn="l" pos="0"/>
              </a:tabLst>
            </a:pPr>
            <a:r>
              <a:rPr b="0" lang="en-US" sz="2400" spc="-1" strike="noStrike">
                <a:solidFill>
                  <a:srgbClr val="ffffff"/>
                </a:solidFill>
                <a:latin typeface="Open Sans"/>
                <a:ea typeface="Open Sans"/>
              </a:rPr>
              <a:t>Conducting the Review</a:t>
            </a:r>
            <a:endParaRPr b="0" lang="el-GR" sz="2400" spc="-1" strike="noStrike">
              <a:solidFill>
                <a:srgbClr val="ffffff"/>
              </a:solidFill>
              <a:latin typeface="Arial"/>
            </a:endParaRPr>
          </a:p>
        </p:txBody>
      </p:sp>
      <p:sp>
        <p:nvSpPr>
          <p:cNvPr id="73" name="TextBox 15"/>
          <p:cNvSpPr/>
          <p:nvPr/>
        </p:nvSpPr>
        <p:spPr>
          <a:xfrm>
            <a:off x="6762600" y="2800440"/>
            <a:ext cx="5142960" cy="5084280"/>
          </a:xfrm>
          <a:prstGeom prst="rect">
            <a:avLst/>
          </a:prstGeom>
          <a:noFill/>
          <a:ln w="0">
            <a:noFill/>
          </a:ln>
        </p:spPr>
        <p:style>
          <a:lnRef idx="0"/>
          <a:fillRef idx="0"/>
          <a:effectRef idx="0"/>
          <a:fontRef idx="minor"/>
        </p:style>
        <p:txBody>
          <a:bodyPr lIns="0" rIns="0" tIns="0" bIns="0" anchor="t">
            <a:spAutoFit/>
          </a:bodyPr>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Identification of relevant studies</a:t>
            </a:r>
            <a:endParaRPr b="0" lang="el-GR" sz="24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Selection based on criteria</a:t>
            </a:r>
            <a:endParaRPr b="0" lang="el-GR" sz="24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Data extraction from papers</a:t>
            </a:r>
            <a:endParaRPr b="0" lang="el-GR" sz="24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Synthesis of findings</a:t>
            </a:r>
            <a:endParaRPr b="0" lang="el-GR" sz="2400" spc="-1" strike="noStrike">
              <a:solidFill>
                <a:srgbClr val="ffffff"/>
              </a:solidFill>
              <a:latin typeface="Arial"/>
            </a:endParaRPr>
          </a:p>
          <a:p>
            <a:pPr defTabSz="914400">
              <a:lnSpc>
                <a:spcPts val="3640"/>
              </a:lnSpc>
              <a:tabLst>
                <a:tab algn="l" pos="0"/>
              </a:tabLst>
            </a:pPr>
            <a:endParaRPr b="0" lang="el-GR" sz="1800" spc="-1" strike="noStrike">
              <a:solidFill>
                <a:srgbClr val="ffffff"/>
              </a:solidFill>
              <a:latin typeface="Arial"/>
            </a:endParaRPr>
          </a:p>
          <a:p>
            <a:pPr defTabSz="914400">
              <a:lnSpc>
                <a:spcPts val="3640"/>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Quality assessment of studies</a:t>
            </a:r>
            <a:endParaRPr b="0" lang="el-GR" sz="2400" spc="-1" strike="noStrike">
              <a:solidFill>
                <a:srgbClr val="ffffff"/>
              </a:solidFill>
              <a:latin typeface="Arial"/>
            </a:endParaRPr>
          </a:p>
        </p:txBody>
      </p:sp>
      <p:grpSp>
        <p:nvGrpSpPr>
          <p:cNvPr id="74" name="Group 16"/>
          <p:cNvGrpSpPr/>
          <p:nvPr/>
        </p:nvGrpSpPr>
        <p:grpSpPr>
          <a:xfrm>
            <a:off x="12280680" y="1619280"/>
            <a:ext cx="5669640" cy="6324120"/>
            <a:chOff x="12280680" y="1619280"/>
            <a:chExt cx="5669640" cy="6324120"/>
          </a:xfrm>
        </p:grpSpPr>
        <p:sp>
          <p:nvSpPr>
            <p:cNvPr id="75" name="Freeform 17"/>
            <p:cNvSpPr/>
            <p:nvPr/>
          </p:nvSpPr>
          <p:spPr>
            <a:xfrm>
              <a:off x="12280680" y="1619280"/>
              <a:ext cx="5669640" cy="6324120"/>
            </a:xfrm>
            <a:custGeom>
              <a:avLst/>
              <a:gdLst>
                <a:gd name="textAreaLeft" fmla="*/ 0 w 5669640"/>
                <a:gd name="textAreaRight" fmla="*/ 5670360 w 5669640"/>
                <a:gd name="textAreaTop" fmla="*/ 0 h 6324120"/>
                <a:gd name="textAreaBottom" fmla="*/ 6324840 h 6324120"/>
              </a:gdLst>
              <a:ahLst/>
              <a:rect l="textAreaLeft" t="textAreaTop" r="textAreaRight" b="textAreaBottom"/>
              <a:pathLst>
                <a:path w="6604000" h="7366000">
                  <a:moveTo>
                    <a:pt x="660400" y="0"/>
                  </a:moveTo>
                  <a:lnTo>
                    <a:pt x="5943600" y="0"/>
                  </a:lnTo>
                  <a:cubicBezTo>
                    <a:pt x="6308329" y="0"/>
                    <a:pt x="6604000" y="295671"/>
                    <a:pt x="6604000" y="660400"/>
                  </a:cubicBezTo>
                  <a:lnTo>
                    <a:pt x="6604000" y="6705600"/>
                  </a:lnTo>
                  <a:cubicBezTo>
                    <a:pt x="6604000" y="7070329"/>
                    <a:pt x="6308329" y="7366000"/>
                    <a:pt x="5943600" y="7366000"/>
                  </a:cubicBezTo>
                  <a:lnTo>
                    <a:pt x="660400" y="7366000"/>
                  </a:lnTo>
                  <a:cubicBezTo>
                    <a:pt x="295671" y="7366000"/>
                    <a:pt x="0" y="7070329"/>
                    <a:pt x="0" y="6705600"/>
                  </a:cubicBezTo>
                  <a:lnTo>
                    <a:pt x="0" y="660400"/>
                  </a:lnTo>
                  <a:cubicBezTo>
                    <a:pt x="0" y="295671"/>
                    <a:pt x="295671" y="0"/>
                    <a:pt x="660400" y="0"/>
                  </a:cubicBezTo>
                  <a:close/>
                </a:path>
              </a:pathLst>
            </a:custGeom>
            <a:solidFill>
              <a:srgbClr val="0a1628"/>
            </a:solidFill>
            <a:ln cap="sq" w="19050">
              <a:solidFill>
                <a:srgbClr val="00b4d8"/>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sp>
        <p:nvSpPr>
          <p:cNvPr id="76" name="TextBox 18"/>
          <p:cNvSpPr/>
          <p:nvPr/>
        </p:nvSpPr>
        <p:spPr>
          <a:xfrm>
            <a:off x="12544920" y="1821600"/>
            <a:ext cx="4571280" cy="444600"/>
          </a:xfrm>
          <a:prstGeom prst="rect">
            <a:avLst/>
          </a:prstGeom>
          <a:noFill/>
          <a:ln w="0">
            <a:noFill/>
          </a:ln>
        </p:spPr>
        <p:style>
          <a:lnRef idx="0"/>
          <a:fillRef idx="0"/>
          <a:effectRef idx="0"/>
          <a:fontRef idx="minor"/>
        </p:style>
        <p:txBody>
          <a:bodyPr lIns="0" rIns="0" tIns="0" bIns="0" anchor="t">
            <a:spAutoFit/>
          </a:bodyPr>
          <a:p>
            <a:pPr algn="ctr" defTabSz="914400">
              <a:lnSpc>
                <a:spcPts val="3501"/>
              </a:lnSpc>
              <a:tabLst>
                <a:tab algn="l" pos="0"/>
              </a:tabLst>
            </a:pPr>
            <a:r>
              <a:rPr b="1" lang="en-US" sz="3500" spc="-1" strike="noStrike">
                <a:solidFill>
                  <a:srgbClr val="8bcffe"/>
                </a:solidFill>
                <a:latin typeface="DIN Next Bold"/>
                <a:ea typeface="DIN Next Bold"/>
              </a:rPr>
              <a:t>PHASE 3</a:t>
            </a:r>
            <a:endParaRPr b="0" lang="el-GR" sz="3500" spc="-1" strike="noStrike">
              <a:solidFill>
                <a:srgbClr val="ffffff"/>
              </a:solidFill>
              <a:latin typeface="Arial"/>
            </a:endParaRPr>
          </a:p>
        </p:txBody>
      </p:sp>
      <p:sp>
        <p:nvSpPr>
          <p:cNvPr id="77" name="TextBox 19"/>
          <p:cNvSpPr/>
          <p:nvPr/>
        </p:nvSpPr>
        <p:spPr>
          <a:xfrm>
            <a:off x="12544920" y="2359800"/>
            <a:ext cx="4571280" cy="304920"/>
          </a:xfrm>
          <a:prstGeom prst="rect">
            <a:avLst/>
          </a:prstGeom>
          <a:noFill/>
          <a:ln w="0">
            <a:noFill/>
          </a:ln>
        </p:spPr>
        <p:style>
          <a:lnRef idx="0"/>
          <a:fillRef idx="0"/>
          <a:effectRef idx="0"/>
          <a:fontRef idx="minor"/>
        </p:style>
        <p:txBody>
          <a:bodyPr lIns="0" rIns="0" tIns="0" bIns="0" anchor="t">
            <a:spAutoFit/>
          </a:bodyPr>
          <a:p>
            <a:pPr algn="ctr" defTabSz="914400">
              <a:lnSpc>
                <a:spcPts val="2401"/>
              </a:lnSpc>
              <a:tabLst>
                <a:tab algn="l" pos="0"/>
              </a:tabLst>
            </a:pPr>
            <a:r>
              <a:rPr b="0" lang="en-US" sz="2400" spc="-1" strike="noStrike">
                <a:solidFill>
                  <a:srgbClr val="ffffff"/>
                </a:solidFill>
                <a:latin typeface="Open Sans"/>
                <a:ea typeface="Open Sans"/>
              </a:rPr>
              <a:t>Reporting the Review</a:t>
            </a:r>
            <a:endParaRPr b="0" lang="el-GR" sz="2400" spc="-1" strike="noStrike">
              <a:solidFill>
                <a:srgbClr val="ffffff"/>
              </a:solidFill>
              <a:latin typeface="Arial"/>
            </a:endParaRPr>
          </a:p>
        </p:txBody>
      </p:sp>
      <p:sp>
        <p:nvSpPr>
          <p:cNvPr id="78" name="TextBox 20"/>
          <p:cNvSpPr/>
          <p:nvPr/>
        </p:nvSpPr>
        <p:spPr>
          <a:xfrm>
            <a:off x="12544920" y="2830680"/>
            <a:ext cx="5405400" cy="4673160"/>
          </a:xfrm>
          <a:prstGeom prst="rect">
            <a:avLst/>
          </a:prstGeom>
          <a:noFill/>
          <a:ln w="0">
            <a:noFill/>
          </a:ln>
        </p:spPr>
        <p:style>
          <a:lnRef idx="0"/>
          <a:fillRef idx="0"/>
          <a:effectRef idx="0"/>
          <a:fontRef idx="minor"/>
        </p:style>
        <p:txBody>
          <a:bodyPr lIns="0" rIns="0" tIns="0" bIns="0" anchor="t">
            <a:spAutoFit/>
          </a:bodyPr>
          <a:p>
            <a:pPr defTabSz="914400">
              <a:lnSpc>
                <a:spcPts val="3679"/>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Communication of results</a:t>
            </a:r>
            <a:endParaRPr b="0" lang="el-GR" sz="240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Discussion of principal findings</a:t>
            </a:r>
            <a:endParaRPr b="0" lang="el-GR" sz="240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Identification of limitations</a:t>
            </a:r>
            <a:endParaRPr b="0" lang="el-GR" sz="240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Recommendations for practice</a:t>
            </a:r>
            <a:endParaRPr b="0" lang="el-GR" sz="2400" spc="-1" strike="noStrike">
              <a:solidFill>
                <a:srgbClr val="ffffff"/>
              </a:solidFill>
              <a:latin typeface="Arial"/>
            </a:endParaRPr>
          </a:p>
          <a:p>
            <a:pPr defTabSz="914400">
              <a:lnSpc>
                <a:spcPts val="3679"/>
              </a:lnSpc>
              <a:tabLst>
                <a:tab algn="l" pos="0"/>
              </a:tabLst>
            </a:pPr>
            <a:endParaRPr b="0" lang="el-GR" sz="1800" spc="-1" strike="noStrike">
              <a:solidFill>
                <a:srgbClr val="ffffff"/>
              </a:solidFill>
              <a:latin typeface="Arial"/>
            </a:endParaRPr>
          </a:p>
          <a:p>
            <a:pPr defTabSz="914400">
              <a:lnSpc>
                <a:spcPts val="3679"/>
              </a:lnSpc>
              <a:tabLst>
                <a:tab algn="l" pos="0"/>
              </a:tabLst>
            </a:pPr>
            <a:r>
              <a:rPr b="1" lang="en-US" sz="2400" spc="-1" strike="noStrike">
                <a:solidFill>
                  <a:srgbClr val="00b4d8"/>
                </a:solidFill>
                <a:latin typeface="Open Sans Bold"/>
                <a:ea typeface="Open Sans Bold"/>
              </a:rPr>
              <a:t>• </a:t>
            </a:r>
            <a:r>
              <a:rPr b="1" lang="en-US" sz="2400" spc="-1" strike="noStrike">
                <a:solidFill>
                  <a:srgbClr val="00b4d8"/>
                </a:solidFill>
                <a:latin typeface="Open Sans Bold"/>
                <a:ea typeface="Open Sans Bold"/>
              </a:rPr>
              <a:t>Future research directions</a:t>
            </a:r>
            <a:endParaRPr b="0" lang="el-GR" sz="2400" spc="-1" strike="noStrike">
              <a:solidFill>
                <a:srgbClr val="ffffff"/>
              </a:solidFill>
              <a:latin typeface="Arial"/>
            </a:endParaRPr>
          </a:p>
        </p:txBody>
      </p:sp>
      <p:sp>
        <p:nvSpPr>
          <p:cNvPr id="79" name="Freeform 21"/>
          <p:cNvSpPr/>
          <p:nvPr/>
        </p:nvSpPr>
        <p:spPr>
          <a:xfrm>
            <a:off x="15252840" y="7785360"/>
            <a:ext cx="3860640" cy="2501640"/>
          </a:xfrm>
          <a:custGeom>
            <a:avLst/>
            <a:gdLst>
              <a:gd name="textAreaLeft" fmla="*/ 0 w 3860640"/>
              <a:gd name="textAreaRight" fmla="*/ 3861000 w 3860640"/>
              <a:gd name="textAreaTop" fmla="*/ 0 h 2501640"/>
              <a:gd name="textAreaBottom" fmla="*/ 2502000 h 2501640"/>
            </a:gdLst>
            <a:ahLst/>
            <a:rect l="textAreaLeft" t="textAreaTop" r="textAreaRight" b="textAreaBottom"/>
            <a:pathLst>
              <a:path w="4670087" h="3563703">
                <a:moveTo>
                  <a:pt x="0" y="0"/>
                </a:moveTo>
                <a:lnTo>
                  <a:pt x="4670087" y="0"/>
                </a:lnTo>
                <a:lnTo>
                  <a:pt x="4670087" y="3563703"/>
                </a:lnTo>
                <a:lnTo>
                  <a:pt x="0" y="3563703"/>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80" name="Group 2"/>
          <p:cNvGrpSpPr/>
          <p:nvPr/>
        </p:nvGrpSpPr>
        <p:grpSpPr>
          <a:xfrm>
            <a:off x="762120" y="0"/>
            <a:ext cx="56520" cy="10286280"/>
            <a:chOff x="762120" y="0"/>
            <a:chExt cx="56520" cy="10286280"/>
          </a:xfrm>
        </p:grpSpPr>
        <p:sp>
          <p:nvSpPr>
            <p:cNvPr id="81"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82" name="TextBox 4"/>
          <p:cNvSpPr/>
          <p:nvPr/>
        </p:nvSpPr>
        <p:spPr>
          <a:xfrm>
            <a:off x="1333440" y="752400"/>
            <a:ext cx="13989600" cy="6382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RESEARCH QUESTIONS - ANALYSIS </a:t>
            </a:r>
            <a:endParaRPr b="0" lang="el-GR" sz="5020" spc="-1" strike="noStrike">
              <a:solidFill>
                <a:srgbClr val="ffffff"/>
              </a:solidFill>
              <a:latin typeface="Arial"/>
            </a:endParaRPr>
          </a:p>
        </p:txBody>
      </p:sp>
      <p:sp>
        <p:nvSpPr>
          <p:cNvPr id="83" name="AutoShape 5"/>
          <p:cNvSpPr/>
          <p:nvPr/>
        </p:nvSpPr>
        <p:spPr>
          <a:xfrm>
            <a:off x="1333440" y="139068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84" name="Freeform 6"/>
          <p:cNvSpPr/>
          <p:nvPr/>
        </p:nvSpPr>
        <p:spPr>
          <a:xfrm>
            <a:off x="14621040" y="6477120"/>
            <a:ext cx="3666240" cy="3809160"/>
          </a:xfrm>
          <a:custGeom>
            <a:avLst/>
            <a:gdLst>
              <a:gd name="textAreaLeft" fmla="*/ 0 w 3666240"/>
              <a:gd name="textAreaRight" fmla="*/ 3666960 w 3666240"/>
              <a:gd name="textAreaTop" fmla="*/ 0 h 3809160"/>
              <a:gd name="textAreaBottom" fmla="*/ 3809880 h 3809160"/>
            </a:gdLst>
            <a:ahLst/>
            <a:rect l="textAreaLeft" t="textAreaTop" r="textAreaRight" b="textAreaBottom"/>
            <a:pathLst>
              <a:path w="3667125" h="3810000">
                <a:moveTo>
                  <a:pt x="0" y="0"/>
                </a:moveTo>
                <a:lnTo>
                  <a:pt x="3667125" y="0"/>
                </a:lnTo>
                <a:lnTo>
                  <a:pt x="3667125" y="3810000"/>
                </a:lnTo>
                <a:lnTo>
                  <a:pt x="0" y="3810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
        <p:nvSpPr>
          <p:cNvPr id="85" name="TextBox 7"/>
          <p:cNvSpPr/>
          <p:nvPr/>
        </p:nvSpPr>
        <p:spPr>
          <a:xfrm>
            <a:off x="819000" y="1914480"/>
            <a:ext cx="17468280" cy="5712840"/>
          </a:xfrm>
          <a:prstGeom prst="rect">
            <a:avLst/>
          </a:prstGeom>
          <a:noFill/>
          <a:ln w="0">
            <a:noFill/>
          </a:ln>
        </p:spPr>
        <p:style>
          <a:lnRef idx="0"/>
          <a:fillRef idx="0"/>
          <a:effectRef idx="0"/>
          <a:fontRef idx="minor"/>
        </p:style>
        <p:txBody>
          <a:bodyPr lIns="0" rIns="0" tIns="0" bIns="0" anchor="t">
            <a:spAutoFit/>
          </a:bodyPr>
          <a:p>
            <a:pPr defTabSz="914400">
              <a:lnSpc>
                <a:spcPts val="4499"/>
              </a:lnSpc>
            </a:pPr>
            <a:r>
              <a:rPr b="1" lang="en-US" sz="4500" spc="-1" strike="noStrike">
                <a:solidFill>
                  <a:srgbClr val="00b4d8"/>
                </a:solidFill>
                <a:latin typeface="DIN Next Bold"/>
                <a:ea typeface="DIN Next Bold"/>
              </a:rPr>
              <a:t>In this paper, we analized the impact that cybersecurity has on businesses on multiple levels.</a:t>
            </a:r>
            <a:endParaRPr b="0" lang="el-GR" sz="4500" spc="-1" strike="noStrike">
              <a:solidFill>
                <a:srgbClr val="ffffff"/>
              </a:solidFill>
              <a:latin typeface="Arial"/>
            </a:endParaRPr>
          </a:p>
          <a:p>
            <a:pPr defTabSz="914400">
              <a:lnSpc>
                <a:spcPts val="4499"/>
              </a:lnSpc>
            </a:pPr>
            <a:endParaRPr b="0" lang="el-GR" sz="1800" spc="-1" strike="noStrike">
              <a:solidFill>
                <a:srgbClr val="ffffff"/>
              </a:solidFill>
              <a:latin typeface="Arial"/>
            </a:endParaRPr>
          </a:p>
          <a:p>
            <a:pPr defTabSz="914400">
              <a:lnSpc>
                <a:spcPts val="4499"/>
              </a:lnSpc>
            </a:pPr>
            <a:endParaRPr b="0" lang="el-GR" sz="1800" spc="-1" strike="noStrike">
              <a:solidFill>
                <a:srgbClr val="ffffff"/>
              </a:solidFill>
              <a:latin typeface="Arial"/>
            </a:endParaRPr>
          </a:p>
          <a:p>
            <a:pPr defTabSz="914400">
              <a:lnSpc>
                <a:spcPts val="4499"/>
              </a:lnSpc>
            </a:pPr>
            <a:r>
              <a:rPr b="1" lang="en-US" sz="4500" spc="-1" strike="noStrike">
                <a:solidFill>
                  <a:srgbClr val="00b4d8"/>
                </a:solidFill>
                <a:latin typeface="DIN Next Bold"/>
                <a:ea typeface="DIN Next Bold"/>
              </a:rPr>
              <a:t>In this presentation we will discuss about the financial impact, the humanity aspect, the vulnerability of small enterprises, the risk of emerging technologies and lastly the legal contitions and the varius mechanisms used to protect themselves.</a:t>
            </a:r>
            <a:endParaRPr b="0" lang="el-GR" sz="4500" spc="-1" strike="noStrike">
              <a:solidFill>
                <a:srgbClr val="ffffff"/>
              </a:solidFill>
              <a:latin typeface="Arial"/>
            </a:endParaRPr>
          </a:p>
          <a:p>
            <a:pPr defTabSz="914400">
              <a:lnSpc>
                <a:spcPts val="4499"/>
              </a:lnSpc>
            </a:pPr>
            <a:endParaRPr b="0" lang="el-GR"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86" name="Group 2"/>
          <p:cNvGrpSpPr/>
          <p:nvPr/>
        </p:nvGrpSpPr>
        <p:grpSpPr>
          <a:xfrm>
            <a:off x="762120" y="0"/>
            <a:ext cx="56520" cy="10286280"/>
            <a:chOff x="762120" y="0"/>
            <a:chExt cx="56520" cy="10286280"/>
          </a:xfrm>
        </p:grpSpPr>
        <p:sp>
          <p:nvSpPr>
            <p:cNvPr id="87"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88" name="TextBox 4"/>
          <p:cNvSpPr/>
          <p:nvPr/>
        </p:nvSpPr>
        <p:spPr>
          <a:xfrm>
            <a:off x="1333440" y="752400"/>
            <a:ext cx="11173320" cy="6382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OUR RESEARCH QUESTIONS </a:t>
            </a:r>
            <a:endParaRPr b="0" lang="el-GR" sz="5020" spc="-1" strike="noStrike">
              <a:solidFill>
                <a:srgbClr val="ffffff"/>
              </a:solidFill>
              <a:latin typeface="Arial"/>
            </a:endParaRPr>
          </a:p>
        </p:txBody>
      </p:sp>
      <p:sp>
        <p:nvSpPr>
          <p:cNvPr id="89" name="AutoShape 5"/>
          <p:cNvSpPr/>
          <p:nvPr/>
        </p:nvSpPr>
        <p:spPr>
          <a:xfrm>
            <a:off x="1333440" y="1390320"/>
            <a:ext cx="533376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90" name="Freeform 6"/>
          <p:cNvSpPr/>
          <p:nvPr/>
        </p:nvSpPr>
        <p:spPr>
          <a:xfrm>
            <a:off x="13144680" y="3809880"/>
            <a:ext cx="3799800" cy="3809160"/>
          </a:xfrm>
          <a:custGeom>
            <a:avLst/>
            <a:gdLst>
              <a:gd name="textAreaLeft" fmla="*/ 0 w 3799800"/>
              <a:gd name="textAreaRight" fmla="*/ 3800520 w 3799800"/>
              <a:gd name="textAreaTop" fmla="*/ 0 h 3809160"/>
              <a:gd name="textAreaBottom" fmla="*/ 3809880 h 3809160"/>
            </a:gdLst>
            <a:ahLst/>
            <a:rect l="textAreaLeft" t="textAreaTop" r="textAreaRight" b="textAreaBottom"/>
            <a:pathLst>
              <a:path w="3800475" h="3810000">
                <a:moveTo>
                  <a:pt x="0" y="0"/>
                </a:moveTo>
                <a:lnTo>
                  <a:pt x="3800475" y="0"/>
                </a:lnTo>
                <a:lnTo>
                  <a:pt x="3800475" y="3810000"/>
                </a:lnTo>
                <a:lnTo>
                  <a:pt x="0" y="3810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
        <p:nvSpPr>
          <p:cNvPr id="91" name="TextBox 7"/>
          <p:cNvSpPr/>
          <p:nvPr/>
        </p:nvSpPr>
        <p:spPr>
          <a:xfrm>
            <a:off x="844920" y="1567440"/>
            <a:ext cx="17294040" cy="8532360"/>
          </a:xfrm>
          <a:prstGeom prst="rect">
            <a:avLst/>
          </a:prstGeom>
          <a:noFill/>
          <a:ln w="0">
            <a:noFill/>
          </a:ln>
        </p:spPr>
        <p:style>
          <a:lnRef idx="0"/>
          <a:fillRef idx="0"/>
          <a:effectRef idx="0"/>
          <a:fontRef idx="minor"/>
        </p:style>
        <p:txBody>
          <a:bodyPr lIns="0" rIns="0" tIns="0" bIns="0" anchor="t">
            <a:spAutoFit/>
          </a:bodyPr>
          <a:p>
            <a:pPr defTabSz="914400">
              <a:lnSpc>
                <a:spcPts val="4479"/>
              </a:lnSpc>
              <a:tabLst>
                <a:tab algn="l" pos="0"/>
              </a:tabLst>
            </a:pPr>
            <a:r>
              <a:rPr b="1" lang="en-US" sz="2800" spc="-1" strike="noStrike">
                <a:solidFill>
                  <a:srgbClr val="00b4d8"/>
                </a:solidFill>
                <a:latin typeface="Open Sans Bold"/>
                <a:ea typeface="Open Sans Bold"/>
              </a:rPr>
              <a:t>• </a:t>
            </a:r>
            <a:r>
              <a:rPr b="1" lang="en-US" sz="2800" spc="-1" strike="noStrike">
                <a:solidFill>
                  <a:srgbClr val="00b4d8"/>
                </a:solidFill>
                <a:latin typeface="Open Sans Bold"/>
                <a:ea typeface="Open Sans Bold"/>
              </a:rPr>
              <a:t>RQ1: How do major data breaches affect stock values and brand equality of publicly traded companies?</a:t>
            </a:r>
            <a:endParaRPr b="0" lang="el-GR" sz="28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2800" spc="-1" strike="noStrike">
                <a:solidFill>
                  <a:srgbClr val="00b4d8"/>
                </a:solidFill>
                <a:latin typeface="Open Sans Bold"/>
                <a:ea typeface="Open Sans Bold"/>
              </a:rPr>
              <a:t>• </a:t>
            </a:r>
            <a:r>
              <a:rPr b="1" lang="en-US" sz="2800" spc="-1" strike="noStrike">
                <a:solidFill>
                  <a:srgbClr val="00b4d8"/>
                </a:solidFill>
                <a:latin typeface="Open Sans Bold"/>
                <a:ea typeface="Open Sans Bold"/>
              </a:rPr>
              <a:t>RQ2: How effective are those cyber security training programs that companies incorporate in reducing employee click-rates on phishing emails compared to traditional training?</a:t>
            </a:r>
            <a:endParaRPr b="0" lang="el-GR" sz="28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2800" spc="-1" strike="noStrike">
                <a:solidFill>
                  <a:srgbClr val="00b4d8"/>
                </a:solidFill>
                <a:latin typeface="Open Sans Bold"/>
                <a:ea typeface="Open Sans Bold"/>
              </a:rPr>
              <a:t>• </a:t>
            </a:r>
            <a:r>
              <a:rPr b="1" lang="en-US" sz="2800" spc="-1" strike="noStrike">
                <a:solidFill>
                  <a:srgbClr val="00b4d8"/>
                </a:solidFill>
                <a:latin typeface="Open Sans Bold"/>
                <a:ea typeface="Open Sans Bold"/>
              </a:rPr>
              <a:t>RQ3: Are the current managed cyber security service provider models adequately serving their purpose and meeting the special needs that small businesses have?</a:t>
            </a:r>
            <a:endParaRPr b="0" lang="el-GR" sz="28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2800" spc="-1" strike="noStrike">
                <a:solidFill>
                  <a:srgbClr val="00b4d8"/>
                </a:solidFill>
                <a:latin typeface="Open Sans Bold"/>
                <a:ea typeface="Open Sans Bold"/>
              </a:rPr>
              <a:t>• </a:t>
            </a:r>
            <a:r>
              <a:rPr b="1" lang="en-US" sz="2800" spc="-1" strike="noStrike">
                <a:solidFill>
                  <a:srgbClr val="00b4d8"/>
                </a:solidFill>
                <a:latin typeface="Open Sans Bold"/>
                <a:ea typeface="Open Sans Bold"/>
              </a:rPr>
              <a:t>RQ4: How does the adoption of AI affect and alter the landscape of corporate phishing and social engineering tasks?</a:t>
            </a:r>
            <a:endParaRPr b="0" lang="el-GR" sz="2800" spc="-1" strike="noStrike">
              <a:solidFill>
                <a:srgbClr val="ffffff"/>
              </a:solidFill>
              <a:latin typeface="Arial"/>
            </a:endParaRPr>
          </a:p>
          <a:p>
            <a:pPr defTabSz="914400">
              <a:lnSpc>
                <a:spcPts val="4479"/>
              </a:lnSpc>
              <a:tabLst>
                <a:tab algn="l" pos="0"/>
              </a:tabLst>
            </a:pPr>
            <a:endParaRPr b="0" lang="el-GR" sz="1800" spc="-1" strike="noStrike">
              <a:solidFill>
                <a:srgbClr val="ffffff"/>
              </a:solidFill>
              <a:latin typeface="Arial"/>
            </a:endParaRPr>
          </a:p>
          <a:p>
            <a:pPr defTabSz="914400">
              <a:lnSpc>
                <a:spcPts val="4479"/>
              </a:lnSpc>
              <a:tabLst>
                <a:tab algn="l" pos="0"/>
              </a:tabLst>
            </a:pPr>
            <a:r>
              <a:rPr b="1" lang="en-US" sz="2800" spc="-1" strike="noStrike">
                <a:solidFill>
                  <a:srgbClr val="00b4d8"/>
                </a:solidFill>
                <a:latin typeface="Open Sans Bold"/>
                <a:ea typeface="Open Sans Bold"/>
              </a:rPr>
              <a:t>• </a:t>
            </a:r>
            <a:r>
              <a:rPr b="1" lang="en-US" sz="2800" spc="-1" strike="noStrike">
                <a:solidFill>
                  <a:srgbClr val="00b4d8"/>
                </a:solidFill>
                <a:latin typeface="Open Sans Bold"/>
                <a:ea typeface="Open Sans Bold"/>
              </a:rPr>
              <a:t>RQ5: How have strict data privacy laws (like GDPR or CCPA) shifted and changed corporate cyber security spending and global data strategies?</a:t>
            </a:r>
            <a:endParaRPr b="0" lang="el-GR" sz="2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92" name="Group 2"/>
          <p:cNvGrpSpPr/>
          <p:nvPr/>
        </p:nvGrpSpPr>
        <p:grpSpPr>
          <a:xfrm>
            <a:off x="762120" y="0"/>
            <a:ext cx="56520" cy="10286280"/>
            <a:chOff x="762120" y="0"/>
            <a:chExt cx="56520" cy="10286280"/>
          </a:xfrm>
        </p:grpSpPr>
        <p:sp>
          <p:nvSpPr>
            <p:cNvPr id="93"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ff1493"/>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94" name="TextBox 4"/>
          <p:cNvSpPr/>
          <p:nvPr/>
        </p:nvSpPr>
        <p:spPr>
          <a:xfrm>
            <a:off x="1333440" y="752400"/>
            <a:ext cx="13459320" cy="63792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ff1493"/>
                </a:solidFill>
                <a:latin typeface="DIN Next Bold"/>
                <a:ea typeface="DIN Next Bold"/>
              </a:rPr>
              <a:t>DATA BREACHES &amp; STOCK VALUES</a:t>
            </a:r>
            <a:endParaRPr b="0" lang="el-GR" sz="5020" spc="-1" strike="noStrike">
              <a:solidFill>
                <a:srgbClr val="ffffff"/>
              </a:solidFill>
              <a:latin typeface="Arial"/>
            </a:endParaRPr>
          </a:p>
        </p:txBody>
      </p:sp>
      <p:sp>
        <p:nvSpPr>
          <p:cNvPr id="95" name="AutoShape 5"/>
          <p:cNvSpPr/>
          <p:nvPr/>
        </p:nvSpPr>
        <p:spPr>
          <a:xfrm>
            <a:off x="1333440" y="1390320"/>
            <a:ext cx="5333760" cy="360"/>
          </a:xfrm>
          <a:prstGeom prst="line">
            <a:avLst/>
          </a:prstGeom>
          <a:ln cap="rnd" w="19050">
            <a:solidFill>
              <a:srgbClr val="ff1493"/>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96" name="Freeform 6"/>
          <p:cNvSpPr/>
          <p:nvPr/>
        </p:nvSpPr>
        <p:spPr>
          <a:xfrm>
            <a:off x="3682440" y="762120"/>
            <a:ext cx="10158120" cy="10158120"/>
          </a:xfrm>
          <a:custGeom>
            <a:avLst/>
            <a:gdLst>
              <a:gd name="textAreaLeft" fmla="*/ 0 w 10158120"/>
              <a:gd name="textAreaRight" fmla="*/ 10158840 w 10158120"/>
              <a:gd name="textAreaTop" fmla="*/ 0 h 10158120"/>
              <a:gd name="textAreaBottom" fmla="*/ 10158840 h 10158120"/>
            </a:gdLst>
            <a:ahLst/>
            <a:rect l="textAreaLeft" t="textAreaTop" r="textAreaRight" b="textAreaBottom"/>
            <a:pathLst>
              <a:path w="10158952" h="10158952">
                <a:moveTo>
                  <a:pt x="0" y="0"/>
                </a:moveTo>
                <a:lnTo>
                  <a:pt x="10158952" y="0"/>
                </a:lnTo>
                <a:lnTo>
                  <a:pt x="10158952" y="10158952"/>
                </a:lnTo>
                <a:lnTo>
                  <a:pt x="0" y="10158952"/>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nvGrpSpPr>
          <p:cNvPr id="97" name="Group 7"/>
          <p:cNvGrpSpPr/>
          <p:nvPr/>
        </p:nvGrpSpPr>
        <p:grpSpPr>
          <a:xfrm>
            <a:off x="819000" y="1980360"/>
            <a:ext cx="5726160" cy="2897640"/>
            <a:chOff x="819000" y="1980360"/>
            <a:chExt cx="5726160" cy="2897640"/>
          </a:xfrm>
        </p:grpSpPr>
        <p:sp>
          <p:nvSpPr>
            <p:cNvPr id="98" name="Freeform 8"/>
            <p:cNvSpPr/>
            <p:nvPr/>
          </p:nvSpPr>
          <p:spPr>
            <a:xfrm>
              <a:off x="819000" y="2056320"/>
              <a:ext cx="5726160" cy="2821680"/>
            </a:xfrm>
            <a:custGeom>
              <a:avLst/>
              <a:gdLst>
                <a:gd name="textAreaLeft" fmla="*/ 0 w 5726160"/>
                <a:gd name="textAreaRight" fmla="*/ 5726880 w 5726160"/>
                <a:gd name="textAreaTop" fmla="*/ 0 h 2821680"/>
                <a:gd name="textAreaBottom" fmla="*/ 2822400 h 2821680"/>
              </a:gdLst>
              <a:ahLst/>
              <a:rect l="textAreaLeft" t="textAreaTop" r="textAreaRight" b="textAreaBottom"/>
              <a:pathLst>
                <a:path w="4318000" h="2128180">
                  <a:moveTo>
                    <a:pt x="2159000" y="0"/>
                  </a:moveTo>
                  <a:cubicBezTo>
                    <a:pt x="966617" y="0"/>
                    <a:pt x="0" y="476409"/>
                    <a:pt x="0" y="1064090"/>
                  </a:cubicBezTo>
                  <a:cubicBezTo>
                    <a:pt x="0" y="1651770"/>
                    <a:pt x="966617" y="2128180"/>
                    <a:pt x="2159000" y="2128180"/>
                  </a:cubicBezTo>
                  <a:cubicBezTo>
                    <a:pt x="3351383" y="2128180"/>
                    <a:pt x="4318000" y="1651770"/>
                    <a:pt x="4318000" y="1064090"/>
                  </a:cubicBezTo>
                  <a:cubicBezTo>
                    <a:pt x="4318000" y="47640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99" name="TextBox 9"/>
            <p:cNvSpPr/>
            <p:nvPr/>
          </p:nvSpPr>
          <p:spPr>
            <a:xfrm>
              <a:off x="819000" y="1980360"/>
              <a:ext cx="5726160" cy="28976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Stocks drop significantly within days of a breach disclosure</a:t>
              </a:r>
              <a:endParaRPr b="0" lang="el-GR" sz="3000" spc="-1" strike="noStrike">
                <a:solidFill>
                  <a:srgbClr val="ffffff"/>
                </a:solidFill>
                <a:latin typeface="Arial"/>
              </a:endParaRPr>
            </a:p>
          </p:txBody>
        </p:sp>
      </p:grpSp>
      <p:grpSp>
        <p:nvGrpSpPr>
          <p:cNvPr id="100" name="Group 10"/>
          <p:cNvGrpSpPr/>
          <p:nvPr/>
        </p:nvGrpSpPr>
        <p:grpSpPr>
          <a:xfrm>
            <a:off x="6606720" y="1979640"/>
            <a:ext cx="5785920" cy="2799000"/>
            <a:chOff x="6606720" y="1979640"/>
            <a:chExt cx="5785920" cy="2799000"/>
          </a:xfrm>
        </p:grpSpPr>
        <p:sp>
          <p:nvSpPr>
            <p:cNvPr id="101" name="Freeform 11"/>
            <p:cNvSpPr/>
            <p:nvPr/>
          </p:nvSpPr>
          <p:spPr>
            <a:xfrm>
              <a:off x="6606720" y="2056320"/>
              <a:ext cx="5785920" cy="2722320"/>
            </a:xfrm>
            <a:custGeom>
              <a:avLst/>
              <a:gdLst>
                <a:gd name="textAreaLeft" fmla="*/ 0 w 5785920"/>
                <a:gd name="textAreaRight" fmla="*/ 5786640 w 5785920"/>
                <a:gd name="textAreaTop" fmla="*/ 0 h 2722320"/>
                <a:gd name="textAreaBottom" fmla="*/ 2723040 h 272232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02" name="TextBox 12"/>
            <p:cNvSpPr/>
            <p:nvPr/>
          </p:nvSpPr>
          <p:spPr>
            <a:xfrm>
              <a:off x="6606720" y="1979640"/>
              <a:ext cx="5785920" cy="2799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Volatility stays elevated — investors demand higher risk compensation</a:t>
              </a:r>
              <a:endParaRPr b="0" lang="el-GR" sz="3000" spc="-1" strike="noStrike">
                <a:solidFill>
                  <a:srgbClr val="ffffff"/>
                </a:solidFill>
                <a:latin typeface="Arial"/>
              </a:endParaRPr>
            </a:p>
          </p:txBody>
        </p:sp>
      </p:grpSp>
      <p:grpSp>
        <p:nvGrpSpPr>
          <p:cNvPr id="103" name="Group 13"/>
          <p:cNvGrpSpPr/>
          <p:nvPr/>
        </p:nvGrpSpPr>
        <p:grpSpPr>
          <a:xfrm>
            <a:off x="12485880" y="1980000"/>
            <a:ext cx="5771520" cy="2791800"/>
            <a:chOff x="12485880" y="1980000"/>
            <a:chExt cx="5771520" cy="2791800"/>
          </a:xfrm>
        </p:grpSpPr>
        <p:sp>
          <p:nvSpPr>
            <p:cNvPr id="104" name="Freeform 14"/>
            <p:cNvSpPr/>
            <p:nvPr/>
          </p:nvSpPr>
          <p:spPr>
            <a:xfrm>
              <a:off x="12485880" y="2056320"/>
              <a:ext cx="5771520" cy="2715480"/>
            </a:xfrm>
            <a:custGeom>
              <a:avLst/>
              <a:gdLst>
                <a:gd name="textAreaLeft" fmla="*/ 0 w 5771520"/>
                <a:gd name="textAreaRight" fmla="*/ 5772240 w 5771520"/>
                <a:gd name="textAreaTop" fmla="*/ 0 h 2715480"/>
                <a:gd name="textAreaBottom" fmla="*/ 2716200 h 271548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05" name="TextBox 15"/>
            <p:cNvSpPr/>
            <p:nvPr/>
          </p:nvSpPr>
          <p:spPr>
            <a:xfrm>
              <a:off x="12485880" y="1980000"/>
              <a:ext cx="5771520" cy="27918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Financial and tech firms suffer the steepest market reactions</a:t>
              </a:r>
              <a:endParaRPr b="0" lang="el-GR" sz="3000" spc="-1" strike="noStrike">
                <a:solidFill>
                  <a:srgbClr val="ffffff"/>
                </a:solidFill>
                <a:latin typeface="Arial"/>
              </a:endParaRPr>
            </a:p>
          </p:txBody>
        </p:sp>
      </p:grpSp>
      <p:grpSp>
        <p:nvGrpSpPr>
          <p:cNvPr id="106" name="Group 16"/>
          <p:cNvGrpSpPr/>
          <p:nvPr/>
        </p:nvGrpSpPr>
        <p:grpSpPr>
          <a:xfrm>
            <a:off x="819000" y="5437800"/>
            <a:ext cx="5771520" cy="2792520"/>
            <a:chOff x="819000" y="5437800"/>
            <a:chExt cx="5771520" cy="2792520"/>
          </a:xfrm>
        </p:grpSpPr>
        <p:sp>
          <p:nvSpPr>
            <p:cNvPr id="107" name="Freeform 17"/>
            <p:cNvSpPr/>
            <p:nvPr/>
          </p:nvSpPr>
          <p:spPr>
            <a:xfrm>
              <a:off x="819000" y="5514480"/>
              <a:ext cx="5771520" cy="2715840"/>
            </a:xfrm>
            <a:custGeom>
              <a:avLst/>
              <a:gdLst>
                <a:gd name="textAreaLeft" fmla="*/ 0 w 5771520"/>
                <a:gd name="textAreaRight" fmla="*/ 5772240 w 5771520"/>
                <a:gd name="textAreaTop" fmla="*/ 0 h 2715840"/>
                <a:gd name="textAreaBottom" fmla="*/ 2716560 h 271584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08" name="TextBox 18"/>
            <p:cNvSpPr/>
            <p:nvPr/>
          </p:nvSpPr>
          <p:spPr>
            <a:xfrm>
              <a:off x="819000" y="5437800"/>
              <a:ext cx="5771520" cy="27921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Brand equity erodes fast — Equifax lost ~$4B in one week</a:t>
              </a:r>
              <a:endParaRPr b="0" lang="el-GR" sz="3000" spc="-1" strike="noStrike">
                <a:solidFill>
                  <a:srgbClr val="ffffff"/>
                </a:solidFill>
                <a:latin typeface="Arial"/>
              </a:endParaRPr>
            </a:p>
          </p:txBody>
        </p:sp>
      </p:grpSp>
      <p:grpSp>
        <p:nvGrpSpPr>
          <p:cNvPr id="109" name="Group 19"/>
          <p:cNvGrpSpPr/>
          <p:nvPr/>
        </p:nvGrpSpPr>
        <p:grpSpPr>
          <a:xfrm>
            <a:off x="6743880" y="5497200"/>
            <a:ext cx="5649120" cy="2732760"/>
            <a:chOff x="6743880" y="5497200"/>
            <a:chExt cx="5649120" cy="2732760"/>
          </a:xfrm>
        </p:grpSpPr>
        <p:sp>
          <p:nvSpPr>
            <p:cNvPr id="110" name="Freeform 20"/>
            <p:cNvSpPr/>
            <p:nvPr/>
          </p:nvSpPr>
          <p:spPr>
            <a:xfrm>
              <a:off x="6743880" y="5572080"/>
              <a:ext cx="5649120" cy="2657880"/>
            </a:xfrm>
            <a:custGeom>
              <a:avLst/>
              <a:gdLst>
                <a:gd name="textAreaLeft" fmla="*/ 0 w 5649120"/>
                <a:gd name="textAreaRight" fmla="*/ 5649840 w 5649120"/>
                <a:gd name="textAreaTop" fmla="*/ 0 h 2657880"/>
                <a:gd name="textAreaBottom" fmla="*/ 2658600 h 265788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11" name="TextBox 21"/>
            <p:cNvSpPr/>
            <p:nvPr/>
          </p:nvSpPr>
          <p:spPr>
            <a:xfrm>
              <a:off x="6743880" y="5497200"/>
              <a:ext cx="5649120" cy="27327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Recovery takes 45–60 trading days depending on sector</a:t>
              </a:r>
              <a:endParaRPr b="0" lang="el-GR" sz="3000" spc="-1" strike="noStrike">
                <a:solidFill>
                  <a:srgbClr val="ffffff"/>
                </a:solidFill>
                <a:latin typeface="Arial"/>
              </a:endParaRPr>
            </a:p>
          </p:txBody>
        </p:sp>
      </p:grpSp>
      <p:grpSp>
        <p:nvGrpSpPr>
          <p:cNvPr id="112" name="Group 22"/>
          <p:cNvGrpSpPr/>
          <p:nvPr/>
        </p:nvGrpSpPr>
        <p:grpSpPr>
          <a:xfrm>
            <a:off x="12469680" y="5456880"/>
            <a:ext cx="5732280" cy="2773080"/>
            <a:chOff x="12469680" y="5456880"/>
            <a:chExt cx="5732280" cy="2773080"/>
          </a:xfrm>
        </p:grpSpPr>
        <p:sp>
          <p:nvSpPr>
            <p:cNvPr id="113" name="Freeform 23"/>
            <p:cNvSpPr/>
            <p:nvPr/>
          </p:nvSpPr>
          <p:spPr>
            <a:xfrm>
              <a:off x="12469680" y="5532840"/>
              <a:ext cx="5732280" cy="2697120"/>
            </a:xfrm>
            <a:custGeom>
              <a:avLst/>
              <a:gdLst>
                <a:gd name="textAreaLeft" fmla="*/ 0 w 5732280"/>
                <a:gd name="textAreaRight" fmla="*/ 5733000 w 5732280"/>
                <a:gd name="textAreaTop" fmla="*/ 0 h 2697120"/>
                <a:gd name="textAreaBottom" fmla="*/ 2697840 h 2697120"/>
              </a:gdLst>
              <a:ahLst/>
              <a:rect l="textAreaLeft" t="textAreaTop" r="textAreaRight" b="textAreaBottom"/>
              <a:pathLst>
                <a:path w="4318000" h="2032000">
                  <a:moveTo>
                    <a:pt x="2159000" y="0"/>
                  </a:moveTo>
                  <a:cubicBezTo>
                    <a:pt x="966617" y="0"/>
                    <a:pt x="0" y="454879"/>
                    <a:pt x="0" y="1016000"/>
                  </a:cubicBezTo>
                  <a:cubicBezTo>
                    <a:pt x="0" y="1577121"/>
                    <a:pt x="966617" y="2032000"/>
                    <a:pt x="2159000" y="2032000"/>
                  </a:cubicBezTo>
                  <a:cubicBezTo>
                    <a:pt x="3351383" y="2032000"/>
                    <a:pt x="4318000" y="1577121"/>
                    <a:pt x="4318000" y="1016000"/>
                  </a:cubicBezTo>
                  <a:cubicBezTo>
                    <a:pt x="4318000" y="454879"/>
                    <a:pt x="3351383" y="0"/>
                    <a:pt x="2159000" y="0"/>
                  </a:cubicBezTo>
                  <a:close/>
                </a:path>
              </a:pathLst>
            </a:custGeom>
            <a:solidFill>
              <a:srgbClr val="2d0020"/>
            </a:solidFill>
            <a:ln cap="sq" w="19050">
              <a:solidFill>
                <a:srgbClr val="ff1493"/>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14" name="TextBox 24"/>
            <p:cNvSpPr/>
            <p:nvPr/>
          </p:nvSpPr>
          <p:spPr>
            <a:xfrm>
              <a:off x="12469680" y="5456880"/>
              <a:ext cx="5732280" cy="27730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ff1493"/>
                  </a:solidFill>
                  <a:latin typeface="Open Sans Bold"/>
                  <a:ea typeface="Open Sans Bold"/>
                </a:rPr>
                <a:t>Cybersecurity spending is a risk-reduction investment, not a sunk cost</a:t>
              </a:r>
              <a:endParaRPr b="0" lang="el-GR"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115" name="Group 2"/>
          <p:cNvGrpSpPr/>
          <p:nvPr/>
        </p:nvGrpSpPr>
        <p:grpSpPr>
          <a:xfrm>
            <a:off x="762120" y="0"/>
            <a:ext cx="56520" cy="10286280"/>
            <a:chOff x="762120" y="0"/>
            <a:chExt cx="56520" cy="10286280"/>
          </a:xfrm>
        </p:grpSpPr>
        <p:sp>
          <p:nvSpPr>
            <p:cNvPr id="116"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b44dff"/>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117" name="TextBox 4"/>
          <p:cNvSpPr/>
          <p:nvPr/>
        </p:nvSpPr>
        <p:spPr>
          <a:xfrm>
            <a:off x="1333440" y="752400"/>
            <a:ext cx="14138280" cy="63828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7e16c9"/>
                </a:solidFill>
                <a:latin typeface="DIN Next Bold"/>
                <a:ea typeface="DIN Next Bold"/>
              </a:rPr>
              <a:t>REDUCING PHISHING VULNERABILITY</a:t>
            </a:r>
            <a:endParaRPr b="0" lang="el-GR" sz="5020" spc="-1" strike="noStrike">
              <a:solidFill>
                <a:srgbClr val="ffffff"/>
              </a:solidFill>
              <a:latin typeface="Arial"/>
            </a:endParaRPr>
          </a:p>
        </p:txBody>
      </p:sp>
      <p:sp>
        <p:nvSpPr>
          <p:cNvPr id="118" name="AutoShape 5"/>
          <p:cNvSpPr/>
          <p:nvPr/>
        </p:nvSpPr>
        <p:spPr>
          <a:xfrm>
            <a:off x="1316880" y="1335600"/>
            <a:ext cx="5333760" cy="360"/>
          </a:xfrm>
          <a:prstGeom prst="line">
            <a:avLst/>
          </a:prstGeom>
          <a:ln cap="rnd" w="19050">
            <a:solidFill>
              <a:srgbClr val="b44dff"/>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119" name="Freeform 6"/>
          <p:cNvSpPr/>
          <p:nvPr/>
        </p:nvSpPr>
        <p:spPr>
          <a:xfrm>
            <a:off x="3302640" y="601560"/>
            <a:ext cx="10988280" cy="10988280"/>
          </a:xfrm>
          <a:custGeom>
            <a:avLst/>
            <a:gdLst>
              <a:gd name="textAreaLeft" fmla="*/ 0 w 10988280"/>
              <a:gd name="textAreaRight" fmla="*/ 10989000 w 10988280"/>
              <a:gd name="textAreaTop" fmla="*/ 0 h 10988280"/>
              <a:gd name="textAreaBottom" fmla="*/ 10989000 h 10988280"/>
            </a:gdLst>
            <a:ahLst/>
            <a:rect l="textAreaLeft" t="textAreaTop" r="textAreaRight" b="textAreaBottom"/>
            <a:pathLst>
              <a:path w="10989154" h="10989154">
                <a:moveTo>
                  <a:pt x="0" y="0"/>
                </a:moveTo>
                <a:lnTo>
                  <a:pt x="10989154" y="0"/>
                </a:lnTo>
                <a:lnTo>
                  <a:pt x="10989154" y="10989154"/>
                </a:lnTo>
                <a:lnTo>
                  <a:pt x="0" y="10989154"/>
                </a:lnTo>
                <a:lnTo>
                  <a:pt x="0" y="0"/>
                </a:lnTo>
                <a:close/>
              </a:path>
            </a:pathLst>
          </a:custGeom>
          <a:blipFill rotWithShape="0">
            <a:blip r:embed="rId1">
              <a:alphaModFix amt="7500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nvGrpSpPr>
          <p:cNvPr id="120" name="Group 7"/>
          <p:cNvGrpSpPr/>
          <p:nvPr/>
        </p:nvGrpSpPr>
        <p:grpSpPr>
          <a:xfrm>
            <a:off x="952560" y="1957320"/>
            <a:ext cx="5333400" cy="3852000"/>
            <a:chOff x="952560" y="1957320"/>
            <a:chExt cx="5333400" cy="3852000"/>
          </a:xfrm>
        </p:grpSpPr>
        <p:sp>
          <p:nvSpPr>
            <p:cNvPr id="121" name="Freeform 8"/>
            <p:cNvSpPr/>
            <p:nvPr/>
          </p:nvSpPr>
          <p:spPr>
            <a:xfrm>
              <a:off x="952560" y="200016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22" name="TextBox 9"/>
            <p:cNvSpPr/>
            <p:nvPr/>
          </p:nvSpPr>
          <p:spPr>
            <a:xfrm>
              <a:off x="952560" y="195732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Phishing exploits human weaknesses — stress, fatigue, and risk-taking increase clicks</a:t>
              </a:r>
              <a:endParaRPr b="0" lang="el-GR" sz="3000" spc="-1" strike="noStrike">
                <a:solidFill>
                  <a:srgbClr val="ffffff"/>
                </a:solidFill>
                <a:latin typeface="Arial"/>
              </a:endParaRPr>
            </a:p>
          </p:txBody>
        </p:sp>
      </p:grpSp>
      <p:grpSp>
        <p:nvGrpSpPr>
          <p:cNvPr id="123" name="Group 10"/>
          <p:cNvGrpSpPr/>
          <p:nvPr/>
        </p:nvGrpSpPr>
        <p:grpSpPr>
          <a:xfrm>
            <a:off x="6477120" y="1957320"/>
            <a:ext cx="5333400" cy="3852000"/>
            <a:chOff x="6477120" y="1957320"/>
            <a:chExt cx="5333400" cy="3852000"/>
          </a:xfrm>
        </p:grpSpPr>
        <p:sp>
          <p:nvSpPr>
            <p:cNvPr id="124" name="Freeform 11"/>
            <p:cNvSpPr/>
            <p:nvPr/>
          </p:nvSpPr>
          <p:spPr>
            <a:xfrm>
              <a:off x="6477120" y="200016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25" name="TextBox 12"/>
            <p:cNvSpPr/>
            <p:nvPr/>
          </p:nvSpPr>
          <p:spPr>
            <a:xfrm>
              <a:off x="6477120" y="195732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Continuous simulations beat annual training — lower click rates and better retention</a:t>
              </a:r>
              <a:endParaRPr b="0" lang="el-GR" sz="3000" spc="-1" strike="noStrike">
                <a:solidFill>
                  <a:srgbClr val="ffffff"/>
                </a:solidFill>
                <a:latin typeface="Arial"/>
              </a:endParaRPr>
            </a:p>
          </p:txBody>
        </p:sp>
      </p:grpSp>
      <p:grpSp>
        <p:nvGrpSpPr>
          <p:cNvPr id="126" name="Group 13"/>
          <p:cNvGrpSpPr/>
          <p:nvPr/>
        </p:nvGrpSpPr>
        <p:grpSpPr>
          <a:xfrm>
            <a:off x="12001680" y="1957320"/>
            <a:ext cx="5333400" cy="3852000"/>
            <a:chOff x="12001680" y="1957320"/>
            <a:chExt cx="5333400" cy="3852000"/>
          </a:xfrm>
        </p:grpSpPr>
        <p:sp>
          <p:nvSpPr>
            <p:cNvPr id="127" name="Freeform 14"/>
            <p:cNvSpPr/>
            <p:nvPr/>
          </p:nvSpPr>
          <p:spPr>
            <a:xfrm>
              <a:off x="12001680" y="200016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28" name="TextBox 15"/>
            <p:cNvSpPr/>
            <p:nvPr/>
          </p:nvSpPr>
          <p:spPr>
            <a:xfrm>
              <a:off x="12001680" y="195732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Deep-learning models (Transformers) detect phishing at ~97% accuracy</a:t>
              </a:r>
              <a:endParaRPr b="0" lang="el-GR" sz="3000" spc="-1" strike="noStrike">
                <a:solidFill>
                  <a:srgbClr val="ffffff"/>
                </a:solidFill>
                <a:latin typeface="Arial"/>
              </a:endParaRPr>
            </a:p>
          </p:txBody>
        </p:sp>
      </p:grpSp>
      <p:grpSp>
        <p:nvGrpSpPr>
          <p:cNvPr id="129" name="Group 16"/>
          <p:cNvGrpSpPr/>
          <p:nvPr/>
        </p:nvGrpSpPr>
        <p:grpSpPr>
          <a:xfrm>
            <a:off x="952560" y="6091200"/>
            <a:ext cx="5333400" cy="3852000"/>
            <a:chOff x="952560" y="6091200"/>
            <a:chExt cx="5333400" cy="3852000"/>
          </a:xfrm>
        </p:grpSpPr>
        <p:sp>
          <p:nvSpPr>
            <p:cNvPr id="130" name="Freeform 17"/>
            <p:cNvSpPr/>
            <p:nvPr/>
          </p:nvSpPr>
          <p:spPr>
            <a:xfrm>
              <a:off x="952560" y="613404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31" name="TextBox 18"/>
            <p:cNvSpPr/>
            <p:nvPr/>
          </p:nvSpPr>
          <p:spPr>
            <a:xfrm>
              <a:off x="952560" y="609120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DevSecOps approach embeds security early and improves user engagement</a:t>
              </a:r>
              <a:endParaRPr b="0" lang="el-GR" sz="3000" spc="-1" strike="noStrike">
                <a:solidFill>
                  <a:srgbClr val="ffffff"/>
                </a:solidFill>
                <a:latin typeface="Arial"/>
              </a:endParaRPr>
            </a:p>
          </p:txBody>
        </p:sp>
      </p:grpSp>
      <p:grpSp>
        <p:nvGrpSpPr>
          <p:cNvPr id="132" name="Group 19"/>
          <p:cNvGrpSpPr/>
          <p:nvPr/>
        </p:nvGrpSpPr>
        <p:grpSpPr>
          <a:xfrm>
            <a:off x="6477120" y="6053040"/>
            <a:ext cx="5333400" cy="3852000"/>
            <a:chOff x="6477120" y="6053040"/>
            <a:chExt cx="5333400" cy="3852000"/>
          </a:xfrm>
        </p:grpSpPr>
        <p:sp>
          <p:nvSpPr>
            <p:cNvPr id="133" name="Freeform 20"/>
            <p:cNvSpPr/>
            <p:nvPr/>
          </p:nvSpPr>
          <p:spPr>
            <a:xfrm>
              <a:off x="6477120" y="609588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34" name="TextBox 21"/>
            <p:cNvSpPr/>
            <p:nvPr/>
          </p:nvSpPr>
          <p:spPr>
            <a:xfrm>
              <a:off x="6477120" y="605304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Strong security culture at work transfers good habits to home behavior</a:t>
              </a:r>
              <a:endParaRPr b="0" lang="el-GR" sz="3000" spc="-1" strike="noStrike">
                <a:solidFill>
                  <a:srgbClr val="ffffff"/>
                </a:solidFill>
                <a:latin typeface="Arial"/>
              </a:endParaRPr>
            </a:p>
          </p:txBody>
        </p:sp>
      </p:grpSp>
      <p:grpSp>
        <p:nvGrpSpPr>
          <p:cNvPr id="135" name="Group 22"/>
          <p:cNvGrpSpPr/>
          <p:nvPr/>
        </p:nvGrpSpPr>
        <p:grpSpPr>
          <a:xfrm>
            <a:off x="12001680" y="6053040"/>
            <a:ext cx="5333400" cy="3852000"/>
            <a:chOff x="12001680" y="6053040"/>
            <a:chExt cx="5333400" cy="3852000"/>
          </a:xfrm>
        </p:grpSpPr>
        <p:sp>
          <p:nvSpPr>
            <p:cNvPr id="136" name="Freeform 23"/>
            <p:cNvSpPr/>
            <p:nvPr/>
          </p:nvSpPr>
          <p:spPr>
            <a:xfrm>
              <a:off x="12001680" y="609588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2a0845"/>
            </a:solidFill>
            <a:ln cap="sq" w="19050">
              <a:solidFill>
                <a:srgbClr val="b44d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37" name="TextBox 24"/>
            <p:cNvSpPr/>
            <p:nvPr/>
          </p:nvSpPr>
          <p:spPr>
            <a:xfrm>
              <a:off x="12001680" y="605304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4201"/>
                </a:lnSpc>
                <a:tabLst>
                  <a:tab algn="l" pos="0"/>
                </a:tabLst>
              </a:pPr>
              <a:r>
                <a:rPr b="1" lang="en-US" sz="3000" spc="-1" strike="noStrike">
                  <a:solidFill>
                    <a:srgbClr val="b44dff"/>
                  </a:solidFill>
                  <a:latin typeface="Open Sans Bold"/>
                  <a:ea typeface="Open Sans Bold"/>
                </a:rPr>
                <a:t>Proposed HCPD framework unites AI detection, psychology profiling, and governance</a:t>
              </a:r>
              <a:endParaRPr b="0" lang="el-GR" sz="30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138" name="Group 2"/>
          <p:cNvGrpSpPr/>
          <p:nvPr/>
        </p:nvGrpSpPr>
        <p:grpSpPr>
          <a:xfrm>
            <a:off x="762120" y="0"/>
            <a:ext cx="56520" cy="10286280"/>
            <a:chOff x="762120" y="0"/>
            <a:chExt cx="56520" cy="10286280"/>
          </a:xfrm>
        </p:grpSpPr>
        <p:sp>
          <p:nvSpPr>
            <p:cNvPr id="139"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d4ff"/>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140" name="TextBox 4"/>
          <p:cNvSpPr/>
          <p:nvPr/>
        </p:nvSpPr>
        <p:spPr>
          <a:xfrm>
            <a:off x="1333440" y="752400"/>
            <a:ext cx="13334400" cy="63756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00b8e6"/>
                </a:solidFill>
                <a:latin typeface="DIN Next Bold"/>
                <a:ea typeface="DIN Next Bold"/>
              </a:rPr>
              <a:t>SME CYBER VULNERABILITY</a:t>
            </a:r>
            <a:endParaRPr b="0" lang="el-GR" sz="5020" spc="-1" strike="noStrike">
              <a:solidFill>
                <a:srgbClr val="ffffff"/>
              </a:solidFill>
              <a:latin typeface="Arial"/>
            </a:endParaRPr>
          </a:p>
        </p:txBody>
      </p:sp>
      <p:sp>
        <p:nvSpPr>
          <p:cNvPr id="141" name="AutoShape 5"/>
          <p:cNvSpPr/>
          <p:nvPr/>
        </p:nvSpPr>
        <p:spPr>
          <a:xfrm>
            <a:off x="1333440" y="1389960"/>
            <a:ext cx="5333760" cy="360"/>
          </a:xfrm>
          <a:prstGeom prst="line">
            <a:avLst/>
          </a:prstGeom>
          <a:ln cap="rnd" w="19050">
            <a:solidFill>
              <a:srgbClr val="00d4ff"/>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grpSp>
        <p:nvGrpSpPr>
          <p:cNvPr id="142" name="Group 6"/>
          <p:cNvGrpSpPr/>
          <p:nvPr/>
        </p:nvGrpSpPr>
        <p:grpSpPr>
          <a:xfrm>
            <a:off x="952560" y="1862280"/>
            <a:ext cx="5333400" cy="3852000"/>
            <a:chOff x="952560" y="1862280"/>
            <a:chExt cx="5333400" cy="3852000"/>
          </a:xfrm>
        </p:grpSpPr>
        <p:sp>
          <p:nvSpPr>
            <p:cNvPr id="143" name="Freeform 7"/>
            <p:cNvSpPr/>
            <p:nvPr/>
          </p:nvSpPr>
          <p:spPr>
            <a:xfrm>
              <a:off x="952560" y="190512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44" name="TextBox 8"/>
            <p:cNvSpPr/>
            <p:nvPr/>
          </p:nvSpPr>
          <p:spPr>
            <a:xfrm>
              <a:off x="952560" y="186228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SMEs are 90%+ of businesses but lack budget, staff, and awareness for cybersecurity</a:t>
              </a:r>
              <a:endParaRPr b="0" lang="el-GR" sz="2800" spc="-1" strike="noStrike">
                <a:solidFill>
                  <a:srgbClr val="ffffff"/>
                </a:solidFill>
                <a:latin typeface="Arial"/>
              </a:endParaRPr>
            </a:p>
          </p:txBody>
        </p:sp>
      </p:grpSp>
      <p:grpSp>
        <p:nvGrpSpPr>
          <p:cNvPr id="145" name="Group 9"/>
          <p:cNvGrpSpPr/>
          <p:nvPr/>
        </p:nvGrpSpPr>
        <p:grpSpPr>
          <a:xfrm>
            <a:off x="6477120" y="1862280"/>
            <a:ext cx="5333400" cy="3852000"/>
            <a:chOff x="6477120" y="1862280"/>
            <a:chExt cx="5333400" cy="3852000"/>
          </a:xfrm>
        </p:grpSpPr>
        <p:sp>
          <p:nvSpPr>
            <p:cNvPr id="146" name="Freeform 10"/>
            <p:cNvSpPr/>
            <p:nvPr/>
          </p:nvSpPr>
          <p:spPr>
            <a:xfrm>
              <a:off x="6477120" y="190512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47" name="TextBox 11"/>
            <p:cNvSpPr/>
            <p:nvPr/>
          </p:nvSpPr>
          <p:spPr>
            <a:xfrm>
              <a:off x="6477120" y="186228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Phishing and ransomware exploit untrained staff — insider threats worsen without policies</a:t>
              </a:r>
              <a:endParaRPr b="0" lang="el-GR" sz="2800" spc="-1" strike="noStrike">
                <a:solidFill>
                  <a:srgbClr val="ffffff"/>
                </a:solidFill>
                <a:latin typeface="Arial"/>
              </a:endParaRPr>
            </a:p>
          </p:txBody>
        </p:sp>
      </p:grpSp>
      <p:grpSp>
        <p:nvGrpSpPr>
          <p:cNvPr id="148" name="Group 12"/>
          <p:cNvGrpSpPr/>
          <p:nvPr/>
        </p:nvGrpSpPr>
        <p:grpSpPr>
          <a:xfrm>
            <a:off x="12001680" y="1862280"/>
            <a:ext cx="5333400" cy="3852000"/>
            <a:chOff x="12001680" y="1862280"/>
            <a:chExt cx="5333400" cy="3852000"/>
          </a:xfrm>
        </p:grpSpPr>
        <p:sp>
          <p:nvSpPr>
            <p:cNvPr id="149" name="Freeform 13"/>
            <p:cNvSpPr/>
            <p:nvPr/>
          </p:nvSpPr>
          <p:spPr>
            <a:xfrm>
              <a:off x="12001680" y="190512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50" name="TextBox 14"/>
            <p:cNvSpPr/>
            <p:nvPr/>
          </p:nvSpPr>
          <p:spPr>
            <a:xfrm>
              <a:off x="12001680" y="186228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Security ROI is invisible until a breach — SMEs stay reactive, not proactive</a:t>
              </a:r>
              <a:endParaRPr b="0" lang="el-GR" sz="2800" spc="-1" strike="noStrike">
                <a:solidFill>
                  <a:srgbClr val="ffffff"/>
                </a:solidFill>
                <a:latin typeface="Arial"/>
              </a:endParaRPr>
            </a:p>
          </p:txBody>
        </p:sp>
      </p:grpSp>
      <p:grpSp>
        <p:nvGrpSpPr>
          <p:cNvPr id="151" name="Group 15"/>
          <p:cNvGrpSpPr/>
          <p:nvPr/>
        </p:nvGrpSpPr>
        <p:grpSpPr>
          <a:xfrm>
            <a:off x="952560" y="5996160"/>
            <a:ext cx="5333400" cy="3852000"/>
            <a:chOff x="952560" y="5996160"/>
            <a:chExt cx="5333400" cy="3852000"/>
          </a:xfrm>
        </p:grpSpPr>
        <p:sp>
          <p:nvSpPr>
            <p:cNvPr id="152" name="Freeform 16"/>
            <p:cNvSpPr/>
            <p:nvPr/>
          </p:nvSpPr>
          <p:spPr>
            <a:xfrm>
              <a:off x="952560" y="603900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53" name="TextBox 17"/>
            <p:cNvSpPr/>
            <p:nvPr/>
          </p:nvSpPr>
          <p:spPr>
            <a:xfrm>
              <a:off x="952560" y="599616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58% of attacks hit SMEs to infiltrate larger supply chains — a systemic risk</a:t>
              </a:r>
              <a:endParaRPr b="0" lang="el-GR" sz="2800" spc="-1" strike="noStrike">
                <a:solidFill>
                  <a:srgbClr val="ffffff"/>
                </a:solidFill>
                <a:latin typeface="Arial"/>
              </a:endParaRPr>
            </a:p>
          </p:txBody>
        </p:sp>
      </p:grpSp>
      <p:grpSp>
        <p:nvGrpSpPr>
          <p:cNvPr id="154" name="Group 18"/>
          <p:cNvGrpSpPr/>
          <p:nvPr/>
        </p:nvGrpSpPr>
        <p:grpSpPr>
          <a:xfrm>
            <a:off x="6477120" y="5996160"/>
            <a:ext cx="5333400" cy="3852000"/>
            <a:chOff x="6477120" y="5996160"/>
            <a:chExt cx="5333400" cy="3852000"/>
          </a:xfrm>
        </p:grpSpPr>
        <p:sp>
          <p:nvSpPr>
            <p:cNvPr id="155" name="Freeform 19"/>
            <p:cNvSpPr/>
            <p:nvPr/>
          </p:nvSpPr>
          <p:spPr>
            <a:xfrm>
              <a:off x="6477120" y="603900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56" name="TextBox 20"/>
            <p:cNvSpPr/>
            <p:nvPr/>
          </p:nvSpPr>
          <p:spPr>
            <a:xfrm>
              <a:off x="6477120" y="599616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MSSPs are built for enterprises — too complex and expensive for small businesses</a:t>
              </a:r>
              <a:endParaRPr b="0" lang="el-GR" sz="2800" spc="-1" strike="noStrike">
                <a:solidFill>
                  <a:srgbClr val="ffffff"/>
                </a:solidFill>
                <a:latin typeface="Arial"/>
              </a:endParaRPr>
            </a:p>
          </p:txBody>
        </p:sp>
      </p:grpSp>
      <p:grpSp>
        <p:nvGrpSpPr>
          <p:cNvPr id="157" name="Group 21"/>
          <p:cNvGrpSpPr/>
          <p:nvPr/>
        </p:nvGrpSpPr>
        <p:grpSpPr>
          <a:xfrm>
            <a:off x="11925360" y="5996160"/>
            <a:ext cx="5333400" cy="3743280"/>
            <a:chOff x="11925360" y="5996160"/>
            <a:chExt cx="5333400" cy="3743280"/>
          </a:xfrm>
        </p:grpSpPr>
        <p:sp>
          <p:nvSpPr>
            <p:cNvPr id="158" name="Freeform 22"/>
            <p:cNvSpPr/>
            <p:nvPr/>
          </p:nvSpPr>
          <p:spPr>
            <a:xfrm>
              <a:off x="11925360" y="6039000"/>
              <a:ext cx="5333400" cy="3700440"/>
            </a:xfrm>
            <a:custGeom>
              <a:avLst/>
              <a:gdLst>
                <a:gd name="textAreaLeft" fmla="*/ 0 w 5333400"/>
                <a:gd name="textAreaRight" fmla="*/ 5334120 w 5333400"/>
                <a:gd name="textAreaTop" fmla="*/ 0 h 3700440"/>
                <a:gd name="textAreaBottom" fmla="*/ 3701160 h 3700440"/>
              </a:gdLst>
              <a:ahLst/>
              <a:rect l="textAreaLeft" t="textAreaTop" r="textAreaRight" b="textAreaBottom"/>
              <a:pathLst>
                <a:path w="7112000" h="4934864">
                  <a:moveTo>
                    <a:pt x="3556000" y="0"/>
                  </a:moveTo>
                  <a:cubicBezTo>
                    <a:pt x="1592075" y="0"/>
                    <a:pt x="0" y="1104707"/>
                    <a:pt x="0" y="2467432"/>
                  </a:cubicBezTo>
                  <a:cubicBezTo>
                    <a:pt x="0" y="3830157"/>
                    <a:pt x="1592075" y="4934864"/>
                    <a:pt x="3556000" y="4934864"/>
                  </a:cubicBezTo>
                  <a:cubicBezTo>
                    <a:pt x="5519924" y="4934864"/>
                    <a:pt x="7112000" y="3830157"/>
                    <a:pt x="7112000" y="2467432"/>
                  </a:cubicBezTo>
                  <a:cubicBezTo>
                    <a:pt x="7112000" y="1104707"/>
                    <a:pt x="5519924" y="0"/>
                    <a:pt x="3556000" y="0"/>
                  </a:cubicBezTo>
                  <a:close/>
                </a:path>
              </a:pathLst>
            </a:custGeom>
            <a:solidFill>
              <a:srgbClr val="001a2e"/>
            </a:solidFill>
            <a:ln cap="sq" w="19050">
              <a:solidFill>
                <a:srgbClr val="00d4ff"/>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59" name="TextBox 23"/>
            <p:cNvSpPr/>
            <p:nvPr/>
          </p:nvSpPr>
          <p:spPr>
            <a:xfrm>
              <a:off x="11925360" y="5996160"/>
              <a:ext cx="5333400" cy="37432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d4ff"/>
                  </a:solidFill>
                  <a:latin typeface="Open Sans Bold"/>
                  <a:ea typeface="Open Sans Bold"/>
                </a:rPr>
                <a:t>Solution: government-supported, SME-tailored services prioritizing core protections</a:t>
              </a:r>
              <a:endParaRPr b="0" lang="el-GR" sz="2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60d1a"/>
        </a:solidFill>
      </p:bgPr>
    </p:bg>
    <p:spTree>
      <p:nvGrpSpPr>
        <p:cNvPr id="1" name=""/>
        <p:cNvGrpSpPr/>
        <p:nvPr/>
      </p:nvGrpSpPr>
      <p:grpSpPr>
        <a:xfrm>
          <a:off x="0" y="0"/>
          <a:ext cx="0" cy="0"/>
          <a:chOff x="0" y="0"/>
          <a:chExt cx="0" cy="0"/>
        </a:xfrm>
      </p:grpSpPr>
      <p:grpSp>
        <p:nvGrpSpPr>
          <p:cNvPr id="160" name="Group 2"/>
          <p:cNvGrpSpPr/>
          <p:nvPr/>
        </p:nvGrpSpPr>
        <p:grpSpPr>
          <a:xfrm>
            <a:off x="762120" y="0"/>
            <a:ext cx="56520" cy="10286280"/>
            <a:chOff x="762120" y="0"/>
            <a:chExt cx="56520" cy="10286280"/>
          </a:xfrm>
        </p:grpSpPr>
        <p:sp>
          <p:nvSpPr>
            <p:cNvPr id="161"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77b6"/>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162" name="TextBox 4"/>
          <p:cNvSpPr/>
          <p:nvPr/>
        </p:nvSpPr>
        <p:spPr>
          <a:xfrm>
            <a:off x="1333440" y="752400"/>
            <a:ext cx="13334400" cy="63756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0099dd"/>
                </a:solidFill>
                <a:latin typeface="DIN Next Bold"/>
                <a:ea typeface="DIN Next Bold"/>
              </a:rPr>
              <a:t>AI &amp; CORPORATE PHISHING</a:t>
            </a:r>
            <a:endParaRPr b="0" lang="el-GR" sz="5020" spc="-1" strike="noStrike">
              <a:solidFill>
                <a:srgbClr val="ffffff"/>
              </a:solidFill>
              <a:latin typeface="Arial"/>
            </a:endParaRPr>
          </a:p>
        </p:txBody>
      </p:sp>
      <p:sp>
        <p:nvSpPr>
          <p:cNvPr id="163" name="AutoShape 5"/>
          <p:cNvSpPr/>
          <p:nvPr/>
        </p:nvSpPr>
        <p:spPr>
          <a:xfrm>
            <a:off x="1333440" y="1389960"/>
            <a:ext cx="5333760" cy="360"/>
          </a:xfrm>
          <a:prstGeom prst="line">
            <a:avLst/>
          </a:prstGeom>
          <a:ln cap="rnd" w="19050">
            <a:solidFill>
              <a:srgbClr val="0077b6"/>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grpSp>
        <p:nvGrpSpPr>
          <p:cNvPr id="164" name="Group 6"/>
          <p:cNvGrpSpPr/>
          <p:nvPr/>
        </p:nvGrpSpPr>
        <p:grpSpPr>
          <a:xfrm>
            <a:off x="952560" y="1862280"/>
            <a:ext cx="5333400" cy="3852000"/>
            <a:chOff x="952560" y="1862280"/>
            <a:chExt cx="5333400" cy="3852000"/>
          </a:xfrm>
        </p:grpSpPr>
        <p:sp>
          <p:nvSpPr>
            <p:cNvPr id="165" name="Freeform 7"/>
            <p:cNvSpPr/>
            <p:nvPr/>
          </p:nvSpPr>
          <p:spPr>
            <a:xfrm>
              <a:off x="952560" y="190512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66" name="TextBox 8"/>
            <p:cNvSpPr/>
            <p:nvPr/>
          </p:nvSpPr>
          <p:spPr>
            <a:xfrm>
              <a:off x="952560" y="186228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AI generates personalized phishing at scale — 82.6% of phishing emails in 2025 showed AI content</a:t>
              </a:r>
              <a:endParaRPr b="0" lang="el-GR" sz="2800" spc="-1" strike="noStrike">
                <a:solidFill>
                  <a:srgbClr val="ffffff"/>
                </a:solidFill>
                <a:latin typeface="Arial"/>
              </a:endParaRPr>
            </a:p>
          </p:txBody>
        </p:sp>
      </p:grpSp>
      <p:grpSp>
        <p:nvGrpSpPr>
          <p:cNvPr id="167" name="Group 9"/>
          <p:cNvGrpSpPr/>
          <p:nvPr/>
        </p:nvGrpSpPr>
        <p:grpSpPr>
          <a:xfrm>
            <a:off x="6477120" y="1862280"/>
            <a:ext cx="5333400" cy="3852000"/>
            <a:chOff x="6477120" y="1862280"/>
            <a:chExt cx="5333400" cy="3852000"/>
          </a:xfrm>
        </p:grpSpPr>
        <p:sp>
          <p:nvSpPr>
            <p:cNvPr id="168" name="Freeform 10"/>
            <p:cNvSpPr/>
            <p:nvPr/>
          </p:nvSpPr>
          <p:spPr>
            <a:xfrm>
              <a:off x="6477120" y="190512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69" name="TextBox 11"/>
            <p:cNvSpPr/>
            <p:nvPr/>
          </p:nvSpPr>
          <p:spPr>
            <a:xfrm>
              <a:off x="6477120" y="186228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LLMs produce perfect grammar, making old red flags obsolete — deepfakes clone executive voices</a:t>
              </a:r>
              <a:endParaRPr b="0" lang="el-GR" sz="2800" spc="-1" strike="noStrike">
                <a:solidFill>
                  <a:srgbClr val="ffffff"/>
                </a:solidFill>
                <a:latin typeface="Arial"/>
              </a:endParaRPr>
            </a:p>
          </p:txBody>
        </p:sp>
      </p:grpSp>
      <p:grpSp>
        <p:nvGrpSpPr>
          <p:cNvPr id="170" name="Group 12"/>
          <p:cNvGrpSpPr/>
          <p:nvPr/>
        </p:nvGrpSpPr>
        <p:grpSpPr>
          <a:xfrm>
            <a:off x="12001680" y="1862280"/>
            <a:ext cx="5333400" cy="3852000"/>
            <a:chOff x="12001680" y="1862280"/>
            <a:chExt cx="5333400" cy="3852000"/>
          </a:xfrm>
        </p:grpSpPr>
        <p:sp>
          <p:nvSpPr>
            <p:cNvPr id="171" name="Freeform 13"/>
            <p:cNvSpPr/>
            <p:nvPr/>
          </p:nvSpPr>
          <p:spPr>
            <a:xfrm>
              <a:off x="12001680" y="190512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72" name="TextBox 14"/>
            <p:cNvSpPr/>
            <p:nvPr/>
          </p:nvSpPr>
          <p:spPr>
            <a:xfrm>
              <a:off x="12001680" y="186228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AI spear-phishing hits 54% click-through vs 12% for generic — 350% more effective than traditional</a:t>
              </a:r>
              <a:endParaRPr b="0" lang="el-GR" sz="2800" spc="-1" strike="noStrike">
                <a:solidFill>
                  <a:srgbClr val="ffffff"/>
                </a:solidFill>
                <a:latin typeface="Arial"/>
              </a:endParaRPr>
            </a:p>
          </p:txBody>
        </p:sp>
      </p:grpSp>
      <p:grpSp>
        <p:nvGrpSpPr>
          <p:cNvPr id="173" name="Group 15"/>
          <p:cNvGrpSpPr/>
          <p:nvPr/>
        </p:nvGrpSpPr>
        <p:grpSpPr>
          <a:xfrm>
            <a:off x="952560" y="5996160"/>
            <a:ext cx="5333400" cy="3852000"/>
            <a:chOff x="952560" y="5996160"/>
            <a:chExt cx="5333400" cy="3852000"/>
          </a:xfrm>
        </p:grpSpPr>
        <p:sp>
          <p:nvSpPr>
            <p:cNvPr id="174" name="Freeform 16"/>
            <p:cNvSpPr/>
            <p:nvPr/>
          </p:nvSpPr>
          <p:spPr>
            <a:xfrm>
              <a:off x="952560" y="603900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75" name="TextBox 17"/>
            <p:cNvSpPr/>
            <p:nvPr/>
          </p:nvSpPr>
          <p:spPr>
            <a:xfrm>
              <a:off x="952560" y="599616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ML defenders detect subtle threats traditional rules miss — behavioral analysis flags anomalies</a:t>
              </a:r>
              <a:endParaRPr b="0" lang="el-GR" sz="2800" spc="-1" strike="noStrike">
                <a:solidFill>
                  <a:srgbClr val="ffffff"/>
                </a:solidFill>
                <a:latin typeface="Arial"/>
              </a:endParaRPr>
            </a:p>
          </p:txBody>
        </p:sp>
      </p:grpSp>
      <p:grpSp>
        <p:nvGrpSpPr>
          <p:cNvPr id="176" name="Group 18"/>
          <p:cNvGrpSpPr/>
          <p:nvPr/>
        </p:nvGrpSpPr>
        <p:grpSpPr>
          <a:xfrm>
            <a:off x="6477120" y="5996160"/>
            <a:ext cx="5333400" cy="3852000"/>
            <a:chOff x="6477120" y="5996160"/>
            <a:chExt cx="5333400" cy="3852000"/>
          </a:xfrm>
        </p:grpSpPr>
        <p:sp>
          <p:nvSpPr>
            <p:cNvPr id="177" name="Freeform 19"/>
            <p:cNvSpPr/>
            <p:nvPr/>
          </p:nvSpPr>
          <p:spPr>
            <a:xfrm>
              <a:off x="6477120" y="603900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78" name="TextBox 20"/>
            <p:cNvSpPr/>
            <p:nvPr/>
          </p:nvSpPr>
          <p:spPr>
            <a:xfrm>
              <a:off x="6477120" y="599616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Automated response isolates compromised accounts in real time — reinforcement learning improves over time</a:t>
              </a:r>
              <a:endParaRPr b="0" lang="el-GR" sz="2800" spc="-1" strike="noStrike">
                <a:solidFill>
                  <a:srgbClr val="ffffff"/>
                </a:solidFill>
                <a:latin typeface="Arial"/>
              </a:endParaRPr>
            </a:p>
          </p:txBody>
        </p:sp>
      </p:grpSp>
      <p:grpSp>
        <p:nvGrpSpPr>
          <p:cNvPr id="179" name="Group 21"/>
          <p:cNvGrpSpPr/>
          <p:nvPr/>
        </p:nvGrpSpPr>
        <p:grpSpPr>
          <a:xfrm>
            <a:off x="12001680" y="5996160"/>
            <a:ext cx="5333400" cy="3852000"/>
            <a:chOff x="12001680" y="5996160"/>
            <a:chExt cx="5333400" cy="3852000"/>
          </a:xfrm>
        </p:grpSpPr>
        <p:sp>
          <p:nvSpPr>
            <p:cNvPr id="180" name="Freeform 22"/>
            <p:cNvSpPr/>
            <p:nvPr/>
          </p:nvSpPr>
          <p:spPr>
            <a:xfrm>
              <a:off x="12001680" y="6039000"/>
              <a:ext cx="5333400" cy="3809160"/>
            </a:xfrm>
            <a:custGeom>
              <a:avLst/>
              <a:gdLst>
                <a:gd name="textAreaLeft" fmla="*/ 0 w 5333400"/>
                <a:gd name="textAreaRight" fmla="*/ 5334120 w 5333400"/>
                <a:gd name="textAreaTop" fmla="*/ 0 h 3809160"/>
                <a:gd name="textAreaBottom" fmla="*/ 3809880 h 3809160"/>
              </a:gdLst>
              <a:ahLst/>
              <a:rect l="textAreaLeft" t="textAreaTop" r="textAreaRight" b="textAreaBottom"/>
              <a:pathLst>
                <a:path w="7112000" h="5080000">
                  <a:moveTo>
                    <a:pt x="3556000" y="0"/>
                  </a:moveTo>
                  <a:cubicBezTo>
                    <a:pt x="1592075" y="0"/>
                    <a:pt x="0" y="1137197"/>
                    <a:pt x="0" y="2540000"/>
                  </a:cubicBezTo>
                  <a:cubicBezTo>
                    <a:pt x="0" y="3942803"/>
                    <a:pt x="1592075" y="5080000"/>
                    <a:pt x="3556000" y="5080000"/>
                  </a:cubicBezTo>
                  <a:cubicBezTo>
                    <a:pt x="5519924" y="5080000"/>
                    <a:pt x="7112000" y="3942803"/>
                    <a:pt x="7112000" y="2540000"/>
                  </a:cubicBezTo>
                  <a:cubicBezTo>
                    <a:pt x="7112000" y="1137197"/>
                    <a:pt x="5519924" y="0"/>
                    <a:pt x="3556000" y="0"/>
                  </a:cubicBezTo>
                  <a:close/>
                </a:path>
              </a:pathLst>
            </a:custGeom>
            <a:solidFill>
              <a:srgbClr val="001020"/>
            </a:solidFill>
            <a:ln cap="sq" w="19050">
              <a:solidFill>
                <a:srgbClr val="0077b6"/>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181" name="TextBox 23"/>
            <p:cNvSpPr/>
            <p:nvPr/>
          </p:nvSpPr>
          <p:spPr>
            <a:xfrm>
              <a:off x="12001680" y="5996160"/>
              <a:ext cx="5333400" cy="38520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920"/>
                </a:lnSpc>
                <a:tabLst>
                  <a:tab algn="l" pos="0"/>
                </a:tabLst>
              </a:pPr>
              <a:r>
                <a:rPr b="1" lang="en-US" sz="2800" spc="-1" strike="noStrike">
                  <a:solidFill>
                    <a:srgbClr val="0077b6"/>
                  </a:solidFill>
                  <a:latin typeface="Open Sans Bold"/>
                  <a:ea typeface="Open Sans Bold"/>
                </a:rPr>
                <a:t>Organizations must adopt Zero Trust, MFA, continuous training, and AI-driven tools to keep pace</a:t>
              </a:r>
              <a:endParaRPr b="0" lang="el-GR" sz="2800" spc="-1" strike="noStrike">
                <a:solidFill>
                  <a:srgbClr val="ffffff"/>
                </a:solidFill>
                <a:latin typeface="Arial"/>
              </a:endParaRPr>
            </a:p>
          </p:txBody>
        </p:sp>
      </p:gr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182" name="Group 2"/>
          <p:cNvGrpSpPr/>
          <p:nvPr/>
        </p:nvGrpSpPr>
        <p:grpSpPr>
          <a:xfrm>
            <a:off x="2190600" y="1143000"/>
            <a:ext cx="856440" cy="761400"/>
            <a:chOff x="2190600" y="1143000"/>
            <a:chExt cx="856440" cy="761400"/>
          </a:xfrm>
        </p:grpSpPr>
        <p:sp>
          <p:nvSpPr>
            <p:cNvPr id="183" name="Freeform 3"/>
            <p:cNvSpPr/>
            <p:nvPr/>
          </p:nvSpPr>
          <p:spPr>
            <a:xfrm>
              <a:off x="2190600" y="1143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84" name="Group 4"/>
          <p:cNvGrpSpPr/>
          <p:nvPr/>
        </p:nvGrpSpPr>
        <p:grpSpPr>
          <a:xfrm>
            <a:off x="4191120" y="1143000"/>
            <a:ext cx="856440" cy="761400"/>
            <a:chOff x="4191120" y="1143000"/>
            <a:chExt cx="856440" cy="761400"/>
          </a:xfrm>
        </p:grpSpPr>
        <p:sp>
          <p:nvSpPr>
            <p:cNvPr id="185" name="Freeform 5"/>
            <p:cNvSpPr/>
            <p:nvPr/>
          </p:nvSpPr>
          <p:spPr>
            <a:xfrm>
              <a:off x="4191120" y="1143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86" name="Group 6"/>
          <p:cNvGrpSpPr/>
          <p:nvPr/>
        </p:nvGrpSpPr>
        <p:grpSpPr>
          <a:xfrm>
            <a:off x="7715160" y="1143000"/>
            <a:ext cx="856440" cy="761400"/>
            <a:chOff x="7715160" y="1143000"/>
            <a:chExt cx="856440" cy="761400"/>
          </a:xfrm>
        </p:grpSpPr>
        <p:sp>
          <p:nvSpPr>
            <p:cNvPr id="187" name="Freeform 7"/>
            <p:cNvSpPr/>
            <p:nvPr/>
          </p:nvSpPr>
          <p:spPr>
            <a:xfrm>
              <a:off x="7715160" y="1143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88" name="Group 8"/>
          <p:cNvGrpSpPr/>
          <p:nvPr/>
        </p:nvGrpSpPr>
        <p:grpSpPr>
          <a:xfrm>
            <a:off x="9715680" y="1143000"/>
            <a:ext cx="856440" cy="761400"/>
            <a:chOff x="9715680" y="1143000"/>
            <a:chExt cx="856440" cy="761400"/>
          </a:xfrm>
        </p:grpSpPr>
        <p:sp>
          <p:nvSpPr>
            <p:cNvPr id="189" name="Freeform 9"/>
            <p:cNvSpPr/>
            <p:nvPr/>
          </p:nvSpPr>
          <p:spPr>
            <a:xfrm>
              <a:off x="9715680" y="1143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90" name="Group 10"/>
          <p:cNvGrpSpPr/>
          <p:nvPr/>
        </p:nvGrpSpPr>
        <p:grpSpPr>
          <a:xfrm>
            <a:off x="13239720" y="1143000"/>
            <a:ext cx="856440" cy="761400"/>
            <a:chOff x="13239720" y="1143000"/>
            <a:chExt cx="856440" cy="761400"/>
          </a:xfrm>
        </p:grpSpPr>
        <p:sp>
          <p:nvSpPr>
            <p:cNvPr id="191" name="Freeform 11"/>
            <p:cNvSpPr/>
            <p:nvPr/>
          </p:nvSpPr>
          <p:spPr>
            <a:xfrm>
              <a:off x="13239720" y="1143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92" name="Group 12"/>
          <p:cNvGrpSpPr/>
          <p:nvPr/>
        </p:nvGrpSpPr>
        <p:grpSpPr>
          <a:xfrm>
            <a:off x="15239880" y="1143000"/>
            <a:ext cx="856440" cy="761400"/>
            <a:chOff x="15239880" y="1143000"/>
            <a:chExt cx="856440" cy="761400"/>
          </a:xfrm>
        </p:grpSpPr>
        <p:sp>
          <p:nvSpPr>
            <p:cNvPr id="193" name="Freeform 13"/>
            <p:cNvSpPr/>
            <p:nvPr/>
          </p:nvSpPr>
          <p:spPr>
            <a:xfrm>
              <a:off x="15239880" y="1143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94" name="Group 14"/>
          <p:cNvGrpSpPr/>
          <p:nvPr/>
        </p:nvGrpSpPr>
        <p:grpSpPr>
          <a:xfrm>
            <a:off x="2190600" y="5391000"/>
            <a:ext cx="856440" cy="761400"/>
            <a:chOff x="2190600" y="5391000"/>
            <a:chExt cx="856440" cy="761400"/>
          </a:xfrm>
        </p:grpSpPr>
        <p:sp>
          <p:nvSpPr>
            <p:cNvPr id="195" name="Freeform 15"/>
            <p:cNvSpPr/>
            <p:nvPr/>
          </p:nvSpPr>
          <p:spPr>
            <a:xfrm>
              <a:off x="2190600" y="5391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96" name="Group 16"/>
          <p:cNvGrpSpPr/>
          <p:nvPr/>
        </p:nvGrpSpPr>
        <p:grpSpPr>
          <a:xfrm>
            <a:off x="4191120" y="5391000"/>
            <a:ext cx="856440" cy="761400"/>
            <a:chOff x="4191120" y="5391000"/>
            <a:chExt cx="856440" cy="761400"/>
          </a:xfrm>
        </p:grpSpPr>
        <p:sp>
          <p:nvSpPr>
            <p:cNvPr id="197" name="Freeform 17"/>
            <p:cNvSpPr/>
            <p:nvPr/>
          </p:nvSpPr>
          <p:spPr>
            <a:xfrm>
              <a:off x="4191120" y="5391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198" name="Group 18"/>
          <p:cNvGrpSpPr/>
          <p:nvPr/>
        </p:nvGrpSpPr>
        <p:grpSpPr>
          <a:xfrm>
            <a:off x="7715160" y="5391000"/>
            <a:ext cx="856440" cy="761400"/>
            <a:chOff x="7715160" y="5391000"/>
            <a:chExt cx="856440" cy="761400"/>
          </a:xfrm>
        </p:grpSpPr>
        <p:sp>
          <p:nvSpPr>
            <p:cNvPr id="199" name="Freeform 19"/>
            <p:cNvSpPr/>
            <p:nvPr/>
          </p:nvSpPr>
          <p:spPr>
            <a:xfrm>
              <a:off x="7715160" y="5391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200" name="Group 20"/>
          <p:cNvGrpSpPr/>
          <p:nvPr/>
        </p:nvGrpSpPr>
        <p:grpSpPr>
          <a:xfrm>
            <a:off x="9715680" y="5391000"/>
            <a:ext cx="856440" cy="761400"/>
            <a:chOff x="9715680" y="5391000"/>
            <a:chExt cx="856440" cy="761400"/>
          </a:xfrm>
        </p:grpSpPr>
        <p:sp>
          <p:nvSpPr>
            <p:cNvPr id="201" name="Freeform 21"/>
            <p:cNvSpPr/>
            <p:nvPr/>
          </p:nvSpPr>
          <p:spPr>
            <a:xfrm>
              <a:off x="9715680" y="5391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202" name="Group 22"/>
          <p:cNvGrpSpPr/>
          <p:nvPr/>
        </p:nvGrpSpPr>
        <p:grpSpPr>
          <a:xfrm>
            <a:off x="13239720" y="5391000"/>
            <a:ext cx="856440" cy="761400"/>
            <a:chOff x="13239720" y="5391000"/>
            <a:chExt cx="856440" cy="761400"/>
          </a:xfrm>
        </p:grpSpPr>
        <p:sp>
          <p:nvSpPr>
            <p:cNvPr id="203" name="Freeform 23"/>
            <p:cNvSpPr/>
            <p:nvPr/>
          </p:nvSpPr>
          <p:spPr>
            <a:xfrm>
              <a:off x="13239720" y="5391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204" name="Group 24"/>
          <p:cNvGrpSpPr/>
          <p:nvPr/>
        </p:nvGrpSpPr>
        <p:grpSpPr>
          <a:xfrm>
            <a:off x="15239880" y="5391000"/>
            <a:ext cx="856440" cy="761400"/>
            <a:chOff x="15239880" y="5391000"/>
            <a:chExt cx="856440" cy="761400"/>
          </a:xfrm>
        </p:grpSpPr>
        <p:sp>
          <p:nvSpPr>
            <p:cNvPr id="205" name="Freeform 25"/>
            <p:cNvSpPr/>
            <p:nvPr/>
          </p:nvSpPr>
          <p:spPr>
            <a:xfrm>
              <a:off x="15239880" y="5391000"/>
              <a:ext cx="856440" cy="761400"/>
            </a:xfrm>
            <a:custGeom>
              <a:avLst/>
              <a:gdLst>
                <a:gd name="textAreaLeft" fmla="*/ 0 w 856440"/>
                <a:gd name="textAreaRight" fmla="*/ 857160 w 856440"/>
                <a:gd name="textAreaTop" fmla="*/ 0 h 761400"/>
                <a:gd name="textAreaBottom" fmla="*/ 762120 h 761400"/>
              </a:gdLst>
              <a:ahLst/>
              <a:rect l="textAreaLeft" t="textAreaTop" r="textAreaRight" b="textAreaBottom"/>
              <a:pathLst>
                <a:path w="1143000" h="1016000">
                  <a:moveTo>
                    <a:pt x="571500" y="0"/>
                  </a:moveTo>
                  <a:lnTo>
                    <a:pt x="1143000" y="1016000"/>
                  </a:lnTo>
                  <a:lnTo>
                    <a:pt x="0" y="1016000"/>
                  </a:lnTo>
                  <a:lnTo>
                    <a:pt x="571500" y="0"/>
                  </a:ln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grpSp>
      <p:grpSp>
        <p:nvGrpSpPr>
          <p:cNvPr id="206" name="Group 26"/>
          <p:cNvGrpSpPr/>
          <p:nvPr/>
        </p:nvGrpSpPr>
        <p:grpSpPr>
          <a:xfrm>
            <a:off x="12001680" y="5886360"/>
            <a:ext cx="5333400" cy="3952440"/>
            <a:chOff x="12001680" y="5886360"/>
            <a:chExt cx="5333400" cy="3952440"/>
          </a:xfrm>
        </p:grpSpPr>
        <p:sp>
          <p:nvSpPr>
            <p:cNvPr id="207" name="Freeform 27"/>
            <p:cNvSpPr/>
            <p:nvPr/>
          </p:nvSpPr>
          <p:spPr>
            <a:xfrm>
              <a:off x="12001680" y="5915160"/>
              <a:ext cx="5333400" cy="3923640"/>
            </a:xfrm>
            <a:custGeom>
              <a:avLst/>
              <a:gdLst>
                <a:gd name="textAreaLeft" fmla="*/ 0 w 5333400"/>
                <a:gd name="textAreaRight" fmla="*/ 5334120 w 5333400"/>
                <a:gd name="textAreaTop" fmla="*/ 0 h 3923640"/>
                <a:gd name="textAreaBottom" fmla="*/ 3924360 h 392364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208" name="TextBox 28"/>
            <p:cNvSpPr/>
            <p:nvPr/>
          </p:nvSpPr>
          <p:spPr>
            <a:xfrm>
              <a:off x="12001680" y="5886360"/>
              <a:ext cx="5333400" cy="39520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Cyber resilience is now an intangible asset boosting customer and investor trust long-term</a:t>
              </a:r>
              <a:endParaRPr b="0" lang="el-GR" sz="2400" spc="-1" strike="noStrike">
                <a:solidFill>
                  <a:srgbClr val="ffffff"/>
                </a:solidFill>
                <a:latin typeface="Arial"/>
              </a:endParaRPr>
            </a:p>
          </p:txBody>
        </p:sp>
      </p:grpSp>
      <p:grpSp>
        <p:nvGrpSpPr>
          <p:cNvPr id="209" name="Group 29"/>
          <p:cNvGrpSpPr/>
          <p:nvPr/>
        </p:nvGrpSpPr>
        <p:grpSpPr>
          <a:xfrm>
            <a:off x="6477120" y="5886360"/>
            <a:ext cx="5333400" cy="4161960"/>
            <a:chOff x="6477120" y="5886360"/>
            <a:chExt cx="5333400" cy="4161960"/>
          </a:xfrm>
        </p:grpSpPr>
        <p:sp>
          <p:nvSpPr>
            <p:cNvPr id="210" name="Freeform 30"/>
            <p:cNvSpPr/>
            <p:nvPr/>
          </p:nvSpPr>
          <p:spPr>
            <a:xfrm>
              <a:off x="6477120" y="5915160"/>
              <a:ext cx="5333400" cy="4133160"/>
            </a:xfrm>
            <a:custGeom>
              <a:avLst/>
              <a:gdLst>
                <a:gd name="textAreaLeft" fmla="*/ 0 w 5333400"/>
                <a:gd name="textAreaRight" fmla="*/ 5334120 w 5333400"/>
                <a:gd name="textAreaTop" fmla="*/ 0 h 4133160"/>
                <a:gd name="textAreaBottom" fmla="*/ 4133880 h 4133160"/>
              </a:gdLst>
              <a:ahLst/>
              <a:rect l="textAreaLeft" t="textAreaTop" r="textAreaRight" b="textAreaBottom"/>
              <a:pathLst>
                <a:path w="7112000" h="5511800">
                  <a:moveTo>
                    <a:pt x="3556000" y="0"/>
                  </a:moveTo>
                  <a:cubicBezTo>
                    <a:pt x="1592075" y="0"/>
                    <a:pt x="0" y="1233859"/>
                    <a:pt x="0" y="2755900"/>
                  </a:cubicBezTo>
                  <a:cubicBezTo>
                    <a:pt x="0" y="4277942"/>
                    <a:pt x="1592075" y="5511800"/>
                    <a:pt x="3556000" y="5511800"/>
                  </a:cubicBezTo>
                  <a:cubicBezTo>
                    <a:pt x="5519924" y="5511800"/>
                    <a:pt x="7112000" y="4277942"/>
                    <a:pt x="7112000" y="2755900"/>
                  </a:cubicBezTo>
                  <a:cubicBezTo>
                    <a:pt x="7112000" y="1233859"/>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211" name="TextBox 31"/>
            <p:cNvSpPr/>
            <p:nvPr/>
          </p:nvSpPr>
          <p:spPr>
            <a:xfrm>
              <a:off x="6477120" y="5886360"/>
              <a:ext cx="5333400" cy="416160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SMEs face disproportionate burden — ~25% of operating budget on compliance vs large firms absorbing costs</a:t>
              </a:r>
              <a:endParaRPr b="0" lang="el-GR" sz="2400" spc="-1" strike="noStrike">
                <a:solidFill>
                  <a:srgbClr val="ffffff"/>
                </a:solidFill>
                <a:latin typeface="Arial"/>
              </a:endParaRPr>
            </a:p>
          </p:txBody>
        </p:sp>
      </p:grpSp>
      <p:grpSp>
        <p:nvGrpSpPr>
          <p:cNvPr id="212" name="Group 32"/>
          <p:cNvGrpSpPr/>
          <p:nvPr/>
        </p:nvGrpSpPr>
        <p:grpSpPr>
          <a:xfrm>
            <a:off x="952560" y="5886360"/>
            <a:ext cx="5333400" cy="3952440"/>
            <a:chOff x="952560" y="5886360"/>
            <a:chExt cx="5333400" cy="3952440"/>
          </a:xfrm>
        </p:grpSpPr>
        <p:sp>
          <p:nvSpPr>
            <p:cNvPr id="213" name="Freeform 33"/>
            <p:cNvSpPr/>
            <p:nvPr/>
          </p:nvSpPr>
          <p:spPr>
            <a:xfrm>
              <a:off x="952560" y="5915160"/>
              <a:ext cx="5333400" cy="3923640"/>
            </a:xfrm>
            <a:custGeom>
              <a:avLst/>
              <a:gdLst>
                <a:gd name="textAreaLeft" fmla="*/ 0 w 5333400"/>
                <a:gd name="textAreaRight" fmla="*/ 5334120 w 5333400"/>
                <a:gd name="textAreaTop" fmla="*/ 0 h 3923640"/>
                <a:gd name="textAreaBottom" fmla="*/ 3924360 h 392364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214" name="TextBox 34"/>
            <p:cNvSpPr/>
            <p:nvPr/>
          </p:nvSpPr>
          <p:spPr>
            <a:xfrm>
              <a:off x="952560" y="5886360"/>
              <a:ext cx="5333400" cy="39520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Full security automation cuts breach costs: ~$2.45M vs ~$6.03M without it</a:t>
              </a:r>
              <a:endParaRPr b="0" lang="el-GR" sz="2400" spc="-1" strike="noStrike">
                <a:solidFill>
                  <a:srgbClr val="ffffff"/>
                </a:solidFill>
                <a:latin typeface="Arial"/>
              </a:endParaRPr>
            </a:p>
          </p:txBody>
        </p:sp>
      </p:grpSp>
      <p:grpSp>
        <p:nvGrpSpPr>
          <p:cNvPr id="215" name="Group 35"/>
          <p:cNvGrpSpPr/>
          <p:nvPr/>
        </p:nvGrpSpPr>
        <p:grpSpPr>
          <a:xfrm>
            <a:off x="12001680" y="1638360"/>
            <a:ext cx="5333400" cy="3952080"/>
            <a:chOff x="12001680" y="1638360"/>
            <a:chExt cx="5333400" cy="3952080"/>
          </a:xfrm>
        </p:grpSpPr>
        <p:sp>
          <p:nvSpPr>
            <p:cNvPr id="216" name="Freeform 36"/>
            <p:cNvSpPr/>
            <p:nvPr/>
          </p:nvSpPr>
          <p:spPr>
            <a:xfrm>
              <a:off x="12001680" y="1666800"/>
              <a:ext cx="5333400" cy="3923640"/>
            </a:xfrm>
            <a:custGeom>
              <a:avLst/>
              <a:gdLst>
                <a:gd name="textAreaLeft" fmla="*/ 0 w 5333400"/>
                <a:gd name="textAreaRight" fmla="*/ 5334120 w 5333400"/>
                <a:gd name="textAreaTop" fmla="*/ 0 h 3923640"/>
                <a:gd name="textAreaBottom" fmla="*/ 3924360 h 392364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217" name="TextBox 37"/>
            <p:cNvSpPr/>
            <p:nvPr/>
          </p:nvSpPr>
          <p:spPr>
            <a:xfrm>
              <a:off x="12001680" y="1638360"/>
              <a:ext cx="5333400" cy="39520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Fines up to €20M or 4% turnover (GDPR) — non-compliance is unsustainable for any firm</a:t>
              </a:r>
              <a:endParaRPr b="0" lang="el-GR" sz="2400" spc="-1" strike="noStrike">
                <a:solidFill>
                  <a:srgbClr val="ffffff"/>
                </a:solidFill>
                <a:latin typeface="Arial"/>
              </a:endParaRPr>
            </a:p>
          </p:txBody>
        </p:sp>
      </p:grpSp>
      <p:grpSp>
        <p:nvGrpSpPr>
          <p:cNvPr id="218" name="Group 38"/>
          <p:cNvGrpSpPr/>
          <p:nvPr/>
        </p:nvGrpSpPr>
        <p:grpSpPr>
          <a:xfrm>
            <a:off x="6477120" y="1638360"/>
            <a:ext cx="5333400" cy="3952080"/>
            <a:chOff x="6477120" y="1638360"/>
            <a:chExt cx="5333400" cy="3952080"/>
          </a:xfrm>
        </p:grpSpPr>
        <p:sp>
          <p:nvSpPr>
            <p:cNvPr id="219" name="Freeform 39"/>
            <p:cNvSpPr/>
            <p:nvPr/>
          </p:nvSpPr>
          <p:spPr>
            <a:xfrm>
              <a:off x="6477120" y="1666800"/>
              <a:ext cx="5333400" cy="3923640"/>
            </a:xfrm>
            <a:custGeom>
              <a:avLst/>
              <a:gdLst>
                <a:gd name="textAreaLeft" fmla="*/ 0 w 5333400"/>
                <a:gd name="textAreaRight" fmla="*/ 5334120 w 5333400"/>
                <a:gd name="textAreaTop" fmla="*/ 0 h 3923640"/>
                <a:gd name="textAreaBottom" fmla="*/ 3924360 h 392364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220" name="TextBox 40"/>
            <p:cNvSpPr/>
            <p:nvPr/>
          </p:nvSpPr>
          <p:spPr>
            <a:xfrm>
              <a:off x="6477120" y="1638360"/>
              <a:ext cx="5333400" cy="39520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PETs adopted: differential privacy, synthetic data, homomorphic encryption protect identities</a:t>
              </a:r>
              <a:endParaRPr b="0" lang="el-GR" sz="2400" spc="-1" strike="noStrike">
                <a:solidFill>
                  <a:srgbClr val="ffffff"/>
                </a:solidFill>
                <a:latin typeface="Arial"/>
              </a:endParaRPr>
            </a:p>
          </p:txBody>
        </p:sp>
      </p:grpSp>
      <p:grpSp>
        <p:nvGrpSpPr>
          <p:cNvPr id="221" name="Group 41"/>
          <p:cNvGrpSpPr/>
          <p:nvPr/>
        </p:nvGrpSpPr>
        <p:grpSpPr>
          <a:xfrm>
            <a:off x="952560" y="1638360"/>
            <a:ext cx="5333400" cy="3952080"/>
            <a:chOff x="952560" y="1638360"/>
            <a:chExt cx="5333400" cy="3952080"/>
          </a:xfrm>
        </p:grpSpPr>
        <p:sp>
          <p:nvSpPr>
            <p:cNvPr id="222" name="Freeform 42"/>
            <p:cNvSpPr/>
            <p:nvPr/>
          </p:nvSpPr>
          <p:spPr>
            <a:xfrm>
              <a:off x="952560" y="1666800"/>
              <a:ext cx="5333400" cy="3923640"/>
            </a:xfrm>
            <a:custGeom>
              <a:avLst/>
              <a:gdLst>
                <a:gd name="textAreaLeft" fmla="*/ 0 w 5333400"/>
                <a:gd name="textAreaRight" fmla="*/ 5334120 w 5333400"/>
                <a:gd name="textAreaTop" fmla="*/ 0 h 3923640"/>
                <a:gd name="textAreaBottom" fmla="*/ 3924360 h 3923640"/>
              </a:gdLst>
              <a:ahLst/>
              <a:rect l="textAreaLeft" t="textAreaTop" r="textAreaRight" b="textAreaBottom"/>
              <a:pathLst>
                <a:path w="7112000" h="5232400">
                  <a:moveTo>
                    <a:pt x="3556000" y="0"/>
                  </a:moveTo>
                  <a:cubicBezTo>
                    <a:pt x="1592075" y="0"/>
                    <a:pt x="0" y="1171313"/>
                    <a:pt x="0" y="2616200"/>
                  </a:cubicBezTo>
                  <a:cubicBezTo>
                    <a:pt x="0" y="4061087"/>
                    <a:pt x="1592075" y="5232400"/>
                    <a:pt x="3556000" y="5232400"/>
                  </a:cubicBezTo>
                  <a:cubicBezTo>
                    <a:pt x="5519924" y="5232400"/>
                    <a:pt x="7112000" y="4061087"/>
                    <a:pt x="7112000" y="2616200"/>
                  </a:cubicBezTo>
                  <a:cubicBezTo>
                    <a:pt x="7112000" y="1171313"/>
                    <a:pt x="5519924" y="0"/>
                    <a:pt x="3556000" y="0"/>
                  </a:cubicBezTo>
                  <a:close/>
                </a:path>
              </a:pathLst>
            </a:custGeom>
            <a:solidFill>
              <a:srgbClr val="1a0d00"/>
            </a:solidFill>
            <a:ln cap="sq" w="19050">
              <a:solidFill>
                <a:srgbClr val="ff6f00"/>
              </a:solidFill>
              <a:miter/>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ffffff"/>
                </a:solidFill>
                <a:latin typeface="Arial"/>
              </a:endParaRPr>
            </a:p>
          </p:txBody>
        </p:sp>
        <p:sp>
          <p:nvSpPr>
            <p:cNvPr id="223" name="TextBox 43"/>
            <p:cNvSpPr/>
            <p:nvPr/>
          </p:nvSpPr>
          <p:spPr>
            <a:xfrm>
              <a:off x="952560" y="1638360"/>
              <a:ext cx="5333400" cy="39520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tabLst>
                  <a:tab algn="l" pos="0"/>
                </a:tabLst>
              </a:pPr>
              <a:r>
                <a:rPr b="1" lang="en-US" sz="2400" spc="-1" strike="noStrike">
                  <a:solidFill>
                    <a:srgbClr val="ff6f00"/>
                  </a:solidFill>
                  <a:latin typeface="Open Sans Bold"/>
                  <a:ea typeface="Open Sans Bold"/>
                </a:rPr>
                <a:t>Regulations push companies from reactive security to proactive Privacy-by-Design governance</a:t>
              </a:r>
              <a:endParaRPr b="0" lang="el-GR" sz="2400" spc="-1" strike="noStrike">
                <a:solidFill>
                  <a:srgbClr val="ffffff"/>
                </a:solidFill>
                <a:latin typeface="Arial"/>
              </a:endParaRPr>
            </a:p>
          </p:txBody>
        </p:sp>
      </p:grpSp>
      <p:grpSp>
        <p:nvGrpSpPr>
          <p:cNvPr id="224" name="Group 44"/>
          <p:cNvGrpSpPr/>
          <p:nvPr/>
        </p:nvGrpSpPr>
        <p:grpSpPr>
          <a:xfrm>
            <a:off x="762120" y="0"/>
            <a:ext cx="56520" cy="10286280"/>
            <a:chOff x="762120" y="0"/>
            <a:chExt cx="56520" cy="10286280"/>
          </a:xfrm>
        </p:grpSpPr>
        <p:sp>
          <p:nvSpPr>
            <p:cNvPr id="225" name="Freeform 45"/>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ff6f00"/>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226" name="TextBox 46"/>
          <p:cNvSpPr/>
          <p:nvPr/>
        </p:nvSpPr>
        <p:spPr>
          <a:xfrm>
            <a:off x="1333440" y="752400"/>
            <a:ext cx="13334400" cy="637560"/>
          </a:xfrm>
          <a:prstGeom prst="rect">
            <a:avLst/>
          </a:prstGeom>
          <a:noFill/>
          <a:ln w="0">
            <a:noFill/>
          </a:ln>
        </p:spPr>
        <p:style>
          <a:lnRef idx="0"/>
          <a:fillRef idx="0"/>
          <a:effectRef idx="0"/>
          <a:fontRef idx="minor"/>
        </p:style>
        <p:txBody>
          <a:bodyPr lIns="0" rIns="0" tIns="0" bIns="0" anchor="t">
            <a:spAutoFit/>
          </a:bodyPr>
          <a:p>
            <a:pPr defTabSz="914400">
              <a:lnSpc>
                <a:spcPts val="5020"/>
              </a:lnSpc>
              <a:tabLst>
                <a:tab algn="l" pos="0"/>
              </a:tabLst>
            </a:pPr>
            <a:r>
              <a:rPr b="1" lang="en-US" sz="5020" spc="-1" strike="noStrike">
                <a:solidFill>
                  <a:srgbClr val="ff8c00"/>
                </a:solidFill>
                <a:latin typeface="DIN Next Bold"/>
                <a:ea typeface="DIN Next Bold"/>
              </a:rPr>
              <a:t>DATA PRIVACY &amp; GDPR/CCPA</a:t>
            </a:r>
            <a:endParaRPr b="0" lang="el-GR" sz="5020" spc="-1" strike="noStrike">
              <a:solidFill>
                <a:srgbClr val="ffffff"/>
              </a:solidFill>
              <a:latin typeface="Arial"/>
            </a:endParaRPr>
          </a:p>
        </p:txBody>
      </p:sp>
      <p:sp>
        <p:nvSpPr>
          <p:cNvPr id="227" name="AutoShape 47"/>
          <p:cNvSpPr/>
          <p:nvPr/>
        </p:nvSpPr>
        <p:spPr>
          <a:xfrm>
            <a:off x="1333440" y="1389600"/>
            <a:ext cx="5333760" cy="360"/>
          </a:xfrm>
          <a:prstGeom prst="line">
            <a:avLst/>
          </a:prstGeom>
          <a:ln cap="rnd" w="19050">
            <a:solidFill>
              <a:srgbClr val="ff6f00"/>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228" name="Group 2"/>
          <p:cNvGrpSpPr/>
          <p:nvPr/>
        </p:nvGrpSpPr>
        <p:grpSpPr>
          <a:xfrm>
            <a:off x="361800" y="0"/>
            <a:ext cx="56520" cy="10286280"/>
            <a:chOff x="361800" y="0"/>
            <a:chExt cx="56520" cy="10286280"/>
          </a:xfrm>
        </p:grpSpPr>
        <p:sp>
          <p:nvSpPr>
            <p:cNvPr id="229" name="Freeform 3"/>
            <p:cNvSpPr/>
            <p:nvPr/>
          </p:nvSpPr>
          <p:spPr>
            <a:xfrm>
              <a:off x="36180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230" name="TextBox 4"/>
          <p:cNvSpPr/>
          <p:nvPr/>
        </p:nvSpPr>
        <p:spPr>
          <a:xfrm>
            <a:off x="933480" y="752400"/>
            <a:ext cx="9524160" cy="637920"/>
          </a:xfrm>
          <a:prstGeom prst="rect">
            <a:avLst/>
          </a:prstGeom>
          <a:noFill/>
          <a:ln w="0">
            <a:noFill/>
          </a:ln>
        </p:spPr>
        <p:style>
          <a:lnRef idx="0"/>
          <a:fillRef idx="0"/>
          <a:effectRef idx="0"/>
          <a:fontRef idx="minor"/>
        </p:style>
        <p:txBody>
          <a:bodyPr lIns="0" rIns="0" tIns="0" bIns="0" anchor="t">
            <a:spAutoFit/>
          </a:bodyPr>
          <a:p>
            <a:pPr defTabSz="914400">
              <a:lnSpc>
                <a:spcPts val="5023"/>
              </a:lnSpc>
              <a:tabLst>
                <a:tab algn="l" pos="0"/>
              </a:tabLst>
            </a:pPr>
            <a:r>
              <a:rPr b="1" lang="en-US" sz="5020" spc="-1" strike="noStrike">
                <a:solidFill>
                  <a:srgbClr val="254b8f"/>
                </a:solidFill>
                <a:latin typeface="DIN Next Bold"/>
                <a:ea typeface="DIN Next Bold"/>
              </a:rPr>
              <a:t>CONCLUSIONS</a:t>
            </a:r>
            <a:endParaRPr b="0" lang="el-GR" sz="5020" spc="-1" strike="noStrike">
              <a:solidFill>
                <a:srgbClr val="ffffff"/>
              </a:solidFill>
              <a:latin typeface="Arial"/>
            </a:endParaRPr>
          </a:p>
        </p:txBody>
      </p:sp>
      <p:sp>
        <p:nvSpPr>
          <p:cNvPr id="231" name="AutoShape 5"/>
          <p:cNvSpPr/>
          <p:nvPr/>
        </p:nvSpPr>
        <p:spPr>
          <a:xfrm>
            <a:off x="900000" y="1266840"/>
            <a:ext cx="5334120" cy="360"/>
          </a:xfrm>
          <a:prstGeom prst="line">
            <a:avLst/>
          </a:prstGeom>
          <a:ln cap="rnd" w="19050">
            <a:solidFill>
              <a:srgbClr val="00b4d8"/>
            </a:solidFill>
            <a:round/>
          </a:ln>
        </p:spPr>
        <p:style>
          <a:lnRef idx="0"/>
          <a:fillRef idx="0"/>
          <a:effectRef idx="0"/>
          <a:fontRef idx="minor"/>
        </p:style>
        <p:txBody>
          <a:bodyPr lIns="90000" rIns="90000" tIns="-44640" bIns="-44640" anchor="t" anchorCtr="1">
            <a:noAutofit/>
          </a:bodyPr>
          <a:p>
            <a:endParaRPr b="0" lang="el-GR" sz="1800" spc="-1" strike="noStrike">
              <a:solidFill>
                <a:srgbClr val="ffffff"/>
              </a:solidFill>
              <a:latin typeface="Arial"/>
            </a:endParaRPr>
          </a:p>
        </p:txBody>
      </p:sp>
      <p:sp>
        <p:nvSpPr>
          <p:cNvPr id="232" name="Freeform 6"/>
          <p:cNvSpPr/>
          <p:nvPr/>
        </p:nvSpPr>
        <p:spPr>
          <a:xfrm>
            <a:off x="12744360" y="3809880"/>
            <a:ext cx="3809160" cy="3809160"/>
          </a:xfrm>
          <a:custGeom>
            <a:avLst/>
            <a:gdLst>
              <a:gd name="textAreaLeft" fmla="*/ 0 w 3809160"/>
              <a:gd name="textAreaRight" fmla="*/ 3809880 w 3809160"/>
              <a:gd name="textAreaTop" fmla="*/ 0 h 3809160"/>
              <a:gd name="textAreaBottom" fmla="*/ 3809880 h 3809160"/>
            </a:gdLst>
            <a:ahLst/>
            <a:rect l="textAreaLeft" t="textAreaTop" r="textAreaRight" b="textAreaBottom"/>
            <a:pathLst>
              <a:path w="3810000" h="3810000">
                <a:moveTo>
                  <a:pt x="0" y="0"/>
                </a:moveTo>
                <a:lnTo>
                  <a:pt x="3810000" y="0"/>
                </a:lnTo>
                <a:lnTo>
                  <a:pt x="3810000" y="3810000"/>
                </a:lnTo>
                <a:lnTo>
                  <a:pt x="0" y="3810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sp>
        <p:nvSpPr>
          <p:cNvPr id="233" name="TextBox 7"/>
          <p:cNvSpPr/>
          <p:nvPr/>
        </p:nvSpPr>
        <p:spPr>
          <a:xfrm>
            <a:off x="1028880" y="1266840"/>
            <a:ext cx="15862320" cy="8884440"/>
          </a:xfrm>
          <a:prstGeom prst="rect">
            <a:avLst/>
          </a:prstGeom>
          <a:noFill/>
          <a:ln w="0">
            <a:noFill/>
          </a:ln>
        </p:spPr>
        <p:style>
          <a:lnRef idx="0"/>
          <a:fillRef idx="0"/>
          <a:effectRef idx="0"/>
          <a:fontRef idx="minor"/>
        </p:style>
        <p:txBody>
          <a:bodyPr lIns="0" rIns="0" tIns="0" bIns="0" anchor="t">
            <a:spAutoFit/>
          </a:bodyPr>
          <a:p>
            <a:pPr defTabSz="914400">
              <a:lnSpc>
                <a:spcPts val="3498"/>
              </a:lnSpc>
              <a:tabLst>
                <a:tab algn="l" pos="0"/>
              </a:tabLst>
            </a:pPr>
            <a:r>
              <a:rPr b="1" lang="en-US" sz="2600" spc="-1" strike="noStrike">
                <a:solidFill>
                  <a:srgbClr val="48b5d7"/>
                </a:solidFill>
                <a:latin typeface="Open Sans Bold"/>
                <a:ea typeface="Open Sans Bold"/>
              </a:rPr>
              <a:t>Through intense research we realized the importance of cyber security in businesses.</a:t>
            </a:r>
            <a:endParaRPr b="0" lang="el-GR" sz="26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600" spc="-1" strike="noStrike">
                <a:solidFill>
                  <a:srgbClr val="48b5d7"/>
                </a:solidFill>
                <a:latin typeface="Open Sans Bold"/>
                <a:ea typeface="Open Sans Bold"/>
              </a:rPr>
              <a:t>• </a:t>
            </a:r>
            <a:r>
              <a:rPr b="1" lang="en-US" sz="2600" spc="-1" strike="noStrike">
                <a:solidFill>
                  <a:srgbClr val="48b5d7"/>
                </a:solidFill>
                <a:latin typeface="Open Sans Bold"/>
                <a:ea typeface="Open Sans Bold"/>
              </a:rPr>
              <a:t>In the financial department, a strong security system saves companies billions of dollars in losses and helps them keep a trust-worthy image.</a:t>
            </a:r>
            <a:endParaRPr b="0" lang="el-GR" sz="26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600" spc="-1" strike="noStrike">
                <a:solidFill>
                  <a:srgbClr val="48b5d7"/>
                </a:solidFill>
                <a:latin typeface="Open Sans Bold"/>
                <a:ea typeface="Open Sans Bold"/>
              </a:rPr>
              <a:t>• </a:t>
            </a:r>
            <a:r>
              <a:rPr b="1" lang="en-US" sz="2600" spc="-1" strike="noStrike">
                <a:solidFill>
                  <a:srgbClr val="48b5d7"/>
                </a:solidFill>
                <a:latin typeface="Open Sans Bold"/>
                <a:ea typeface="Open Sans Bold"/>
              </a:rPr>
              <a:t>In the humanitarian aspect, we realized phishing uses psychological weaknesses and human emotion to prey on users. Thus, strong security ideology needs to be incorporated, which affects individuals - positively - on a personal and professional level.</a:t>
            </a:r>
            <a:endParaRPr b="0" lang="el-GR" sz="26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600" spc="-1" strike="noStrike">
                <a:solidFill>
                  <a:srgbClr val="48b5d7"/>
                </a:solidFill>
                <a:latin typeface="Open Sans Bold"/>
                <a:ea typeface="Open Sans Bold"/>
              </a:rPr>
              <a:t>• </a:t>
            </a:r>
            <a:r>
              <a:rPr b="1" lang="en-US" sz="2600" spc="-1" strike="noStrike">
                <a:solidFill>
                  <a:srgbClr val="48b5d7"/>
                </a:solidFill>
                <a:latin typeface="Open Sans Bold"/>
                <a:ea typeface="Open Sans Bold"/>
              </a:rPr>
              <a:t>We found out that most phishing attacks affect small enterprise businesses, since they work on a tight budget and with limited knowledge. Therefore, there needs to be a government plan to fund a good security system.</a:t>
            </a:r>
            <a:endParaRPr b="0" lang="el-GR" sz="26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600" spc="-1" strike="noStrike">
                <a:solidFill>
                  <a:srgbClr val="48b5d7"/>
                </a:solidFill>
                <a:latin typeface="Open Sans Bold"/>
                <a:ea typeface="Open Sans Bold"/>
              </a:rPr>
              <a:t>• </a:t>
            </a:r>
            <a:r>
              <a:rPr b="1" lang="en-US" sz="2600" spc="-1" strike="noStrike">
                <a:solidFill>
                  <a:srgbClr val="48b5d7"/>
                </a:solidFill>
                <a:latin typeface="Open Sans Bold"/>
                <a:ea typeface="Open Sans Bold"/>
              </a:rPr>
              <a:t>We realized the impact AI has in both the phishing department and on the way it can be used to determine attacks and reduce them. Which is why companies need to invest in continuous training and AI tools that detect threats.</a:t>
            </a:r>
            <a:endParaRPr b="0" lang="el-GR" sz="2600" spc="-1" strike="noStrike">
              <a:solidFill>
                <a:srgbClr val="ffffff"/>
              </a:solidFill>
              <a:latin typeface="Arial"/>
            </a:endParaRPr>
          </a:p>
          <a:p>
            <a:pPr defTabSz="914400">
              <a:lnSpc>
                <a:spcPts val="3498"/>
              </a:lnSpc>
              <a:tabLst>
                <a:tab algn="l" pos="0"/>
              </a:tabLst>
            </a:pPr>
            <a:endParaRPr b="0" lang="el-GR" sz="1800" spc="-1" strike="noStrike">
              <a:solidFill>
                <a:srgbClr val="ffffff"/>
              </a:solidFill>
              <a:latin typeface="Arial"/>
            </a:endParaRPr>
          </a:p>
          <a:p>
            <a:pPr defTabSz="914400">
              <a:lnSpc>
                <a:spcPts val="3498"/>
              </a:lnSpc>
              <a:tabLst>
                <a:tab algn="l" pos="0"/>
              </a:tabLst>
            </a:pPr>
            <a:r>
              <a:rPr b="1" lang="en-US" sz="2600" spc="-1" strike="noStrike">
                <a:solidFill>
                  <a:srgbClr val="48b5d7"/>
                </a:solidFill>
                <a:latin typeface="Open Sans Bold"/>
                <a:ea typeface="Open Sans Bold"/>
              </a:rPr>
              <a:t>• </a:t>
            </a:r>
            <a:r>
              <a:rPr b="1" lang="en-US" sz="2600" spc="-1" strike="noStrike">
                <a:solidFill>
                  <a:srgbClr val="48b5d7"/>
                </a:solidFill>
                <a:latin typeface="Open Sans Bold"/>
                <a:ea typeface="Open Sans Bold"/>
              </a:rPr>
              <a:t>Finally, we uncovered that privacy enhancing technologies enforce encryption that protects data identities and a good cyber resilience program boosts client trust.</a:t>
            </a:r>
            <a:endParaRPr b="0" lang="el-GR" sz="2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sp>
        <p:nvSpPr>
          <p:cNvPr id="234" name="TextBox 2"/>
          <p:cNvSpPr/>
          <p:nvPr/>
        </p:nvSpPr>
        <p:spPr>
          <a:xfrm>
            <a:off x="506160" y="69840"/>
            <a:ext cx="16790760" cy="1280880"/>
          </a:xfrm>
          <a:prstGeom prst="rect">
            <a:avLst/>
          </a:prstGeom>
          <a:noFill/>
          <a:ln w="0">
            <a:noFill/>
          </a:ln>
        </p:spPr>
        <p:style>
          <a:lnRef idx="0"/>
          <a:fillRef idx="0"/>
          <a:effectRef idx="0"/>
          <a:fontRef idx="minor"/>
        </p:style>
        <p:txBody>
          <a:bodyPr lIns="0" rIns="0" tIns="0" bIns="0" anchor="t">
            <a:spAutoFit/>
          </a:bodyPr>
          <a:p>
            <a:pPr algn="ctr" defTabSz="914400">
              <a:lnSpc>
                <a:spcPts val="5043"/>
              </a:lnSpc>
            </a:pPr>
            <a:r>
              <a:rPr b="1" lang="en-US" sz="3600" spc="-1" strike="noStrike">
                <a:solidFill>
                  <a:srgbClr val="ffffff"/>
                </a:solidFill>
                <a:latin typeface="Open Sans Bold"/>
                <a:ea typeface="Open Sans Bold"/>
              </a:rPr>
              <a:t>Find our entire presentation on github!</a:t>
            </a:r>
            <a:endParaRPr b="0" lang="el-GR" sz="3600" spc="-1" strike="noStrike">
              <a:solidFill>
                <a:srgbClr val="ffffff"/>
              </a:solidFill>
              <a:latin typeface="Arial"/>
            </a:endParaRPr>
          </a:p>
          <a:p>
            <a:pPr algn="ctr" defTabSz="914400">
              <a:lnSpc>
                <a:spcPts val="5043"/>
              </a:lnSpc>
            </a:pPr>
            <a:endParaRPr b="0" lang="el-GR" sz="3600" spc="-1" strike="noStrike">
              <a:solidFill>
                <a:srgbClr val="ffffff"/>
              </a:solidFill>
              <a:latin typeface="Arial"/>
            </a:endParaRPr>
          </a:p>
        </p:txBody>
      </p:sp>
      <p:pic>
        <p:nvPicPr>
          <p:cNvPr id="235" name="" descr=""/>
          <p:cNvPicPr/>
          <p:nvPr/>
        </p:nvPicPr>
        <p:blipFill>
          <a:blip r:embed="rId1"/>
          <a:stretch/>
        </p:blipFill>
        <p:spPr>
          <a:xfrm>
            <a:off x="4547160" y="1092600"/>
            <a:ext cx="8699040" cy="869904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grpSp>
        <p:nvGrpSpPr>
          <p:cNvPr id="236" name="Group 2"/>
          <p:cNvGrpSpPr/>
          <p:nvPr/>
        </p:nvGrpSpPr>
        <p:grpSpPr>
          <a:xfrm>
            <a:off x="762120" y="0"/>
            <a:ext cx="56520" cy="10286280"/>
            <a:chOff x="762120" y="0"/>
            <a:chExt cx="56520" cy="10286280"/>
          </a:xfrm>
        </p:grpSpPr>
        <p:sp>
          <p:nvSpPr>
            <p:cNvPr id="237" name="Freeform 3"/>
            <p:cNvSpPr/>
            <p:nvPr/>
          </p:nvSpPr>
          <p:spPr>
            <a:xfrm>
              <a:off x="762120" y="0"/>
              <a:ext cx="56520" cy="10286280"/>
            </a:xfrm>
            <a:custGeom>
              <a:avLst/>
              <a:gdLst>
                <a:gd name="textAreaLeft" fmla="*/ 0 w 56520"/>
                <a:gd name="textAreaRight" fmla="*/ 57240 w 56520"/>
                <a:gd name="textAreaTop" fmla="*/ 0 h 10286280"/>
                <a:gd name="textAreaBottom" fmla="*/ 10287000 h 10286280"/>
              </a:gdLst>
              <a:ahLst/>
              <a:rect l="textAreaLeft" t="textAreaTop" r="textAreaRight" b="textAreaBottom"/>
              <a:pathLst>
                <a:path w="76200" h="13716000">
                  <a:moveTo>
                    <a:pt x="0" y="0"/>
                  </a:moveTo>
                  <a:lnTo>
                    <a:pt x="76200" y="0"/>
                  </a:lnTo>
                  <a:lnTo>
                    <a:pt x="76200" y="13716000"/>
                  </a:lnTo>
                  <a:lnTo>
                    <a:pt x="0" y="13716000"/>
                  </a:lnTo>
                  <a:close/>
                </a:path>
              </a:pathLst>
            </a:custGeom>
            <a:solidFill>
              <a:srgbClr val="00b4d8"/>
            </a:solidFill>
            <a:ln w="0">
              <a:noFill/>
            </a:ln>
          </p:spPr>
          <p:style>
            <a:lnRef idx="0"/>
            <a:fillRef idx="0"/>
            <a:effectRef idx="0"/>
            <a:fontRef idx="minor"/>
          </p:style>
          <p:txBody>
            <a:bodyPr lIns="90000" rIns="90000" tIns="45000" bIns="45000" anchor="t">
              <a:noAutofit/>
            </a:bodyPr>
            <a:p>
              <a:pPr>
                <a:lnSpc>
                  <a:spcPct val="100000"/>
                </a:lnSpc>
              </a:pPr>
              <a:endParaRPr b="0" lang="el-GR" sz="1800" spc="-1" strike="noStrike">
                <a:solidFill>
                  <a:srgbClr val="000000"/>
                </a:solidFill>
                <a:latin typeface="Arial"/>
              </a:endParaRPr>
            </a:p>
          </p:txBody>
        </p:sp>
      </p:grpSp>
      <p:sp>
        <p:nvSpPr>
          <p:cNvPr id="238" name="TextBox 4"/>
          <p:cNvSpPr/>
          <p:nvPr/>
        </p:nvSpPr>
        <p:spPr>
          <a:xfrm>
            <a:off x="3429000" y="3629160"/>
            <a:ext cx="11429280" cy="952200"/>
          </a:xfrm>
          <a:prstGeom prst="rect">
            <a:avLst/>
          </a:prstGeom>
          <a:noFill/>
          <a:ln w="0">
            <a:noFill/>
          </a:ln>
        </p:spPr>
        <p:style>
          <a:lnRef idx="0"/>
          <a:fillRef idx="0"/>
          <a:effectRef idx="0"/>
          <a:fontRef idx="minor"/>
        </p:style>
        <p:txBody>
          <a:bodyPr lIns="0" rIns="0" tIns="0" bIns="0" anchor="t">
            <a:spAutoFit/>
          </a:bodyPr>
          <a:p>
            <a:pPr algn="ctr" defTabSz="914400">
              <a:lnSpc>
                <a:spcPts val="7498"/>
              </a:lnSpc>
              <a:tabLst>
                <a:tab algn="l" pos="0"/>
              </a:tabLst>
            </a:pPr>
            <a:r>
              <a:rPr b="1" lang="en-US" sz="7490" spc="-1" strike="noStrike">
                <a:solidFill>
                  <a:srgbClr val="00b4d8"/>
                </a:solidFill>
                <a:latin typeface="DIN Next Bold"/>
                <a:ea typeface="DIN Next Bold"/>
              </a:rPr>
              <a:t>THANK YOU</a:t>
            </a:r>
            <a:endParaRPr b="0" lang="el-GR" sz="7490" spc="-1" strike="noStrike">
              <a:solidFill>
                <a:srgbClr val="ffffff"/>
              </a:solidFill>
              <a:latin typeface="Arial"/>
            </a:endParaRPr>
          </a:p>
        </p:txBody>
      </p:sp>
      <p:sp>
        <p:nvSpPr>
          <p:cNvPr id="239" name="TextBox 5"/>
          <p:cNvSpPr/>
          <p:nvPr/>
        </p:nvSpPr>
        <p:spPr>
          <a:xfrm>
            <a:off x="6286680" y="5124600"/>
            <a:ext cx="5714280" cy="4262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800" spc="-1" strike="noStrike">
                <a:solidFill>
                  <a:srgbClr val="ffffff"/>
                </a:solidFill>
                <a:latin typeface="Open Sans"/>
                <a:ea typeface="Open Sans"/>
              </a:rPr>
              <a:t>Questions?</a:t>
            </a:r>
            <a:endParaRPr b="0" lang="el-GR" sz="2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16</TotalTime>
  <Application>EasyOffice/7.6.2.1.0$Windows_X86_64 LibreOffice_project/0bc4d647150f05f02b71ccb5539a4012b57f1faf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DAHKxyATSgs</dc:identifier>
  <dc:language>el-GR</dc:language>
  <cp:lastModifiedBy/>
  <dcterms:modified xsi:type="dcterms:W3CDTF">2026-06-02T12:52:36Z</dcterms:modified>
  <cp:revision>6</cp:revision>
  <dc:subject/>
  <dc:title>Match Page Design Style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